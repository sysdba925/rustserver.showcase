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media/image2.svg" ContentType="image/svg"/>
  <Override PartName="/ppt/media/image13.svg" ContentType="image/svg"/>
  <Override PartName="/ppt/media/image4.svg" ContentType="image/svg"/>
  <Override PartName="/ppt/media/image7.svg" ContentType="image/svg"/>
  <Override PartName="/ppt/media/image9.svg" ContentType="image/svg"/>
  <Override PartName="/ppt/media/image11.svg" ContentType="image/svg"/>
  <Override PartName="/ppt/slides/slide1.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15289213" cy="8604250"/>
  <p:notesSz cx="8604250" cy="152892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gn="ctr"/>
            <a:r>
              <a:rPr lang="pl-PL" sz="4400" b="0" u="none" strike="noStrike">
                <a:solidFill>
                  <a:srgbClr val="000000"/>
                </a:solidFill>
                <a:effectLst/>
                <a:uFillTx/>
                <a:latin typeface="Arial"/>
              </a:rPr>
              <a:t>Click to move the slide</a:t>
            </a:r>
            <a:endParaRPr lang="pl-PL" sz="4400" b="0" u="none" strike="noStrike">
              <a:solidFill>
                <a:srgbClr val="000000"/>
              </a:solidFill>
              <a:effectLst/>
              <a:uFillTx/>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l-PL" sz="2000" b="0" u="none" strike="noStrike">
                <a:solidFill>
                  <a:srgbClr val="000000"/>
                </a:solidFill>
                <a:effectLst/>
                <a:uFillTx/>
                <a:latin typeface="Arial"/>
              </a:rPr>
              <a:t>Click to edit the notes' format</a:t>
            </a:r>
            <a:endParaRPr lang="pl-PL"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pl-PL" sz="1400" b="0" u="none" strike="noStrike">
                <a:solidFill>
                  <a:srgbClr val="000000"/>
                </a:solidFill>
                <a:effectLst/>
                <a:uFillTx/>
                <a:latin typeface="Times New Roman"/>
              </a:rPr>
              <a:t> </a:t>
            </a:r>
            <a:endParaRPr lang="pl-PL"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pl-PL" sz="1400" b="0" u="none" strike="noStrike">
                <a:solidFill>
                  <a:srgbClr val="000000"/>
                </a:solidFill>
                <a:effectLst/>
                <a:uFillTx/>
                <a:latin typeface="Times New Roman"/>
              </a:defRPr>
            </a:lvl1pPr>
          </a:lstStyle>
          <a:p>
            <a:pPr indent="0" algn="r">
              <a:buNone/>
            </a:pPr>
            <a:r>
              <a:rPr lang="pl-PL" sz="1400" b="0" u="none" strike="noStrike">
                <a:solidFill>
                  <a:srgbClr val="000000"/>
                </a:solidFill>
                <a:effectLst/>
                <a:uFillTx/>
                <a:latin typeface="Times New Roman"/>
              </a:rPr>
              <a:t> </a:t>
            </a:r>
            <a:endParaRPr lang="pl-PL"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pl-PL" sz="1400" b="0" u="none" strike="noStrike">
                <a:solidFill>
                  <a:srgbClr val="000000"/>
                </a:solidFill>
                <a:effectLst/>
                <a:uFillTx/>
                <a:latin typeface="Times New Roman"/>
              </a:defRPr>
            </a:lvl1pPr>
          </a:lstStyle>
          <a:p>
            <a:pPr indent="0" algn="l">
              <a:buNone/>
            </a:pPr>
            <a:r>
              <a:rPr lang="pl-PL" sz="1400" b="0" u="none" strike="noStrike">
                <a:solidFill>
                  <a:srgbClr val="000000"/>
                </a:solidFill>
                <a:effectLst/>
                <a:uFillTx/>
                <a:latin typeface="Times New Roman"/>
              </a:rPr>
              <a:t> </a:t>
            </a:r>
            <a:endParaRPr lang="pl-PL"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pl-PL" sz="1400" b="0" u="none" strike="noStrike">
                <a:solidFill>
                  <a:srgbClr val="000000"/>
                </a:solidFill>
                <a:effectLst/>
                <a:uFillTx/>
                <a:latin typeface="Times New Roman"/>
              </a:defRPr>
            </a:lvl1pPr>
          </a:lstStyle>
          <a:p>
            <a:pPr indent="0" algn="r">
              <a:buNone/>
            </a:pPr>
            <a:fld id="{887603B2-B9BF-47E9-8812-8FBE6ADA8119}" type="slidenum">
              <a:rPr lang="pl-PL" sz="1400" b="0" u="none" strike="noStrike">
                <a:solidFill>
                  <a:srgbClr val="000000"/>
                </a:solidFill>
                <a:effectLst/>
                <a:uFillTx/>
                <a:latin typeface="Times New Roman"/>
              </a:rPr>
              <a:t>1</a:t>
            </a:fld>
            <a:endParaRPr lang="pl-PL"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sldImg"/>
          </p:nvPr>
        </p:nvSpPr>
        <p:spPr>
          <a:xfrm>
            <a:off x="685800" y="1143000"/>
            <a:ext cx="5485680" cy="3085560"/>
          </a:xfrm>
          <a:prstGeom prst="rect">
            <a:avLst/>
          </a:prstGeom>
          <a:ln w="0">
            <a:noFill/>
          </a:ln>
        </p:spPr>
      </p:sp>
      <p:sp>
        <p:nvSpPr>
          <p:cNvPr id="25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GB" sz="2000" b="0" u="none" strike="noStrike">
                <a:solidFill>
                  <a:srgbClr val="000000"/>
                </a:solidFill>
                <a:effectLst/>
                <a:uFillTx/>
                <a:latin typeface="Arial"/>
              </a:rPr>
              <a:t>Faithful editable reconstruction of user-supplied architecture diagram RustServer Platform System Architecture(1).png. All cards, borders, arrows, protocols, labels, databases and file symbols are PowerPoint shapes. Google and Rust brand icons were cropped from original and remain individually movable picture objects. Steam, React, GitHub and gear icons are individual SVG vector elements. Positions match the original reference as closely as practical.</a:t>
            </a:r>
            <a:endParaRPr lang="en-GB" sz="2000" b="0" u="none" strike="noStrike">
              <a:solidFill>
                <a:srgbClr val="000000"/>
              </a:solidFill>
              <a:effectLst/>
              <a:uFillTx/>
              <a:latin typeface="Arial"/>
            </a:endParaRPr>
          </a:p>
        </p:txBody>
      </p:sp>
      <p:sp>
        <p:nvSpPr>
          <p:cNvPr id="257"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GB" sz="1200" b="0" u="none" strike="noStrike">
                <a:solidFill>
                  <a:schemeClr val="dk1"/>
                </a:solidFill>
                <a:effectLst/>
                <a:uFillTx/>
                <a:latin typeface="+mn-lt"/>
                <a:ea typeface="+mn-ea"/>
              </a:defRPr>
            </a:lvl1pPr>
          </a:lstStyle>
          <a:p>
            <a:pPr indent="0" algn="r" defTabSz="914400">
              <a:lnSpc>
                <a:spcPct val="100000"/>
              </a:lnSpc>
              <a:buNone/>
              <a:tabLst>
                <a:tab pos="0" algn="l"/>
              </a:tabLst>
            </a:pPr>
            <a:fld id="{BF88768C-4235-48D7-9492-E313FABF423D}" type="slidenum">
              <a:rPr lang="en-GB"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64280" y="343080"/>
            <a:ext cx="13759920" cy="1436400"/>
          </a:xfrm>
          <a:prstGeom prst="rect">
            <a:avLst/>
          </a:prstGeom>
          <a:noFill/>
          <a:ln w="0">
            <a:noFill/>
          </a:ln>
        </p:spPr>
        <p:txBody>
          <a:bodyPr lIns="0" tIns="0" rIns="0" bIns="0" anchor="ctr">
            <a:noAutofit/>
          </a:bodyPr>
          <a:lstStyle>
            <a:lvl1pPr indent="0" algn="ctr">
              <a:buNone/>
              <a:defRPr lang="pl-PL" sz="4400" b="0" u="none" strike="noStrike">
                <a:solidFill>
                  <a:srgbClr val="000000"/>
                </a:solidFill>
                <a:effectLst/>
                <a:uFillTx/>
                <a:latin typeface="Arial"/>
              </a:defRPr>
            </a:lvl1pPr>
          </a:lstStyle>
          <a:p>
            <a:pPr indent="0" algn="ctr">
              <a:buNone/>
            </a:pPr>
            <a:r>
              <a:rPr lang="pl-PL" sz="4400" b="0" u="none" strike="noStrike">
                <a:solidFill>
                  <a:srgbClr val="000000"/>
                </a:solidFill>
                <a:effectLst/>
                <a:uFillTx/>
                <a:latin typeface="Arial"/>
              </a:rPr>
              <a:t>Click to edit the title text format</a:t>
            </a:r>
            <a:endParaRPr lang="pl-PL" sz="4400" b="0" u="none" strike="noStrike">
              <a:solidFill>
                <a:srgbClr val="000000"/>
              </a:solidFill>
              <a:effectLst/>
              <a:uFillTx/>
              <a:latin typeface="Arial"/>
            </a:endParaRPr>
          </a:p>
        </p:txBody>
      </p:sp>
      <p:sp>
        <p:nvSpPr>
          <p:cNvPr id="3" name="PlaceHolder 2"/>
          <p:cNvSpPr>
            <a:spLocks noGrp="1"/>
          </p:cNvSpPr>
          <p:nvPr>
            <p:ph type="body"/>
          </p:nvPr>
        </p:nvSpPr>
        <p:spPr>
          <a:xfrm>
            <a:off x="764280" y="2013120"/>
            <a:ext cx="13759920" cy="4989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pl-PL"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pl-PL"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pl-PL"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pl-PL"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pl-PL"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pl-PL"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pl-PL"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pl-PL" sz="3200" b="0" u="none" strike="noStrike">
                <a:solidFill>
                  <a:srgbClr val="000000"/>
                </a:solidFill>
                <a:effectLst/>
                <a:uFillTx/>
                <a:latin typeface="Arial"/>
              </a:rPr>
              <a:t>Click to edit the outline text format</a:t>
            </a:r>
            <a:endParaRPr lang="pl-PL"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pl-PL" sz="2800" b="0" u="none" strike="noStrike">
                <a:solidFill>
                  <a:srgbClr val="000000"/>
                </a:solidFill>
                <a:effectLst/>
                <a:uFillTx/>
                <a:latin typeface="Arial"/>
              </a:rPr>
              <a:t>Second Outline Level</a:t>
            </a:r>
            <a:endParaRPr lang="pl-PL"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pl-PL" sz="2400" b="0" u="none" strike="noStrike">
                <a:solidFill>
                  <a:srgbClr val="000000"/>
                </a:solidFill>
                <a:effectLst/>
                <a:uFillTx/>
                <a:latin typeface="Arial"/>
              </a:rPr>
              <a:t>Third Outline Level</a:t>
            </a:r>
            <a:endParaRPr lang="pl-PL"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pl-PL" sz="2000" b="0" u="none" strike="noStrike">
                <a:solidFill>
                  <a:srgbClr val="000000"/>
                </a:solidFill>
                <a:effectLst/>
                <a:uFillTx/>
                <a:latin typeface="Arial"/>
              </a:rPr>
              <a:t>Fourth Outline Level</a:t>
            </a:r>
            <a:endParaRPr lang="pl-PL"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pl-PL" sz="2000" b="0" u="none" strike="noStrike">
                <a:solidFill>
                  <a:srgbClr val="000000"/>
                </a:solidFill>
                <a:effectLst/>
                <a:uFillTx/>
                <a:latin typeface="Arial"/>
              </a:rPr>
              <a:t>Fifth Outline Level</a:t>
            </a:r>
            <a:endParaRPr lang="pl-PL"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pl-PL" sz="2000" b="0" u="none" strike="noStrike">
                <a:solidFill>
                  <a:srgbClr val="000000"/>
                </a:solidFill>
                <a:effectLst/>
                <a:uFillTx/>
                <a:latin typeface="Arial"/>
              </a:rPr>
              <a:t>Sixth Outline Level</a:t>
            </a:r>
            <a:endParaRPr lang="pl-PL"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pl-PL" sz="2000" b="0" u="none" strike="noStrike">
                <a:solidFill>
                  <a:srgbClr val="000000"/>
                </a:solidFill>
                <a:effectLst/>
                <a:uFillTx/>
                <a:latin typeface="Arial"/>
              </a:rPr>
              <a:t>Seventh Outline Level</a:t>
            </a:r>
            <a:endParaRPr lang="pl-PL"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svg"/><Relationship Id="rId10" Type="http://schemas.openxmlformats.org/officeDocument/2006/relationships/image" Target="../media/image8.png"/><Relationship Id="rId11" Type="http://schemas.openxmlformats.org/officeDocument/2006/relationships/image" Target="../media/image9.svg"/><Relationship Id="rId12" Type="http://schemas.openxmlformats.org/officeDocument/2006/relationships/image" Target="../media/image10.png"/><Relationship Id="rId13" Type="http://schemas.openxmlformats.org/officeDocument/2006/relationships/image" Target="../media/image11.svg"/><Relationship Id="rId14" Type="http://schemas.openxmlformats.org/officeDocument/2006/relationships/image" Target="../media/image8.png"/><Relationship Id="rId15" Type="http://schemas.openxmlformats.org/officeDocument/2006/relationships/image" Target="../media/image9.svg"/><Relationship Id="rId16" Type="http://schemas.openxmlformats.org/officeDocument/2006/relationships/image" Target="../media/image12.png"/><Relationship Id="rId17" Type="http://schemas.openxmlformats.org/officeDocument/2006/relationships/image" Target="../media/image13.svg"/><Relationship Id="rId18" Type="http://schemas.openxmlformats.org/officeDocument/2006/relationships/image" Target="../media/image14.png"/><Relationship Id="rId19" Type="http://schemas.openxmlformats.org/officeDocument/2006/relationships/image" Target="../media/image6.png"/><Relationship Id="rId20" Type="http://schemas.openxmlformats.org/officeDocument/2006/relationships/image" Target="../media/image7.svg"/><Relationship Id="rId21" Type="http://schemas.openxmlformats.org/officeDocument/2006/relationships/image" Target="../media/image3.png"/><Relationship Id="rId22" Type="http://schemas.openxmlformats.org/officeDocument/2006/relationships/image" Target="../media/image4.svg"/><Relationship Id="rId23" Type="http://schemas.openxmlformats.org/officeDocument/2006/relationships/hyperlink" Target="https://github.com/OxideMod/Oxide.Rust" TargetMode="External"/><Relationship Id="rId24" Type="http://schemas.openxmlformats.org/officeDocument/2006/relationships/slideLayout" Target="../slideLayouts/slideLayout1.xml"/><Relationship Id="rId25"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DFD"/>
        </a:solidFill>
      </p:bgPr>
    </p:bg>
    <p:spTree>
      <p:nvGrpSpPr>
        <p:cNvPr id="1" name=""/>
        <p:cNvGrpSpPr/>
        <p:nvPr/>
      </p:nvGrpSpPr>
      <p:grpSpPr>
        <a:xfrm>
          <a:off x="0" y="0"/>
          <a:ext cx="0" cy="0"/>
          <a:chOff x="0" y="0"/>
          <a:chExt cx="0" cy="0"/>
        </a:xfrm>
      </p:grpSpPr>
      <p:sp>
        <p:nvSpPr>
          <p:cNvPr id="10" name="Shape 0"/>
          <p:cNvSpPr/>
          <p:nvPr/>
        </p:nvSpPr>
        <p:spPr>
          <a:xfrm>
            <a:off x="2331720" y="914400"/>
            <a:ext cx="9710280" cy="6674400"/>
          </a:xfrm>
          <a:prstGeom prst="rect">
            <a:avLst/>
          </a:prstGeom>
          <a:solidFill>
            <a:srgbClr val="E6F2FE"/>
          </a:solidFill>
          <a:ln w="13970">
            <a:solidFill>
              <a:srgbClr val="698BB5"/>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 name="Shape 1"/>
          <p:cNvSpPr/>
          <p:nvPr/>
        </p:nvSpPr>
        <p:spPr>
          <a:xfrm>
            <a:off x="2505600" y="1481400"/>
            <a:ext cx="9374400" cy="1398600"/>
          </a:xfrm>
          <a:prstGeom prst="rect">
            <a:avLst/>
          </a:prstGeom>
          <a:solidFill>
            <a:srgbClr val="EAF8FF"/>
          </a:solidFill>
          <a:ln w="10795">
            <a:solidFill>
              <a:srgbClr val="8ECFFF"/>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2" name="Shape 2"/>
          <p:cNvSpPr/>
          <p:nvPr/>
        </p:nvSpPr>
        <p:spPr>
          <a:xfrm flipH="1">
            <a:off x="2504880" y="2999160"/>
            <a:ext cx="9371880" cy="2797200"/>
          </a:xfrm>
          <a:prstGeom prst="rect">
            <a:avLst/>
          </a:prstGeom>
          <a:solidFill>
            <a:srgbClr val="ECFFF2"/>
          </a:solidFill>
          <a:ln w="10160">
            <a:solidFill>
              <a:srgbClr val="ACF4B7"/>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3" name="Shape 3"/>
          <p:cNvSpPr/>
          <p:nvPr/>
        </p:nvSpPr>
        <p:spPr>
          <a:xfrm>
            <a:off x="2520000" y="5816880"/>
            <a:ext cx="9371880" cy="1562760"/>
          </a:xfrm>
          <a:prstGeom prst="rect">
            <a:avLst/>
          </a:prstGeom>
          <a:solidFill>
            <a:srgbClr val="FDEDF0"/>
          </a:solidFill>
          <a:ln w="10795">
            <a:solidFill>
              <a:srgbClr val="F99CAF"/>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4" name="Shape 4"/>
          <p:cNvSpPr/>
          <p:nvPr/>
        </p:nvSpPr>
        <p:spPr>
          <a:xfrm>
            <a:off x="12737520" y="3063240"/>
            <a:ext cx="2157120" cy="1288440"/>
          </a:xfrm>
          <a:prstGeom prst="roundRect">
            <a:avLst>
              <a:gd name="adj" fmla="val 16667"/>
            </a:avLst>
          </a:prstGeom>
          <a:solidFill>
            <a:srgbClr val="FFF6DF"/>
          </a:solidFill>
          <a:ln w="10795">
            <a:solidFill>
              <a:srgbClr val="FFBD3C"/>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5" name="Shape 5"/>
          <p:cNvSpPr/>
          <p:nvPr/>
        </p:nvSpPr>
        <p:spPr>
          <a:xfrm>
            <a:off x="201240" y="1691640"/>
            <a:ext cx="1663560" cy="721800"/>
          </a:xfrm>
          <a:prstGeom prst="roundRect">
            <a:avLst>
              <a:gd name="adj" fmla="val 16667"/>
            </a:avLst>
          </a:prstGeom>
          <a:solidFill>
            <a:srgbClr val="F8FAFD"/>
          </a:solidFill>
          <a:ln w="11430">
            <a:solidFill>
              <a:srgbClr val="92A7C5"/>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6" name="Shape 6"/>
          <p:cNvSpPr/>
          <p:nvPr/>
        </p:nvSpPr>
        <p:spPr>
          <a:xfrm>
            <a:off x="191880" y="3547800"/>
            <a:ext cx="1764000" cy="941040"/>
          </a:xfrm>
          <a:prstGeom prst="roundRect">
            <a:avLst>
              <a:gd name="adj" fmla="val 16667"/>
            </a:avLst>
          </a:prstGeom>
          <a:solidFill>
            <a:srgbClr val="FBF9FF"/>
          </a:solidFill>
          <a:ln w="12065">
            <a:solidFill>
              <a:srgbClr val="A87FFF"/>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7" name="Shape 7"/>
          <p:cNvSpPr/>
          <p:nvPr/>
        </p:nvSpPr>
        <p:spPr>
          <a:xfrm>
            <a:off x="191880" y="4864680"/>
            <a:ext cx="1499040" cy="1114920"/>
          </a:xfrm>
          <a:prstGeom prst="roundRect">
            <a:avLst>
              <a:gd name="adj" fmla="val 16667"/>
            </a:avLst>
          </a:prstGeom>
          <a:solidFill>
            <a:srgbClr val="FBF9FF"/>
          </a:solidFill>
          <a:ln w="12065">
            <a:solidFill>
              <a:srgbClr val="A87FFF"/>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8" name="Shape 8"/>
          <p:cNvSpPr/>
          <p:nvPr/>
        </p:nvSpPr>
        <p:spPr>
          <a:xfrm>
            <a:off x="12454200" y="1261800"/>
            <a:ext cx="2431440" cy="1142280"/>
          </a:xfrm>
          <a:prstGeom prst="roundRect">
            <a:avLst>
              <a:gd name="adj" fmla="val 16667"/>
            </a:avLst>
          </a:prstGeom>
          <a:solidFill>
            <a:srgbClr val="FCFAFF"/>
          </a:solidFill>
          <a:ln w="11430">
            <a:solidFill>
              <a:srgbClr val="A987FB"/>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9" name="Shape 9"/>
          <p:cNvSpPr/>
          <p:nvPr/>
        </p:nvSpPr>
        <p:spPr>
          <a:xfrm>
            <a:off x="12591360" y="1810440"/>
            <a:ext cx="1069200" cy="511200"/>
          </a:xfrm>
          <a:prstGeom prst="roundRect">
            <a:avLst>
              <a:gd name="adj" fmla="val 16667"/>
            </a:avLst>
          </a:prstGeom>
          <a:solidFill>
            <a:srgbClr val="FFFFFF"/>
          </a:solidFill>
          <a:ln w="11430">
            <a:solidFill>
              <a:srgbClr val="CCB5F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0" name="Shape 10"/>
          <p:cNvSpPr/>
          <p:nvPr/>
        </p:nvSpPr>
        <p:spPr>
          <a:xfrm>
            <a:off x="13770720" y="1810440"/>
            <a:ext cx="1014120" cy="511200"/>
          </a:xfrm>
          <a:prstGeom prst="roundRect">
            <a:avLst>
              <a:gd name="adj" fmla="val 16667"/>
            </a:avLst>
          </a:prstGeom>
          <a:solidFill>
            <a:srgbClr val="FFFFFF"/>
          </a:solidFill>
          <a:ln w="11430">
            <a:solidFill>
              <a:srgbClr val="CCB5F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1" name="Shape 11"/>
          <p:cNvSpPr/>
          <p:nvPr/>
        </p:nvSpPr>
        <p:spPr>
          <a:xfrm>
            <a:off x="191880" y="7763400"/>
            <a:ext cx="14693760" cy="584640"/>
          </a:xfrm>
          <a:prstGeom prst="rect">
            <a:avLst/>
          </a:prstGeom>
          <a:solidFill>
            <a:srgbClr val="FEFEFF"/>
          </a:solidFill>
          <a:ln w="11430">
            <a:solidFill>
              <a:srgbClr val="BCCFE5"/>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2" name="Shape 12"/>
          <p:cNvSpPr/>
          <p:nvPr/>
        </p:nvSpPr>
        <p:spPr>
          <a:xfrm>
            <a:off x="1865160" y="2093760"/>
            <a:ext cx="1600200" cy="720"/>
          </a:xfrm>
          <a:prstGeom prst="line">
            <a:avLst/>
          </a:prstGeom>
          <a:ln w="20320">
            <a:solidFill>
              <a:srgbClr val="1265CF"/>
            </a:solidFill>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23" name="Shape 13"/>
          <p:cNvSpPr/>
          <p:nvPr/>
        </p:nvSpPr>
        <p:spPr>
          <a:xfrm>
            <a:off x="5724000" y="2103120"/>
            <a:ext cx="1380600" cy="720"/>
          </a:xfrm>
          <a:prstGeom prst="line">
            <a:avLst/>
          </a:prstGeom>
          <a:ln w="19050">
            <a:solidFill>
              <a:srgbClr val="1265CF"/>
            </a:solidFill>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24" name="Shape 14"/>
          <p:cNvSpPr/>
          <p:nvPr/>
        </p:nvSpPr>
        <p:spPr>
          <a:xfrm>
            <a:off x="4105440" y="2404800"/>
            <a:ext cx="720" cy="374760"/>
          </a:xfrm>
          <a:prstGeom prst="line">
            <a:avLst/>
          </a:prstGeom>
          <a:ln w="18034">
            <a:solidFill>
              <a:srgbClr val="1265CF"/>
            </a:solidFill>
            <a:roun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25" name="Shape 15"/>
          <p:cNvSpPr/>
          <p:nvPr/>
        </p:nvSpPr>
        <p:spPr>
          <a:xfrm flipH="1">
            <a:off x="3337560" y="2779560"/>
            <a:ext cx="767880" cy="720"/>
          </a:xfrm>
          <a:prstGeom prst="line">
            <a:avLst/>
          </a:prstGeom>
          <a:ln w="18034">
            <a:solidFill>
              <a:srgbClr val="1265CF"/>
            </a:solidFill>
            <a:roun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26" name="Shape 16"/>
          <p:cNvSpPr/>
          <p:nvPr/>
        </p:nvSpPr>
        <p:spPr>
          <a:xfrm>
            <a:off x="3337560" y="2779560"/>
            <a:ext cx="720" cy="640080"/>
          </a:xfrm>
          <a:prstGeom prst="line">
            <a:avLst/>
          </a:prstGeom>
          <a:ln w="18034">
            <a:solidFill>
              <a:srgbClr val="1265CF"/>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27" name="Shape 17"/>
          <p:cNvSpPr/>
          <p:nvPr/>
        </p:nvSpPr>
        <p:spPr>
          <a:xfrm>
            <a:off x="4718160" y="2395440"/>
            <a:ext cx="720" cy="475560"/>
          </a:xfrm>
          <a:prstGeom prst="line">
            <a:avLst/>
          </a:prstGeom>
          <a:ln w="18415">
            <a:solidFill>
              <a:srgbClr val="1265CF"/>
            </a:solidFill>
            <a:roun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28" name="Shape 18"/>
          <p:cNvSpPr/>
          <p:nvPr/>
        </p:nvSpPr>
        <p:spPr>
          <a:xfrm>
            <a:off x="4718160" y="2871000"/>
            <a:ext cx="6346080" cy="720"/>
          </a:xfrm>
          <a:prstGeom prst="line">
            <a:avLst/>
          </a:prstGeom>
          <a:ln w="18415">
            <a:solidFill>
              <a:srgbClr val="1265CF"/>
            </a:solidFill>
            <a:roun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29" name="Shape 19"/>
          <p:cNvSpPr/>
          <p:nvPr/>
        </p:nvSpPr>
        <p:spPr>
          <a:xfrm>
            <a:off x="4718160" y="2871000"/>
            <a:ext cx="720" cy="558000"/>
          </a:xfrm>
          <a:prstGeom prst="line">
            <a:avLst/>
          </a:prstGeom>
          <a:ln w="17145">
            <a:solidFill>
              <a:srgbClr val="1265CF"/>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30" name="Shape 20"/>
          <p:cNvSpPr/>
          <p:nvPr/>
        </p:nvSpPr>
        <p:spPr>
          <a:xfrm>
            <a:off x="6126480" y="2871000"/>
            <a:ext cx="720" cy="558000"/>
          </a:xfrm>
          <a:prstGeom prst="line">
            <a:avLst/>
          </a:prstGeom>
          <a:ln w="17145">
            <a:solidFill>
              <a:srgbClr val="1265CF"/>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31" name="Shape 21"/>
          <p:cNvSpPr/>
          <p:nvPr/>
        </p:nvSpPr>
        <p:spPr>
          <a:xfrm>
            <a:off x="7040880" y="2871000"/>
            <a:ext cx="720" cy="558000"/>
          </a:xfrm>
          <a:prstGeom prst="line">
            <a:avLst/>
          </a:prstGeom>
          <a:ln w="17145">
            <a:solidFill>
              <a:srgbClr val="1265CF"/>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32" name="Shape 22"/>
          <p:cNvSpPr/>
          <p:nvPr/>
        </p:nvSpPr>
        <p:spPr>
          <a:xfrm>
            <a:off x="8430480" y="2871000"/>
            <a:ext cx="720" cy="558000"/>
          </a:xfrm>
          <a:prstGeom prst="line">
            <a:avLst/>
          </a:prstGeom>
          <a:ln w="17145">
            <a:solidFill>
              <a:srgbClr val="1265CF"/>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33" name="Shape 23"/>
          <p:cNvSpPr/>
          <p:nvPr/>
        </p:nvSpPr>
        <p:spPr>
          <a:xfrm>
            <a:off x="9674280" y="2871000"/>
            <a:ext cx="720" cy="558000"/>
          </a:xfrm>
          <a:prstGeom prst="line">
            <a:avLst/>
          </a:prstGeom>
          <a:ln w="17145">
            <a:solidFill>
              <a:srgbClr val="1265CF"/>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34" name="Shape 24"/>
          <p:cNvSpPr/>
          <p:nvPr/>
        </p:nvSpPr>
        <p:spPr>
          <a:xfrm>
            <a:off x="11064240" y="2871000"/>
            <a:ext cx="720" cy="558000"/>
          </a:xfrm>
          <a:prstGeom prst="line">
            <a:avLst/>
          </a:prstGeom>
          <a:ln w="17145">
            <a:solidFill>
              <a:srgbClr val="1265CF"/>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35" name="Shape 26"/>
          <p:cNvSpPr/>
          <p:nvPr/>
        </p:nvSpPr>
        <p:spPr>
          <a:xfrm flipH="1">
            <a:off x="9619200" y="2084760"/>
            <a:ext cx="2834640" cy="720"/>
          </a:xfrm>
          <a:prstGeom prst="line">
            <a:avLst/>
          </a:prstGeom>
          <a:ln w="13970">
            <a:solidFill>
              <a:srgbClr val="985AF5"/>
            </a:solidFill>
            <a:prstDash val="dash"/>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36" name="Shape 27"/>
          <p:cNvSpPr/>
          <p:nvPr/>
        </p:nvSpPr>
        <p:spPr>
          <a:xfrm flipH="1">
            <a:off x="4498560" y="2615040"/>
            <a:ext cx="7964640" cy="720"/>
          </a:xfrm>
          <a:prstGeom prst="line">
            <a:avLst/>
          </a:prstGeom>
          <a:ln w="13970">
            <a:solidFill>
              <a:srgbClr val="985AF5"/>
            </a:solidFill>
            <a:prstDash val="dash"/>
            <a:roun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37" name="Shape 28"/>
          <p:cNvSpPr/>
          <p:nvPr/>
        </p:nvSpPr>
        <p:spPr>
          <a:xfrm flipV="1">
            <a:off x="4498560" y="2404800"/>
            <a:ext cx="720" cy="210240"/>
          </a:xfrm>
          <a:prstGeom prst="line">
            <a:avLst/>
          </a:prstGeom>
          <a:ln w="13970">
            <a:solidFill>
              <a:srgbClr val="985AF5"/>
            </a:solidFill>
            <a:prstDash val="dash"/>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38" name="Shape 29"/>
          <p:cNvSpPr/>
          <p:nvPr/>
        </p:nvSpPr>
        <p:spPr>
          <a:xfrm>
            <a:off x="1956600" y="4059720"/>
            <a:ext cx="4782240" cy="720"/>
          </a:xfrm>
          <a:prstGeom prst="line">
            <a:avLst/>
          </a:prstGeom>
          <a:ln w="17272">
            <a:solidFill>
              <a:srgbClr val="1265CF"/>
            </a:solidFill>
            <a:roun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39" name="Shape 30"/>
          <p:cNvSpPr/>
          <p:nvPr/>
        </p:nvSpPr>
        <p:spPr>
          <a:xfrm flipV="1">
            <a:off x="6738840" y="3949920"/>
            <a:ext cx="720" cy="109800"/>
          </a:xfrm>
          <a:prstGeom prst="line">
            <a:avLst/>
          </a:prstGeom>
          <a:ln w="17272">
            <a:solidFill>
              <a:srgbClr val="1265CF"/>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40" name="Shape 31"/>
          <p:cNvSpPr/>
          <p:nvPr/>
        </p:nvSpPr>
        <p:spPr>
          <a:xfrm>
            <a:off x="4919400" y="3959280"/>
            <a:ext cx="720" cy="283320"/>
          </a:xfrm>
          <a:prstGeom prst="line">
            <a:avLst/>
          </a:prstGeom>
          <a:ln w="19685">
            <a:solidFill>
              <a:srgbClr val="0065FF"/>
            </a:solidFill>
            <a:roun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41" name="Shape 32"/>
          <p:cNvSpPr/>
          <p:nvPr/>
        </p:nvSpPr>
        <p:spPr>
          <a:xfrm>
            <a:off x="4919400" y="4242600"/>
            <a:ext cx="1270800" cy="720"/>
          </a:xfrm>
          <a:prstGeom prst="line">
            <a:avLst/>
          </a:prstGeom>
          <a:ln w="19685">
            <a:solidFill>
              <a:srgbClr val="0065FF"/>
            </a:solidFill>
            <a:roun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42" name="Shape 33"/>
          <p:cNvSpPr/>
          <p:nvPr/>
        </p:nvSpPr>
        <p:spPr>
          <a:xfrm flipV="1">
            <a:off x="6190200" y="4233600"/>
            <a:ext cx="1189800" cy="9000"/>
          </a:xfrm>
          <a:prstGeom prst="line">
            <a:avLst/>
          </a:prstGeom>
          <a:ln w="19685">
            <a:solidFill>
              <a:srgbClr val="0065FF"/>
            </a:solidFill>
            <a:round/>
          </a:ln>
        </p:spPr>
        <p:style>
          <a:lnRef idx="0"/>
          <a:fillRef idx="0"/>
          <a:effectRef idx="0"/>
          <a:fontRef idx="minor"/>
        </p:style>
        <p:txBody>
          <a:bodyPr lIns="90000" tIns="-36000" rIns="90000" bIns="-36000" anchor="t" anchorCtr="1">
            <a:noAutofit/>
          </a:bodyPr>
          <a:p>
            <a:endParaRPr lang="en-GB" sz="1800" b="0" u="none" strike="noStrike">
              <a:solidFill>
                <a:srgbClr val="000000"/>
              </a:solidFill>
              <a:effectLst/>
              <a:uFillTx/>
              <a:latin typeface="Arial"/>
            </a:endParaRPr>
          </a:p>
        </p:txBody>
      </p:sp>
      <p:sp>
        <p:nvSpPr>
          <p:cNvPr id="43" name="Shape 35"/>
          <p:cNvSpPr/>
          <p:nvPr/>
        </p:nvSpPr>
        <p:spPr>
          <a:xfrm>
            <a:off x="7260120" y="3959280"/>
            <a:ext cx="720" cy="274320"/>
          </a:xfrm>
          <a:prstGeom prst="line">
            <a:avLst/>
          </a:prstGeom>
          <a:ln w="19685">
            <a:solidFill>
              <a:srgbClr val="0065FF"/>
            </a:solidFill>
            <a:roun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44" name="Shape 36"/>
          <p:cNvSpPr/>
          <p:nvPr/>
        </p:nvSpPr>
        <p:spPr>
          <a:xfrm>
            <a:off x="7260120" y="4233600"/>
            <a:ext cx="3813120" cy="720"/>
          </a:xfrm>
          <a:prstGeom prst="line">
            <a:avLst/>
          </a:prstGeom>
          <a:ln w="19685">
            <a:solidFill>
              <a:srgbClr val="0065FF"/>
            </a:solidFill>
            <a:roun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45" name="Shape 37"/>
          <p:cNvSpPr/>
          <p:nvPr/>
        </p:nvSpPr>
        <p:spPr>
          <a:xfrm flipV="1">
            <a:off x="11073240" y="3959280"/>
            <a:ext cx="720" cy="274320"/>
          </a:xfrm>
          <a:prstGeom prst="line">
            <a:avLst/>
          </a:prstGeom>
          <a:ln w="19685">
            <a:solidFill>
              <a:srgbClr val="0065FF"/>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46" name="Shape 38"/>
          <p:cNvSpPr/>
          <p:nvPr/>
        </p:nvSpPr>
        <p:spPr>
          <a:xfrm>
            <a:off x="11768040" y="3840480"/>
            <a:ext cx="1115640" cy="720"/>
          </a:xfrm>
          <a:prstGeom prst="line">
            <a:avLst/>
          </a:prstGeom>
          <a:ln w="21590">
            <a:solidFill>
              <a:srgbClr val="1265CF"/>
            </a:solidFill>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47" name="Shape 39"/>
          <p:cNvSpPr/>
          <p:nvPr/>
        </p:nvSpPr>
        <p:spPr>
          <a:xfrm flipV="1">
            <a:off x="9079920" y="2404800"/>
            <a:ext cx="720" cy="1024200"/>
          </a:xfrm>
          <a:prstGeom prst="line">
            <a:avLst/>
          </a:prstGeom>
          <a:ln w="20320">
            <a:solidFill>
              <a:srgbClr val="107E36"/>
            </a:solidFill>
            <a:prstDash val="dash"/>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48" name="Shape 40"/>
          <p:cNvSpPr/>
          <p:nvPr/>
        </p:nvSpPr>
        <p:spPr>
          <a:xfrm>
            <a:off x="3255120" y="3949920"/>
            <a:ext cx="720" cy="548640"/>
          </a:xfrm>
          <a:prstGeom prst="line">
            <a:avLst/>
          </a:prstGeom>
          <a:ln w="13970">
            <a:solidFill>
              <a:srgbClr val="24262D"/>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49" name="Shape 41"/>
          <p:cNvSpPr/>
          <p:nvPr/>
        </p:nvSpPr>
        <p:spPr>
          <a:xfrm>
            <a:off x="4572000" y="3959280"/>
            <a:ext cx="720" cy="521280"/>
          </a:xfrm>
          <a:prstGeom prst="line">
            <a:avLst/>
          </a:prstGeom>
          <a:ln w="13970">
            <a:solidFill>
              <a:srgbClr val="24262D"/>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50" name="Shape 42"/>
          <p:cNvSpPr/>
          <p:nvPr/>
        </p:nvSpPr>
        <p:spPr>
          <a:xfrm>
            <a:off x="5477040" y="3959280"/>
            <a:ext cx="720" cy="521280"/>
          </a:xfrm>
          <a:prstGeom prst="line">
            <a:avLst/>
          </a:prstGeom>
          <a:ln w="13970">
            <a:solidFill>
              <a:srgbClr val="24262D"/>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51" name="Shape 47"/>
          <p:cNvSpPr/>
          <p:nvPr/>
        </p:nvSpPr>
        <p:spPr>
          <a:xfrm>
            <a:off x="9811440" y="3959280"/>
            <a:ext cx="720" cy="1124640"/>
          </a:xfrm>
          <a:prstGeom prst="line">
            <a:avLst/>
          </a:prstGeom>
          <a:ln w="13970">
            <a:solidFill>
              <a:srgbClr val="24262D"/>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52" name="Shape 48"/>
          <p:cNvSpPr/>
          <p:nvPr/>
        </p:nvSpPr>
        <p:spPr>
          <a:xfrm>
            <a:off x="4251600" y="3960000"/>
            <a:ext cx="1080" cy="1389240"/>
          </a:xfrm>
          <a:prstGeom prst="line">
            <a:avLst/>
          </a:prstGeom>
          <a:ln w="15240">
            <a:solidFill>
              <a:srgbClr val="24262D"/>
            </a:solidFill>
            <a:roun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53" name="Shape 49"/>
          <p:cNvSpPr/>
          <p:nvPr/>
        </p:nvSpPr>
        <p:spPr>
          <a:xfrm>
            <a:off x="4251960" y="4782240"/>
            <a:ext cx="210240" cy="720"/>
          </a:xfrm>
          <a:prstGeom prst="line">
            <a:avLst/>
          </a:prstGeom>
          <a:ln w="15240">
            <a:solidFill>
              <a:srgbClr val="24262D"/>
            </a:solidFill>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54" name="Shape 50"/>
          <p:cNvSpPr/>
          <p:nvPr/>
        </p:nvSpPr>
        <p:spPr>
          <a:xfrm>
            <a:off x="4251960" y="5339880"/>
            <a:ext cx="210240" cy="720"/>
          </a:xfrm>
          <a:prstGeom prst="line">
            <a:avLst/>
          </a:prstGeom>
          <a:ln w="15240">
            <a:solidFill>
              <a:srgbClr val="24262D"/>
            </a:solidFill>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55" name="Shape 51"/>
          <p:cNvSpPr/>
          <p:nvPr/>
        </p:nvSpPr>
        <p:spPr>
          <a:xfrm>
            <a:off x="1691640" y="5412960"/>
            <a:ext cx="1783080" cy="720"/>
          </a:xfrm>
          <a:prstGeom prst="line">
            <a:avLst/>
          </a:prstGeom>
          <a:ln w="19050">
            <a:solidFill>
              <a:srgbClr val="1265CF"/>
            </a:solidFill>
            <a:roun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56" name="Shape 52"/>
          <p:cNvSpPr/>
          <p:nvPr/>
        </p:nvSpPr>
        <p:spPr>
          <a:xfrm>
            <a:off x="3474720" y="5412960"/>
            <a:ext cx="720" cy="429840"/>
          </a:xfrm>
          <a:prstGeom prst="line">
            <a:avLst/>
          </a:prstGeom>
          <a:ln w="19050">
            <a:solidFill>
              <a:srgbClr val="1265CF"/>
            </a:solidFill>
            <a:roun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57" name="Shape 53"/>
          <p:cNvSpPr/>
          <p:nvPr/>
        </p:nvSpPr>
        <p:spPr>
          <a:xfrm>
            <a:off x="3474720" y="5842800"/>
            <a:ext cx="2468880" cy="720"/>
          </a:xfrm>
          <a:prstGeom prst="line">
            <a:avLst/>
          </a:prstGeom>
          <a:ln w="19050">
            <a:solidFill>
              <a:srgbClr val="1265CF"/>
            </a:solidFill>
            <a:roun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58" name="Shape 54"/>
          <p:cNvSpPr/>
          <p:nvPr/>
        </p:nvSpPr>
        <p:spPr>
          <a:xfrm>
            <a:off x="5943600" y="5842800"/>
            <a:ext cx="720" cy="393120"/>
          </a:xfrm>
          <a:prstGeom prst="line">
            <a:avLst/>
          </a:prstGeom>
          <a:ln w="19050">
            <a:solidFill>
              <a:srgbClr val="1265CF"/>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59" name="Shape 55"/>
          <p:cNvSpPr/>
          <p:nvPr/>
        </p:nvSpPr>
        <p:spPr>
          <a:xfrm>
            <a:off x="11777400" y="6812280"/>
            <a:ext cx="462600" cy="720"/>
          </a:xfrm>
          <a:prstGeom prst="line">
            <a:avLst/>
          </a:prstGeom>
          <a:ln w="16510">
            <a:solidFill>
              <a:srgbClr val="107E36"/>
            </a:solidFill>
            <a:prstDash val="dash"/>
            <a:roun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60" name="Shape 56"/>
          <p:cNvSpPr/>
          <p:nvPr/>
        </p:nvSpPr>
        <p:spPr>
          <a:xfrm flipV="1">
            <a:off x="12240000" y="5203080"/>
            <a:ext cx="720" cy="1636920"/>
          </a:xfrm>
          <a:prstGeom prst="line">
            <a:avLst/>
          </a:prstGeom>
          <a:ln w="16510">
            <a:solidFill>
              <a:srgbClr val="107E36"/>
            </a:solidFill>
            <a:prstDash val="dash"/>
            <a:roun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61" name="Shape 57"/>
          <p:cNvSpPr/>
          <p:nvPr/>
        </p:nvSpPr>
        <p:spPr>
          <a:xfrm>
            <a:off x="12240000" y="5175360"/>
            <a:ext cx="1567440" cy="720"/>
          </a:xfrm>
          <a:prstGeom prst="line">
            <a:avLst/>
          </a:prstGeom>
          <a:ln w="16510">
            <a:solidFill>
              <a:srgbClr val="107E36"/>
            </a:solidFill>
            <a:prstDash val="dash"/>
            <a:roun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62" name="Shape 58"/>
          <p:cNvSpPr/>
          <p:nvPr/>
        </p:nvSpPr>
        <p:spPr>
          <a:xfrm flipV="1">
            <a:off x="13807440" y="4169520"/>
            <a:ext cx="720" cy="1005840"/>
          </a:xfrm>
          <a:prstGeom prst="line">
            <a:avLst/>
          </a:prstGeom>
          <a:ln w="16510">
            <a:solidFill>
              <a:srgbClr val="107E36"/>
            </a:solidFill>
            <a:prstDash val="dash"/>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63" name="Shape 59"/>
          <p:cNvSpPr/>
          <p:nvPr/>
        </p:nvSpPr>
        <p:spPr>
          <a:xfrm>
            <a:off x="4142160" y="6601680"/>
            <a:ext cx="740520" cy="720"/>
          </a:xfrm>
          <a:prstGeom prst="line">
            <a:avLst/>
          </a:prstGeom>
          <a:ln w="17780">
            <a:solidFill>
              <a:srgbClr val="23415E"/>
            </a:solidFill>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64" name="Shape 60"/>
          <p:cNvSpPr/>
          <p:nvPr/>
        </p:nvSpPr>
        <p:spPr>
          <a:xfrm>
            <a:off x="6318360" y="6592680"/>
            <a:ext cx="804600" cy="720"/>
          </a:xfrm>
          <a:prstGeom prst="line">
            <a:avLst/>
          </a:prstGeom>
          <a:ln w="17780">
            <a:solidFill>
              <a:srgbClr val="23415E"/>
            </a:solidFill>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65" name="Shape 61"/>
          <p:cNvSpPr/>
          <p:nvPr/>
        </p:nvSpPr>
        <p:spPr>
          <a:xfrm>
            <a:off x="9052560" y="6592680"/>
            <a:ext cx="840960" cy="720"/>
          </a:xfrm>
          <a:prstGeom prst="line">
            <a:avLst/>
          </a:prstGeom>
          <a:ln w="17780">
            <a:solidFill>
              <a:srgbClr val="23415E"/>
            </a:solidFill>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66" name="Shape 63"/>
          <p:cNvSpPr/>
          <p:nvPr/>
        </p:nvSpPr>
        <p:spPr>
          <a:xfrm>
            <a:off x="5040000" y="7169400"/>
            <a:ext cx="281520" cy="360"/>
          </a:xfrm>
          <a:prstGeom prst="line">
            <a:avLst/>
          </a:prstGeom>
          <a:ln w="16510">
            <a:solidFill>
              <a:srgbClr val="23415E"/>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67" name="Shape 64"/>
          <p:cNvSpPr/>
          <p:nvPr/>
        </p:nvSpPr>
        <p:spPr>
          <a:xfrm>
            <a:off x="7443000" y="6839640"/>
            <a:ext cx="720" cy="329040"/>
          </a:xfrm>
          <a:prstGeom prst="line">
            <a:avLst/>
          </a:prstGeom>
          <a:ln w="16510">
            <a:solidFill>
              <a:srgbClr val="23415E"/>
            </a:solidFill>
            <a:roun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68" name="Shape 65"/>
          <p:cNvSpPr/>
          <p:nvPr/>
        </p:nvSpPr>
        <p:spPr>
          <a:xfrm>
            <a:off x="7443000" y="7168680"/>
            <a:ext cx="210240" cy="720"/>
          </a:xfrm>
          <a:prstGeom prst="line">
            <a:avLst/>
          </a:prstGeom>
          <a:ln w="16510">
            <a:solidFill>
              <a:srgbClr val="23415E"/>
            </a:solidFill>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69" name="Shape 66"/>
          <p:cNvSpPr/>
          <p:nvPr/>
        </p:nvSpPr>
        <p:spPr>
          <a:xfrm>
            <a:off x="3465720" y="1810440"/>
            <a:ext cx="2257920" cy="593640"/>
          </a:xfrm>
          <a:prstGeom prst="roundRect">
            <a:avLst>
              <a:gd name="adj" fmla="val 16667"/>
            </a:avLst>
          </a:prstGeom>
          <a:solidFill>
            <a:srgbClr val="EDFFF2"/>
          </a:solidFill>
          <a:ln w="12700">
            <a:solidFill>
              <a:srgbClr val="1AAF59"/>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70" name="Shape 67"/>
          <p:cNvSpPr/>
          <p:nvPr/>
        </p:nvSpPr>
        <p:spPr>
          <a:xfrm>
            <a:off x="7113960" y="1764720"/>
            <a:ext cx="2495520" cy="639360"/>
          </a:xfrm>
          <a:prstGeom prst="roundRect">
            <a:avLst>
              <a:gd name="adj" fmla="val 16667"/>
            </a:avLst>
          </a:prstGeom>
          <a:solidFill>
            <a:srgbClr val="F0FAFF"/>
          </a:solidFill>
          <a:ln w="11430">
            <a:solidFill>
              <a:srgbClr val="4398EE"/>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71" name="Shape 68"/>
          <p:cNvSpPr/>
          <p:nvPr/>
        </p:nvSpPr>
        <p:spPr>
          <a:xfrm>
            <a:off x="2688480" y="3420000"/>
            <a:ext cx="1151280" cy="538920"/>
          </a:xfrm>
          <a:prstGeom prst="roundRect">
            <a:avLst>
              <a:gd name="adj" fmla="val 16667"/>
            </a:avLst>
          </a:prstGeom>
          <a:solidFill>
            <a:srgbClr val="DBF8E7"/>
          </a:solidFill>
          <a:ln w="11430">
            <a:solidFill>
              <a:srgbClr val="3DBC77"/>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72" name="Text 69"/>
          <p:cNvSpPr/>
          <p:nvPr/>
        </p:nvSpPr>
        <p:spPr>
          <a:xfrm>
            <a:off x="2743200" y="3511440"/>
            <a:ext cx="1041840" cy="209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1130" b="1" u="none" strike="noStrike">
                <a:solidFill>
                  <a:srgbClr val="0C1B3C"/>
                </a:solidFill>
                <a:effectLst/>
                <a:uFillTx/>
                <a:latin typeface="Arial"/>
                <a:ea typeface="Arial"/>
              </a:rPr>
              <a:t>Auth</a:t>
            </a:r>
            <a:endParaRPr lang="en-GB" sz="1130" b="0" u="none" strike="noStrike">
              <a:solidFill>
                <a:srgbClr val="000000"/>
              </a:solidFill>
              <a:effectLst/>
              <a:uFillTx/>
              <a:latin typeface="Arial"/>
            </a:endParaRPr>
          </a:p>
        </p:txBody>
      </p:sp>
      <p:sp>
        <p:nvSpPr>
          <p:cNvPr id="73" name="Text 70"/>
          <p:cNvSpPr/>
          <p:nvPr/>
        </p:nvSpPr>
        <p:spPr>
          <a:xfrm>
            <a:off x="2724840" y="3730680"/>
            <a:ext cx="1078200" cy="154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920" b="0" u="none" strike="noStrike">
                <a:solidFill>
                  <a:srgbClr val="0C1B3C"/>
                </a:solidFill>
                <a:effectLst/>
                <a:uFillTx/>
                <a:latin typeface="Arial"/>
                <a:ea typeface="Arial"/>
              </a:rPr>
              <a:t>ASP.NET Core</a:t>
            </a:r>
            <a:endParaRPr lang="en-GB" sz="920" b="0" u="none" strike="noStrike">
              <a:solidFill>
                <a:srgbClr val="000000"/>
              </a:solidFill>
              <a:effectLst/>
              <a:uFillTx/>
              <a:latin typeface="Arial"/>
            </a:endParaRPr>
          </a:p>
        </p:txBody>
      </p:sp>
      <p:sp>
        <p:nvSpPr>
          <p:cNvPr id="74" name="Shape 71"/>
          <p:cNvSpPr/>
          <p:nvPr/>
        </p:nvSpPr>
        <p:spPr>
          <a:xfrm>
            <a:off x="3931920" y="3420000"/>
            <a:ext cx="1197000" cy="538920"/>
          </a:xfrm>
          <a:prstGeom prst="roundRect">
            <a:avLst>
              <a:gd name="adj" fmla="val 16667"/>
            </a:avLst>
          </a:prstGeom>
          <a:solidFill>
            <a:srgbClr val="DBF8E7"/>
          </a:solidFill>
          <a:ln w="11430">
            <a:solidFill>
              <a:srgbClr val="3DBC77"/>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75" name="Text 72"/>
          <p:cNvSpPr/>
          <p:nvPr/>
        </p:nvSpPr>
        <p:spPr>
          <a:xfrm>
            <a:off x="3986640" y="3511440"/>
            <a:ext cx="1087560" cy="209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1130" b="1" u="none" strike="noStrike">
                <a:solidFill>
                  <a:srgbClr val="0C1B3C"/>
                </a:solidFill>
                <a:effectLst/>
                <a:uFillTx/>
                <a:latin typeface="Arial"/>
                <a:ea typeface="Arial"/>
              </a:rPr>
              <a:t>Control API</a:t>
            </a:r>
            <a:endParaRPr lang="en-GB" sz="1130" b="0" u="none" strike="noStrike">
              <a:solidFill>
                <a:srgbClr val="000000"/>
              </a:solidFill>
              <a:effectLst/>
              <a:uFillTx/>
              <a:latin typeface="Arial"/>
            </a:endParaRPr>
          </a:p>
        </p:txBody>
      </p:sp>
      <p:sp>
        <p:nvSpPr>
          <p:cNvPr id="76" name="Text 73"/>
          <p:cNvSpPr/>
          <p:nvPr/>
        </p:nvSpPr>
        <p:spPr>
          <a:xfrm>
            <a:off x="3968640" y="3730680"/>
            <a:ext cx="1123920" cy="154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920" b="0" u="none" strike="noStrike">
                <a:solidFill>
                  <a:srgbClr val="0C1B3C"/>
                </a:solidFill>
                <a:effectLst/>
                <a:uFillTx/>
                <a:latin typeface="Arial"/>
                <a:ea typeface="Arial"/>
              </a:rPr>
              <a:t>ASP.NET Core</a:t>
            </a:r>
            <a:endParaRPr lang="en-GB" sz="920" b="0" u="none" strike="noStrike">
              <a:solidFill>
                <a:srgbClr val="000000"/>
              </a:solidFill>
              <a:effectLst/>
              <a:uFillTx/>
              <a:latin typeface="Arial"/>
            </a:endParaRPr>
          </a:p>
        </p:txBody>
      </p:sp>
      <p:sp>
        <p:nvSpPr>
          <p:cNvPr id="77" name="Shape 74"/>
          <p:cNvSpPr/>
          <p:nvPr/>
        </p:nvSpPr>
        <p:spPr>
          <a:xfrm>
            <a:off x="5221080" y="3420000"/>
            <a:ext cx="1179000" cy="538920"/>
          </a:xfrm>
          <a:prstGeom prst="roundRect">
            <a:avLst>
              <a:gd name="adj" fmla="val 16667"/>
            </a:avLst>
          </a:prstGeom>
          <a:solidFill>
            <a:srgbClr val="DBF8E7"/>
          </a:solidFill>
          <a:ln w="11430">
            <a:solidFill>
              <a:srgbClr val="3DBC77"/>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78" name="Text 75"/>
          <p:cNvSpPr/>
          <p:nvPr/>
        </p:nvSpPr>
        <p:spPr>
          <a:xfrm>
            <a:off x="5276160" y="3511440"/>
            <a:ext cx="1069200" cy="209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1130" b="1" u="none" strike="noStrike">
                <a:solidFill>
                  <a:srgbClr val="0C1B3C"/>
                </a:solidFill>
                <a:effectLst/>
                <a:uFillTx/>
                <a:latin typeface="Arial"/>
                <a:ea typeface="Arial"/>
              </a:rPr>
              <a:t>Versions API</a:t>
            </a:r>
            <a:endParaRPr lang="en-GB" sz="1130" b="0" u="none" strike="noStrike">
              <a:solidFill>
                <a:srgbClr val="000000"/>
              </a:solidFill>
              <a:effectLst/>
              <a:uFillTx/>
              <a:latin typeface="Arial"/>
            </a:endParaRPr>
          </a:p>
        </p:txBody>
      </p:sp>
      <p:sp>
        <p:nvSpPr>
          <p:cNvPr id="79" name="Text 76"/>
          <p:cNvSpPr/>
          <p:nvPr/>
        </p:nvSpPr>
        <p:spPr>
          <a:xfrm>
            <a:off x="5257800" y="3730680"/>
            <a:ext cx="1105560" cy="154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920" b="0" u="none" strike="noStrike">
                <a:solidFill>
                  <a:srgbClr val="0C1B3C"/>
                </a:solidFill>
                <a:effectLst/>
                <a:uFillTx/>
                <a:latin typeface="Arial"/>
                <a:ea typeface="Arial"/>
              </a:rPr>
              <a:t>ASP.NET Core</a:t>
            </a:r>
            <a:endParaRPr lang="en-GB" sz="920" b="0" u="none" strike="noStrike">
              <a:solidFill>
                <a:srgbClr val="000000"/>
              </a:solidFill>
              <a:effectLst/>
              <a:uFillTx/>
              <a:latin typeface="Arial"/>
            </a:endParaRPr>
          </a:p>
        </p:txBody>
      </p:sp>
      <p:sp>
        <p:nvSpPr>
          <p:cNvPr id="80" name="Shape 77"/>
          <p:cNvSpPr/>
          <p:nvPr/>
        </p:nvSpPr>
        <p:spPr>
          <a:xfrm>
            <a:off x="6483240" y="3420000"/>
            <a:ext cx="1179000" cy="538920"/>
          </a:xfrm>
          <a:prstGeom prst="roundRect">
            <a:avLst>
              <a:gd name="adj" fmla="val 16667"/>
            </a:avLst>
          </a:prstGeom>
          <a:solidFill>
            <a:srgbClr val="DBF8E7"/>
          </a:solidFill>
          <a:ln w="11430">
            <a:solidFill>
              <a:srgbClr val="3DBC77"/>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81" name="Text 78"/>
          <p:cNvSpPr/>
          <p:nvPr/>
        </p:nvSpPr>
        <p:spPr>
          <a:xfrm>
            <a:off x="6537960" y="3511440"/>
            <a:ext cx="1069200" cy="209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1130" b="1" u="none" strike="noStrike">
                <a:solidFill>
                  <a:srgbClr val="0C1B3C"/>
                </a:solidFill>
                <a:effectLst/>
                <a:uFillTx/>
                <a:latin typeface="Arial"/>
                <a:ea typeface="Arial"/>
              </a:rPr>
              <a:t>Plugins API</a:t>
            </a:r>
            <a:endParaRPr lang="en-GB" sz="1130" b="0" u="none" strike="noStrike">
              <a:solidFill>
                <a:srgbClr val="000000"/>
              </a:solidFill>
              <a:effectLst/>
              <a:uFillTx/>
              <a:latin typeface="Arial"/>
            </a:endParaRPr>
          </a:p>
        </p:txBody>
      </p:sp>
      <p:sp>
        <p:nvSpPr>
          <p:cNvPr id="82" name="Text 79"/>
          <p:cNvSpPr/>
          <p:nvPr/>
        </p:nvSpPr>
        <p:spPr>
          <a:xfrm>
            <a:off x="6519600" y="3730680"/>
            <a:ext cx="1105560" cy="154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920" b="0" u="none" strike="noStrike">
                <a:solidFill>
                  <a:srgbClr val="0C1B3C"/>
                </a:solidFill>
                <a:effectLst/>
                <a:uFillTx/>
                <a:latin typeface="Arial"/>
                <a:ea typeface="Arial"/>
              </a:rPr>
              <a:t>ASP.NET Core</a:t>
            </a:r>
            <a:endParaRPr lang="en-GB" sz="920" b="0" u="none" strike="noStrike">
              <a:solidFill>
                <a:srgbClr val="000000"/>
              </a:solidFill>
              <a:effectLst/>
              <a:uFillTx/>
              <a:latin typeface="Arial"/>
            </a:endParaRPr>
          </a:p>
        </p:txBody>
      </p:sp>
      <p:sp>
        <p:nvSpPr>
          <p:cNvPr id="83" name="Shape 80"/>
          <p:cNvSpPr/>
          <p:nvPr/>
        </p:nvSpPr>
        <p:spPr>
          <a:xfrm>
            <a:off x="7754040" y="3420000"/>
            <a:ext cx="1379880" cy="538920"/>
          </a:xfrm>
          <a:prstGeom prst="roundRect">
            <a:avLst>
              <a:gd name="adj" fmla="val 16667"/>
            </a:avLst>
          </a:prstGeom>
          <a:solidFill>
            <a:srgbClr val="DBF8E7"/>
          </a:solidFill>
          <a:ln w="11430">
            <a:solidFill>
              <a:srgbClr val="3DBC77"/>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84" name="Text 81"/>
          <p:cNvSpPr/>
          <p:nvPr/>
        </p:nvSpPr>
        <p:spPr>
          <a:xfrm>
            <a:off x="7809120" y="3511440"/>
            <a:ext cx="1270440" cy="209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1000" b="1" u="none" strike="noStrike">
                <a:solidFill>
                  <a:srgbClr val="0C1B3C"/>
                </a:solidFill>
                <a:effectLst/>
                <a:uFillTx/>
                <a:latin typeface="Arial"/>
                <a:ea typeface="Arial"/>
              </a:rPr>
              <a:t>Plugin Catalog API</a:t>
            </a:r>
            <a:endParaRPr lang="en-GB" sz="1000" b="0" u="none" strike="noStrike">
              <a:solidFill>
                <a:srgbClr val="000000"/>
              </a:solidFill>
              <a:effectLst/>
              <a:uFillTx/>
              <a:latin typeface="Arial"/>
            </a:endParaRPr>
          </a:p>
        </p:txBody>
      </p:sp>
      <p:sp>
        <p:nvSpPr>
          <p:cNvPr id="85" name="Text 82"/>
          <p:cNvSpPr/>
          <p:nvPr/>
        </p:nvSpPr>
        <p:spPr>
          <a:xfrm>
            <a:off x="7790760" y="3730680"/>
            <a:ext cx="1306800" cy="154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920" b="0" u="none" strike="noStrike">
                <a:solidFill>
                  <a:srgbClr val="0C1B3C"/>
                </a:solidFill>
                <a:effectLst/>
                <a:uFillTx/>
                <a:latin typeface="Arial"/>
                <a:ea typeface="Arial"/>
              </a:rPr>
              <a:t>ASP.NET Core</a:t>
            </a:r>
            <a:endParaRPr lang="en-GB" sz="920" b="0" u="none" strike="noStrike">
              <a:solidFill>
                <a:srgbClr val="000000"/>
              </a:solidFill>
              <a:effectLst/>
              <a:uFillTx/>
              <a:latin typeface="Arial"/>
            </a:endParaRPr>
          </a:p>
        </p:txBody>
      </p:sp>
      <p:sp>
        <p:nvSpPr>
          <p:cNvPr id="86" name="Shape 83"/>
          <p:cNvSpPr/>
          <p:nvPr/>
        </p:nvSpPr>
        <p:spPr>
          <a:xfrm>
            <a:off x="9217080" y="3420000"/>
            <a:ext cx="1151280" cy="538920"/>
          </a:xfrm>
          <a:prstGeom prst="roundRect">
            <a:avLst>
              <a:gd name="adj" fmla="val 16667"/>
            </a:avLst>
          </a:prstGeom>
          <a:solidFill>
            <a:srgbClr val="DBF8E7"/>
          </a:solidFill>
          <a:ln w="11430">
            <a:solidFill>
              <a:srgbClr val="3DBC77"/>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87" name="Text 84"/>
          <p:cNvSpPr/>
          <p:nvPr/>
        </p:nvSpPr>
        <p:spPr>
          <a:xfrm>
            <a:off x="9272160" y="3511440"/>
            <a:ext cx="1041840" cy="209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1130" b="1" u="none" strike="noStrike">
                <a:solidFill>
                  <a:srgbClr val="0C1B3C"/>
                </a:solidFill>
                <a:effectLst/>
                <a:uFillTx/>
                <a:latin typeface="Arial"/>
                <a:ea typeface="Arial"/>
              </a:rPr>
              <a:t>Snapshots API</a:t>
            </a:r>
            <a:endParaRPr lang="en-GB" sz="1130" b="0" u="none" strike="noStrike">
              <a:solidFill>
                <a:srgbClr val="000000"/>
              </a:solidFill>
              <a:effectLst/>
              <a:uFillTx/>
              <a:latin typeface="Arial"/>
            </a:endParaRPr>
          </a:p>
        </p:txBody>
      </p:sp>
      <p:sp>
        <p:nvSpPr>
          <p:cNvPr id="88" name="Text 85"/>
          <p:cNvSpPr/>
          <p:nvPr/>
        </p:nvSpPr>
        <p:spPr>
          <a:xfrm>
            <a:off x="9253800" y="3730680"/>
            <a:ext cx="1078200" cy="154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920" b="0" u="none" strike="noStrike">
                <a:solidFill>
                  <a:srgbClr val="0C1B3C"/>
                </a:solidFill>
                <a:effectLst/>
                <a:uFillTx/>
                <a:latin typeface="Arial"/>
                <a:ea typeface="Arial"/>
              </a:rPr>
              <a:t>ASP.NET Core</a:t>
            </a:r>
            <a:endParaRPr lang="en-GB" sz="920" b="0" u="none" strike="noStrike">
              <a:solidFill>
                <a:srgbClr val="000000"/>
              </a:solidFill>
              <a:effectLst/>
              <a:uFillTx/>
              <a:latin typeface="Arial"/>
            </a:endParaRPr>
          </a:p>
        </p:txBody>
      </p:sp>
      <p:sp>
        <p:nvSpPr>
          <p:cNvPr id="89" name="Shape 86"/>
          <p:cNvSpPr/>
          <p:nvPr/>
        </p:nvSpPr>
        <p:spPr>
          <a:xfrm>
            <a:off x="10460880" y="3420000"/>
            <a:ext cx="1316160" cy="538920"/>
          </a:xfrm>
          <a:prstGeom prst="roundRect">
            <a:avLst>
              <a:gd name="adj" fmla="val 16667"/>
            </a:avLst>
          </a:prstGeom>
          <a:solidFill>
            <a:srgbClr val="DBF8E7"/>
          </a:solidFill>
          <a:ln w="11430">
            <a:solidFill>
              <a:srgbClr val="3DBC77"/>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90" name="Text 87"/>
          <p:cNvSpPr/>
          <p:nvPr/>
        </p:nvSpPr>
        <p:spPr>
          <a:xfrm>
            <a:off x="10515600" y="3511440"/>
            <a:ext cx="1206360" cy="209520"/>
          </a:xfrm>
          <a:prstGeom prst="rect">
            <a:avLst/>
          </a:prstGeom>
          <a:noFill/>
          <a:ln w="0">
            <a:noFill/>
          </a:ln>
        </p:spPr>
        <p:style>
          <a:lnRef idx="0"/>
          <a:fillRef idx="0"/>
          <a:effectRef idx="0"/>
          <a:fontRef idx="minor"/>
        </p:style>
        <p:txBody>
          <a:bodyPr lIns="0" tIns="0" rIns="0" bIns="0" anchor="ctr">
            <a:normAutofit fontScale="92500" lnSpcReduction="9999"/>
          </a:bodyPr>
          <a:p>
            <a:pPr algn="ctr" defTabSz="914400">
              <a:lnSpc>
                <a:spcPct val="100000"/>
              </a:lnSpc>
              <a:tabLst>
                <a:tab pos="0" algn="l"/>
              </a:tabLst>
            </a:pPr>
            <a:r>
              <a:rPr lang="en-GB" sz="1130" b="1" u="none" strike="noStrike">
                <a:solidFill>
                  <a:srgbClr val="0C1B3C"/>
                </a:solidFill>
                <a:effectLst/>
                <a:uFillTx/>
                <a:latin typeface="Arial"/>
                <a:ea typeface="Arial"/>
              </a:rPr>
              <a:t>Rcon gRPC Service</a:t>
            </a:r>
            <a:endParaRPr lang="en-GB" sz="1130" b="0" u="none" strike="noStrike">
              <a:solidFill>
                <a:srgbClr val="000000"/>
              </a:solidFill>
              <a:effectLst/>
              <a:uFillTx/>
              <a:latin typeface="Arial"/>
            </a:endParaRPr>
          </a:p>
        </p:txBody>
      </p:sp>
      <p:sp>
        <p:nvSpPr>
          <p:cNvPr id="91" name="Text 88"/>
          <p:cNvSpPr/>
          <p:nvPr/>
        </p:nvSpPr>
        <p:spPr>
          <a:xfrm>
            <a:off x="10497240" y="3730680"/>
            <a:ext cx="1242720" cy="154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920" b="0" u="none" strike="noStrike">
                <a:solidFill>
                  <a:srgbClr val="0C1B3C"/>
                </a:solidFill>
                <a:effectLst/>
                <a:uFillTx/>
                <a:latin typeface="Arial"/>
                <a:ea typeface="Arial"/>
              </a:rPr>
              <a:t>ASP.NET Core</a:t>
            </a:r>
            <a:endParaRPr lang="en-GB" sz="920" b="0" u="none" strike="noStrike">
              <a:solidFill>
                <a:srgbClr val="000000"/>
              </a:solidFill>
              <a:effectLst/>
              <a:uFillTx/>
              <a:latin typeface="Arial"/>
            </a:endParaRPr>
          </a:p>
        </p:txBody>
      </p:sp>
      <p:sp>
        <p:nvSpPr>
          <p:cNvPr id="92" name="Shape 89"/>
          <p:cNvSpPr/>
          <p:nvPr/>
        </p:nvSpPr>
        <p:spPr>
          <a:xfrm>
            <a:off x="12884040" y="3538800"/>
            <a:ext cx="1901160" cy="621000"/>
          </a:xfrm>
          <a:prstGeom prst="roundRect">
            <a:avLst>
              <a:gd name="adj" fmla="val 16667"/>
            </a:avLst>
          </a:prstGeom>
          <a:solidFill>
            <a:srgbClr val="FFF0DD"/>
          </a:solidFill>
          <a:ln w="13970">
            <a:solidFill>
              <a:srgbClr val="FF9D26"/>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93" name="Shape 90"/>
          <p:cNvSpPr/>
          <p:nvPr/>
        </p:nvSpPr>
        <p:spPr>
          <a:xfrm>
            <a:off x="2642760" y="6236280"/>
            <a:ext cx="1489680" cy="602640"/>
          </a:xfrm>
          <a:prstGeom prst="roundRect">
            <a:avLst>
              <a:gd name="adj" fmla="val 16667"/>
            </a:avLst>
          </a:prstGeom>
          <a:solidFill>
            <a:srgbClr val="FFF6F8"/>
          </a:solidFill>
          <a:ln w="12700">
            <a:solidFill>
              <a:srgbClr val="FF7492"/>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94" name="Shape 91"/>
          <p:cNvSpPr/>
          <p:nvPr/>
        </p:nvSpPr>
        <p:spPr>
          <a:xfrm>
            <a:off x="4883040" y="6236280"/>
            <a:ext cx="1443960" cy="602640"/>
          </a:xfrm>
          <a:prstGeom prst="roundRect">
            <a:avLst>
              <a:gd name="adj" fmla="val 16667"/>
            </a:avLst>
          </a:prstGeom>
          <a:solidFill>
            <a:srgbClr val="FFF6F8"/>
          </a:solidFill>
          <a:ln w="12700">
            <a:solidFill>
              <a:srgbClr val="FF7492"/>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95" name="Shape 92"/>
          <p:cNvSpPr/>
          <p:nvPr/>
        </p:nvSpPr>
        <p:spPr>
          <a:xfrm>
            <a:off x="7123320" y="6236280"/>
            <a:ext cx="1928520" cy="602640"/>
          </a:xfrm>
          <a:prstGeom prst="roundRect">
            <a:avLst>
              <a:gd name="adj" fmla="val 16667"/>
            </a:avLst>
          </a:prstGeom>
          <a:solidFill>
            <a:srgbClr val="FFF6F8"/>
          </a:solidFill>
          <a:ln w="12700">
            <a:solidFill>
              <a:srgbClr val="FF7492"/>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96" name="Shape 93"/>
          <p:cNvSpPr/>
          <p:nvPr/>
        </p:nvSpPr>
        <p:spPr>
          <a:xfrm>
            <a:off x="9902880" y="6236280"/>
            <a:ext cx="1864800" cy="602640"/>
          </a:xfrm>
          <a:prstGeom prst="roundRect">
            <a:avLst>
              <a:gd name="adj" fmla="val 16667"/>
            </a:avLst>
          </a:prstGeom>
          <a:solidFill>
            <a:srgbClr val="FFF6F8"/>
          </a:solidFill>
          <a:ln w="12700">
            <a:solidFill>
              <a:srgbClr val="FF7492"/>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97" name="Shape 94"/>
          <p:cNvSpPr/>
          <p:nvPr/>
        </p:nvSpPr>
        <p:spPr>
          <a:xfrm>
            <a:off x="2871360" y="4489560"/>
            <a:ext cx="749160" cy="630360"/>
          </a:xfrm>
          <a:prstGeom prst="can">
            <a:avLst>
              <a:gd name="adj" fmla="val 25000"/>
            </a:avLst>
          </a:prstGeom>
          <a:solidFill>
            <a:srgbClr val="F1E6FD"/>
          </a:solidFill>
          <a:ln w="12700">
            <a:solidFill>
              <a:srgbClr val="9F6AFD"/>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98" name="Text 95"/>
          <p:cNvSpPr/>
          <p:nvPr/>
        </p:nvSpPr>
        <p:spPr>
          <a:xfrm>
            <a:off x="2898720" y="4681800"/>
            <a:ext cx="694080" cy="173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1020" b="1" u="none" strike="noStrike">
                <a:solidFill>
                  <a:srgbClr val="0C1B3C"/>
                </a:solidFill>
                <a:effectLst/>
                <a:uFillTx/>
                <a:latin typeface="Arial"/>
                <a:ea typeface="Arial"/>
              </a:rPr>
              <a:t>Auth DB</a:t>
            </a:r>
            <a:endParaRPr lang="en-GB" sz="1020" b="0" u="none" strike="noStrike">
              <a:solidFill>
                <a:srgbClr val="000000"/>
              </a:solidFill>
              <a:effectLst/>
              <a:uFillTx/>
              <a:latin typeface="Arial"/>
            </a:endParaRPr>
          </a:p>
        </p:txBody>
      </p:sp>
      <p:sp>
        <p:nvSpPr>
          <p:cNvPr id="99" name="Text 96"/>
          <p:cNvSpPr/>
          <p:nvPr/>
        </p:nvSpPr>
        <p:spPr>
          <a:xfrm>
            <a:off x="2898720" y="4855320"/>
            <a:ext cx="694080" cy="163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1010" b="0" u="none" strike="noStrike">
                <a:solidFill>
                  <a:srgbClr val="0C1B3C"/>
                </a:solidFill>
                <a:effectLst/>
                <a:uFillTx/>
                <a:latin typeface="Arial"/>
                <a:ea typeface="Arial"/>
              </a:rPr>
              <a:t>(SQLite)</a:t>
            </a:r>
            <a:endParaRPr lang="en-GB" sz="1010" b="0" u="none" strike="noStrike">
              <a:solidFill>
                <a:srgbClr val="000000"/>
              </a:solidFill>
              <a:effectLst/>
              <a:uFillTx/>
              <a:latin typeface="Arial"/>
            </a:endParaRPr>
          </a:p>
        </p:txBody>
      </p:sp>
      <p:sp>
        <p:nvSpPr>
          <p:cNvPr id="100" name="Shape 97"/>
          <p:cNvSpPr/>
          <p:nvPr/>
        </p:nvSpPr>
        <p:spPr>
          <a:xfrm>
            <a:off x="4462200" y="4626720"/>
            <a:ext cx="264600" cy="346680"/>
          </a:xfrm>
          <a:prstGeom prst="rect">
            <a:avLst/>
          </a:prstGeom>
          <a:solidFill>
            <a:srgbClr val="FFFFFF"/>
          </a:solidFill>
          <a:ln w="17145">
            <a:solidFill>
              <a:srgbClr val="2E2E37"/>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01" name="Shape 98"/>
          <p:cNvSpPr/>
          <p:nvPr/>
        </p:nvSpPr>
        <p:spPr>
          <a:xfrm>
            <a:off x="4608720" y="4626720"/>
            <a:ext cx="118080" cy="109080"/>
          </a:xfrm>
          <a:prstGeom prst="chevron">
            <a:avLst>
              <a:gd name="adj" fmla="val 50000"/>
            </a:avLst>
          </a:prstGeom>
          <a:solidFill>
            <a:srgbClr val="EDEFEF"/>
          </a:solidFill>
          <a:ln w="9525">
            <a:solidFill>
              <a:srgbClr val="2E2E37"/>
            </a:solidFill>
            <a:round/>
          </a:ln>
        </p:spPr>
        <p:style>
          <a:lnRef idx="0"/>
          <a:fillRef idx="0"/>
          <a:effectRef idx="0"/>
          <a:fontRef idx="minor"/>
        </p:style>
        <p:txBody>
          <a:bodyPr lIns="59040" tIns="45000" rIns="59040" bIns="45000" anchor="t">
            <a:noAutofit/>
          </a:bodyPr>
          <a:p>
            <a:endParaRPr lang="en-GB" sz="1800" b="0" u="none" strike="noStrike">
              <a:solidFill>
                <a:srgbClr val="000000"/>
              </a:solidFill>
              <a:effectLst/>
              <a:uFillTx/>
              <a:latin typeface="Arial"/>
            </a:endParaRPr>
          </a:p>
        </p:txBody>
      </p:sp>
      <p:sp>
        <p:nvSpPr>
          <p:cNvPr id="102" name="Shape 99"/>
          <p:cNvSpPr/>
          <p:nvPr/>
        </p:nvSpPr>
        <p:spPr>
          <a:xfrm>
            <a:off x="4516920" y="4800600"/>
            <a:ext cx="164520" cy="720"/>
          </a:xfrm>
          <a:prstGeom prst="line">
            <a:avLst/>
          </a:prstGeom>
          <a:ln w="10160">
            <a:solidFill>
              <a:srgbClr val="B7B9BB"/>
            </a:solidFill>
            <a:round/>
          </a:ln>
        </p:spPr>
        <p:style>
          <a:lnRef idx="0"/>
          <a:fillRef idx="0"/>
          <a:effectRef idx="0"/>
          <a:fontRef idx="minor"/>
        </p:style>
        <p:txBody>
          <a:bodyPr lIns="82080" tIns="-44280" rIns="82080" bIns="-44280" anchor="t" anchorCtr="1">
            <a:noAutofit/>
          </a:bodyPr>
          <a:p>
            <a:endParaRPr lang="en-GB" sz="1800" b="0" u="none" strike="noStrike">
              <a:solidFill>
                <a:srgbClr val="000000"/>
              </a:solidFill>
              <a:effectLst/>
              <a:uFillTx/>
              <a:latin typeface="Arial"/>
            </a:endParaRPr>
          </a:p>
        </p:txBody>
      </p:sp>
      <p:sp>
        <p:nvSpPr>
          <p:cNvPr id="103" name="Shape 100"/>
          <p:cNvSpPr/>
          <p:nvPr/>
        </p:nvSpPr>
        <p:spPr>
          <a:xfrm>
            <a:off x="4516920" y="4855320"/>
            <a:ext cx="164520" cy="720"/>
          </a:xfrm>
          <a:prstGeom prst="line">
            <a:avLst/>
          </a:prstGeom>
          <a:ln w="10160">
            <a:solidFill>
              <a:srgbClr val="B7B9BB"/>
            </a:solidFill>
            <a:round/>
          </a:ln>
        </p:spPr>
        <p:style>
          <a:lnRef idx="0"/>
          <a:fillRef idx="0"/>
          <a:effectRef idx="0"/>
          <a:fontRef idx="minor"/>
        </p:style>
        <p:txBody>
          <a:bodyPr lIns="82080" tIns="-44280" rIns="82080" bIns="-44280" anchor="t" anchorCtr="1">
            <a:noAutofit/>
          </a:bodyPr>
          <a:p>
            <a:endParaRPr lang="en-GB" sz="1800" b="0" u="none" strike="noStrike">
              <a:solidFill>
                <a:srgbClr val="000000"/>
              </a:solidFill>
              <a:effectLst/>
              <a:uFillTx/>
              <a:latin typeface="Arial"/>
            </a:endParaRPr>
          </a:p>
        </p:txBody>
      </p:sp>
      <p:sp>
        <p:nvSpPr>
          <p:cNvPr id="104" name="Shape 101"/>
          <p:cNvSpPr/>
          <p:nvPr/>
        </p:nvSpPr>
        <p:spPr>
          <a:xfrm>
            <a:off x="4516920" y="4910040"/>
            <a:ext cx="164520" cy="720"/>
          </a:xfrm>
          <a:prstGeom prst="line">
            <a:avLst/>
          </a:prstGeom>
          <a:ln w="10160">
            <a:solidFill>
              <a:srgbClr val="B7B9BB"/>
            </a:solidFill>
            <a:round/>
          </a:ln>
        </p:spPr>
        <p:style>
          <a:lnRef idx="0"/>
          <a:fillRef idx="0"/>
          <a:effectRef idx="0"/>
          <a:fontRef idx="minor"/>
        </p:style>
        <p:txBody>
          <a:bodyPr lIns="82080" tIns="-44280" rIns="82080" bIns="-44280" anchor="t" anchorCtr="1">
            <a:noAutofit/>
          </a:bodyPr>
          <a:p>
            <a:endParaRPr lang="en-GB" sz="1800" b="0" u="none" strike="noStrike">
              <a:solidFill>
                <a:srgbClr val="000000"/>
              </a:solidFill>
              <a:effectLst/>
              <a:uFillTx/>
              <a:latin typeface="Arial"/>
            </a:endParaRPr>
          </a:p>
        </p:txBody>
      </p:sp>
      <p:sp>
        <p:nvSpPr>
          <p:cNvPr id="105" name="Shape 102"/>
          <p:cNvSpPr/>
          <p:nvPr/>
        </p:nvSpPr>
        <p:spPr>
          <a:xfrm>
            <a:off x="4462200" y="5157360"/>
            <a:ext cx="264600" cy="346680"/>
          </a:xfrm>
          <a:prstGeom prst="rect">
            <a:avLst/>
          </a:prstGeom>
          <a:solidFill>
            <a:srgbClr val="FFFFFF"/>
          </a:solidFill>
          <a:ln w="17145">
            <a:solidFill>
              <a:srgbClr val="2E2E37"/>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06" name="Shape 103"/>
          <p:cNvSpPr/>
          <p:nvPr/>
        </p:nvSpPr>
        <p:spPr>
          <a:xfrm>
            <a:off x="4608720" y="5157360"/>
            <a:ext cx="118080" cy="109080"/>
          </a:xfrm>
          <a:prstGeom prst="chevron">
            <a:avLst>
              <a:gd name="adj" fmla="val 50000"/>
            </a:avLst>
          </a:prstGeom>
          <a:solidFill>
            <a:srgbClr val="EDEFEF"/>
          </a:solidFill>
          <a:ln w="9525">
            <a:solidFill>
              <a:srgbClr val="2E2E37"/>
            </a:solidFill>
            <a:round/>
          </a:ln>
        </p:spPr>
        <p:style>
          <a:lnRef idx="0"/>
          <a:fillRef idx="0"/>
          <a:effectRef idx="0"/>
          <a:fontRef idx="minor"/>
        </p:style>
        <p:txBody>
          <a:bodyPr lIns="59040" tIns="45000" rIns="59040" bIns="45000" anchor="t">
            <a:noAutofit/>
          </a:bodyPr>
          <a:p>
            <a:endParaRPr lang="en-GB" sz="1800" b="0" u="none" strike="noStrike">
              <a:solidFill>
                <a:srgbClr val="000000"/>
              </a:solidFill>
              <a:effectLst/>
              <a:uFillTx/>
              <a:latin typeface="Arial"/>
            </a:endParaRPr>
          </a:p>
        </p:txBody>
      </p:sp>
      <p:sp>
        <p:nvSpPr>
          <p:cNvPr id="107" name="Shape 104"/>
          <p:cNvSpPr/>
          <p:nvPr/>
        </p:nvSpPr>
        <p:spPr>
          <a:xfrm>
            <a:off x="4516920" y="5330880"/>
            <a:ext cx="164520" cy="720"/>
          </a:xfrm>
          <a:prstGeom prst="line">
            <a:avLst/>
          </a:prstGeom>
          <a:ln w="10160">
            <a:solidFill>
              <a:srgbClr val="B7B9BB"/>
            </a:solidFill>
            <a:round/>
          </a:ln>
        </p:spPr>
        <p:style>
          <a:lnRef idx="0"/>
          <a:fillRef idx="0"/>
          <a:effectRef idx="0"/>
          <a:fontRef idx="minor"/>
        </p:style>
        <p:txBody>
          <a:bodyPr lIns="82080" tIns="-44280" rIns="82080" bIns="-44280" anchor="t" anchorCtr="1">
            <a:noAutofit/>
          </a:bodyPr>
          <a:p>
            <a:endParaRPr lang="en-GB" sz="1800" b="0" u="none" strike="noStrike">
              <a:solidFill>
                <a:srgbClr val="000000"/>
              </a:solidFill>
              <a:effectLst/>
              <a:uFillTx/>
              <a:latin typeface="Arial"/>
            </a:endParaRPr>
          </a:p>
        </p:txBody>
      </p:sp>
      <p:sp>
        <p:nvSpPr>
          <p:cNvPr id="108" name="Shape 105"/>
          <p:cNvSpPr/>
          <p:nvPr/>
        </p:nvSpPr>
        <p:spPr>
          <a:xfrm>
            <a:off x="4516920" y="5385600"/>
            <a:ext cx="164520" cy="720"/>
          </a:xfrm>
          <a:prstGeom prst="line">
            <a:avLst/>
          </a:prstGeom>
          <a:ln w="10160">
            <a:solidFill>
              <a:srgbClr val="B7B9BB"/>
            </a:solidFill>
            <a:round/>
          </a:ln>
        </p:spPr>
        <p:style>
          <a:lnRef idx="0"/>
          <a:fillRef idx="0"/>
          <a:effectRef idx="0"/>
          <a:fontRef idx="minor"/>
        </p:style>
        <p:txBody>
          <a:bodyPr lIns="82080" tIns="-44280" rIns="82080" bIns="-44280" anchor="t" anchorCtr="1">
            <a:noAutofit/>
          </a:bodyPr>
          <a:p>
            <a:endParaRPr lang="en-GB" sz="1800" b="0" u="none" strike="noStrike">
              <a:solidFill>
                <a:srgbClr val="000000"/>
              </a:solidFill>
              <a:effectLst/>
              <a:uFillTx/>
              <a:latin typeface="Arial"/>
            </a:endParaRPr>
          </a:p>
        </p:txBody>
      </p:sp>
      <p:sp>
        <p:nvSpPr>
          <p:cNvPr id="109" name="Shape 106"/>
          <p:cNvSpPr/>
          <p:nvPr/>
        </p:nvSpPr>
        <p:spPr>
          <a:xfrm>
            <a:off x="4516920" y="5440680"/>
            <a:ext cx="164520" cy="720"/>
          </a:xfrm>
          <a:prstGeom prst="line">
            <a:avLst/>
          </a:prstGeom>
          <a:ln w="10160">
            <a:solidFill>
              <a:srgbClr val="B7B9BB"/>
            </a:solidFill>
            <a:round/>
          </a:ln>
        </p:spPr>
        <p:style>
          <a:lnRef idx="0"/>
          <a:fillRef idx="0"/>
          <a:effectRef idx="0"/>
          <a:fontRef idx="minor"/>
        </p:style>
        <p:txBody>
          <a:bodyPr lIns="82080" tIns="-44280" rIns="82080" bIns="-44280" anchor="t" anchorCtr="1">
            <a:noAutofit/>
          </a:bodyPr>
          <a:p>
            <a:endParaRPr lang="en-GB" sz="1800" b="0" u="none" strike="noStrike">
              <a:solidFill>
                <a:srgbClr val="000000"/>
              </a:solidFill>
              <a:effectLst/>
              <a:uFillTx/>
              <a:latin typeface="Arial"/>
            </a:endParaRPr>
          </a:p>
        </p:txBody>
      </p:sp>
      <p:sp>
        <p:nvSpPr>
          <p:cNvPr id="110" name="Shape 107"/>
          <p:cNvSpPr/>
          <p:nvPr/>
        </p:nvSpPr>
        <p:spPr>
          <a:xfrm>
            <a:off x="6519600" y="4498920"/>
            <a:ext cx="840600" cy="639360"/>
          </a:xfrm>
          <a:prstGeom prst="can">
            <a:avLst>
              <a:gd name="adj" fmla="val 25000"/>
            </a:avLst>
          </a:prstGeom>
          <a:solidFill>
            <a:srgbClr val="F1E6FD"/>
          </a:solidFill>
          <a:ln w="12700">
            <a:solidFill>
              <a:srgbClr val="9F6AFD"/>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1" name="Text 108"/>
          <p:cNvSpPr/>
          <p:nvPr/>
        </p:nvSpPr>
        <p:spPr>
          <a:xfrm>
            <a:off x="6546960" y="4690800"/>
            <a:ext cx="785520" cy="173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1020" b="1" u="none" strike="noStrike">
                <a:solidFill>
                  <a:srgbClr val="0C1B3C"/>
                </a:solidFill>
                <a:effectLst/>
                <a:uFillTx/>
                <a:latin typeface="Arial"/>
                <a:ea typeface="Arial"/>
              </a:rPr>
              <a:t>Plugin</a:t>
            </a:r>
            <a:endParaRPr lang="en-GB" sz="1020" b="0" u="none" strike="noStrike">
              <a:solidFill>
                <a:srgbClr val="000000"/>
              </a:solidFill>
              <a:effectLst/>
              <a:uFillTx/>
              <a:latin typeface="Arial"/>
            </a:endParaRPr>
          </a:p>
        </p:txBody>
      </p:sp>
      <p:sp>
        <p:nvSpPr>
          <p:cNvPr id="112" name="Text 109"/>
          <p:cNvSpPr/>
          <p:nvPr/>
        </p:nvSpPr>
        <p:spPr>
          <a:xfrm>
            <a:off x="6546960" y="4864680"/>
            <a:ext cx="785520" cy="163800"/>
          </a:xfrm>
          <a:prstGeom prst="rect">
            <a:avLst/>
          </a:prstGeom>
          <a:noFill/>
          <a:ln w="0">
            <a:noFill/>
          </a:ln>
        </p:spPr>
        <p:style>
          <a:lnRef idx="0"/>
          <a:fillRef idx="0"/>
          <a:effectRef idx="0"/>
          <a:fontRef idx="minor"/>
        </p:style>
        <p:txBody>
          <a:bodyPr lIns="0" tIns="0" rIns="0" bIns="0" anchor="ctr">
            <a:normAutofit fontScale="92500" lnSpcReduction="9999"/>
          </a:bodyPr>
          <a:p>
            <a:pPr algn="ctr" defTabSz="914400">
              <a:lnSpc>
                <a:spcPct val="100000"/>
              </a:lnSpc>
              <a:tabLst>
                <a:tab pos="0" algn="l"/>
              </a:tabLst>
            </a:pPr>
            <a:r>
              <a:rPr lang="en-GB" sz="1010" b="0" u="none" strike="noStrike">
                <a:solidFill>
                  <a:srgbClr val="0C1B3C"/>
                </a:solidFill>
                <a:effectLst/>
                <a:uFillTx/>
                <a:latin typeface="Arial"/>
                <a:ea typeface="Arial"/>
              </a:rPr>
              <a:t>Operations DB</a:t>
            </a:r>
            <a:endParaRPr lang="en-GB" sz="1010" b="0" u="none" strike="noStrike">
              <a:solidFill>
                <a:srgbClr val="000000"/>
              </a:solidFill>
              <a:effectLst/>
              <a:uFillTx/>
              <a:latin typeface="Arial"/>
            </a:endParaRPr>
          </a:p>
        </p:txBody>
      </p:sp>
      <p:sp>
        <p:nvSpPr>
          <p:cNvPr id="113" name="Shape 110"/>
          <p:cNvSpPr/>
          <p:nvPr/>
        </p:nvSpPr>
        <p:spPr>
          <a:xfrm>
            <a:off x="7927920" y="4498920"/>
            <a:ext cx="1160640" cy="666720"/>
          </a:xfrm>
          <a:prstGeom prst="can">
            <a:avLst>
              <a:gd name="adj" fmla="val 25000"/>
            </a:avLst>
          </a:prstGeom>
          <a:solidFill>
            <a:srgbClr val="F1E6FD"/>
          </a:solidFill>
          <a:ln w="12700">
            <a:solidFill>
              <a:srgbClr val="9F6AFD"/>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4" name="Text 111"/>
          <p:cNvSpPr/>
          <p:nvPr/>
        </p:nvSpPr>
        <p:spPr>
          <a:xfrm>
            <a:off x="7955280" y="4690800"/>
            <a:ext cx="1105560" cy="173160"/>
          </a:xfrm>
          <a:prstGeom prst="rect">
            <a:avLst/>
          </a:prstGeom>
          <a:noFill/>
          <a:ln w="0">
            <a:noFill/>
          </a:ln>
        </p:spPr>
        <p:style>
          <a:lnRef idx="0"/>
          <a:fillRef idx="0"/>
          <a:effectRef idx="0"/>
          <a:fontRef idx="minor"/>
        </p:style>
        <p:txBody>
          <a:bodyPr lIns="0" tIns="0" rIns="0" bIns="0" anchor="ctr">
            <a:normAutofit fontScale="92500" lnSpcReduction="9999"/>
          </a:bodyPr>
          <a:p>
            <a:pPr algn="ctr" defTabSz="914400">
              <a:lnSpc>
                <a:spcPct val="100000"/>
              </a:lnSpc>
              <a:tabLst>
                <a:tab pos="0" algn="l"/>
              </a:tabLst>
            </a:pPr>
            <a:r>
              <a:rPr lang="en-GB" sz="1020" b="1" u="none" strike="noStrike">
                <a:solidFill>
                  <a:srgbClr val="0C1B3C"/>
                </a:solidFill>
                <a:effectLst/>
                <a:uFillTx/>
                <a:latin typeface="Arial"/>
                <a:ea typeface="Arial"/>
              </a:rPr>
              <a:t>Plugin Catalog DB</a:t>
            </a:r>
            <a:endParaRPr lang="en-GB" sz="1020" b="0" u="none" strike="noStrike">
              <a:solidFill>
                <a:srgbClr val="000000"/>
              </a:solidFill>
              <a:effectLst/>
              <a:uFillTx/>
              <a:latin typeface="Arial"/>
            </a:endParaRPr>
          </a:p>
        </p:txBody>
      </p:sp>
      <p:sp>
        <p:nvSpPr>
          <p:cNvPr id="115" name="Text 112"/>
          <p:cNvSpPr/>
          <p:nvPr/>
        </p:nvSpPr>
        <p:spPr>
          <a:xfrm>
            <a:off x="7955280" y="4864680"/>
            <a:ext cx="1105560" cy="163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1010" b="0" u="none" strike="noStrike">
                <a:solidFill>
                  <a:srgbClr val="0C1B3C"/>
                </a:solidFill>
                <a:effectLst/>
                <a:uFillTx/>
                <a:latin typeface="Arial"/>
                <a:ea typeface="Arial"/>
              </a:rPr>
              <a:t>(PostgreSQL)</a:t>
            </a:r>
            <a:endParaRPr lang="en-GB" sz="1010" b="0" u="none" strike="noStrike">
              <a:solidFill>
                <a:srgbClr val="000000"/>
              </a:solidFill>
              <a:effectLst/>
              <a:uFillTx/>
              <a:latin typeface="Arial"/>
            </a:endParaRPr>
          </a:p>
        </p:txBody>
      </p:sp>
      <p:sp>
        <p:nvSpPr>
          <p:cNvPr id="116" name="Shape 113"/>
          <p:cNvSpPr/>
          <p:nvPr/>
        </p:nvSpPr>
        <p:spPr>
          <a:xfrm>
            <a:off x="6546960" y="5343120"/>
            <a:ext cx="319320" cy="236880"/>
          </a:xfrm>
          <a:prstGeom prst="roundRect">
            <a:avLst>
              <a:gd name="adj" fmla="val 16667"/>
            </a:avLst>
          </a:prstGeom>
          <a:solidFill>
            <a:srgbClr val="FFEAA7"/>
          </a:solidFill>
          <a:ln w="16510">
            <a:solidFill>
              <a:srgbClr val="786025"/>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7" name="Shape 114"/>
          <p:cNvSpPr/>
          <p:nvPr/>
        </p:nvSpPr>
        <p:spPr>
          <a:xfrm>
            <a:off x="6556320" y="5306760"/>
            <a:ext cx="154800" cy="90720"/>
          </a:xfrm>
          <a:prstGeom prst="roundRect">
            <a:avLst>
              <a:gd name="adj" fmla="val 16667"/>
            </a:avLst>
          </a:prstGeom>
          <a:solidFill>
            <a:srgbClr val="FFEAA7"/>
          </a:solidFill>
          <a:ln w="12700">
            <a:solidFill>
              <a:srgbClr val="786025"/>
            </a:solidFill>
            <a:round/>
          </a:ln>
        </p:spPr>
        <p:style>
          <a:lnRef idx="0"/>
          <a:fillRef idx="0"/>
          <a:effectRef idx="0"/>
          <a:fontRef idx="minor"/>
        </p:style>
        <p:txBody>
          <a:bodyPr lIns="77400" tIns="37440" rIns="77400" bIns="37440" anchor="t">
            <a:noAutofit/>
          </a:bodyPr>
          <a:p>
            <a:endParaRPr lang="en-GB" sz="1800" b="0" u="none" strike="noStrike">
              <a:solidFill>
                <a:srgbClr val="000000"/>
              </a:solidFill>
              <a:effectLst/>
              <a:uFillTx/>
              <a:latin typeface="Arial"/>
            </a:endParaRPr>
          </a:p>
        </p:txBody>
      </p:sp>
      <p:sp>
        <p:nvSpPr>
          <p:cNvPr id="118" name="Shape 115"/>
          <p:cNvSpPr/>
          <p:nvPr/>
        </p:nvSpPr>
        <p:spPr>
          <a:xfrm>
            <a:off x="7973640" y="5349240"/>
            <a:ext cx="306360" cy="230760"/>
          </a:xfrm>
          <a:prstGeom prst="roundRect">
            <a:avLst>
              <a:gd name="adj" fmla="val 16667"/>
            </a:avLst>
          </a:prstGeom>
          <a:solidFill>
            <a:srgbClr val="FFEAA7"/>
          </a:solidFill>
          <a:ln w="16510">
            <a:solidFill>
              <a:srgbClr val="786025"/>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9" name="Shape 116"/>
          <p:cNvSpPr/>
          <p:nvPr/>
        </p:nvSpPr>
        <p:spPr>
          <a:xfrm>
            <a:off x="7982640" y="5312520"/>
            <a:ext cx="154800" cy="90720"/>
          </a:xfrm>
          <a:prstGeom prst="roundRect">
            <a:avLst>
              <a:gd name="adj" fmla="val 16667"/>
            </a:avLst>
          </a:prstGeom>
          <a:solidFill>
            <a:srgbClr val="FFEAA7"/>
          </a:solidFill>
          <a:ln w="12700">
            <a:solidFill>
              <a:srgbClr val="786025"/>
            </a:solidFill>
            <a:round/>
          </a:ln>
        </p:spPr>
        <p:style>
          <a:lnRef idx="0"/>
          <a:fillRef idx="0"/>
          <a:effectRef idx="0"/>
          <a:fontRef idx="minor"/>
        </p:style>
        <p:txBody>
          <a:bodyPr lIns="77400" tIns="37440" rIns="77400" bIns="37440" anchor="t">
            <a:noAutofit/>
          </a:bodyPr>
          <a:p>
            <a:endParaRPr lang="en-GB" sz="1800" b="0" u="none" strike="noStrike">
              <a:solidFill>
                <a:srgbClr val="000000"/>
              </a:solidFill>
              <a:effectLst/>
              <a:uFillTx/>
              <a:latin typeface="Arial"/>
            </a:endParaRPr>
          </a:p>
        </p:txBody>
      </p:sp>
      <p:sp>
        <p:nvSpPr>
          <p:cNvPr id="120" name="Shape 117"/>
          <p:cNvSpPr/>
          <p:nvPr/>
        </p:nvSpPr>
        <p:spPr>
          <a:xfrm>
            <a:off x="9619560" y="5148000"/>
            <a:ext cx="374040" cy="328320"/>
          </a:xfrm>
          <a:prstGeom prst="roundRect">
            <a:avLst>
              <a:gd name="adj" fmla="val 16667"/>
            </a:avLst>
          </a:prstGeom>
          <a:solidFill>
            <a:srgbClr val="FFEAA7"/>
          </a:solidFill>
          <a:ln w="16510">
            <a:solidFill>
              <a:srgbClr val="786025"/>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21" name="Shape 118"/>
          <p:cNvSpPr/>
          <p:nvPr/>
        </p:nvSpPr>
        <p:spPr>
          <a:xfrm>
            <a:off x="9628560" y="5111640"/>
            <a:ext cx="154800" cy="90720"/>
          </a:xfrm>
          <a:prstGeom prst="roundRect">
            <a:avLst>
              <a:gd name="adj" fmla="val 16667"/>
            </a:avLst>
          </a:prstGeom>
          <a:solidFill>
            <a:srgbClr val="FFEAA7"/>
          </a:solidFill>
          <a:ln w="12700">
            <a:solidFill>
              <a:srgbClr val="786025"/>
            </a:solidFill>
            <a:round/>
          </a:ln>
        </p:spPr>
        <p:style>
          <a:lnRef idx="0"/>
          <a:fillRef idx="0"/>
          <a:effectRef idx="0"/>
          <a:fontRef idx="minor"/>
        </p:style>
        <p:txBody>
          <a:bodyPr lIns="77400" tIns="37440" rIns="77400" bIns="37440" anchor="t">
            <a:noAutofit/>
          </a:bodyPr>
          <a:p>
            <a:endParaRPr lang="en-GB" sz="1800" b="0" u="none" strike="noStrike">
              <a:solidFill>
                <a:srgbClr val="000000"/>
              </a:solidFill>
              <a:effectLst/>
              <a:uFillTx/>
              <a:latin typeface="Arial"/>
            </a:endParaRPr>
          </a:p>
        </p:txBody>
      </p:sp>
      <p:sp>
        <p:nvSpPr>
          <p:cNvPr id="122" name="Shape 119"/>
          <p:cNvSpPr/>
          <p:nvPr/>
        </p:nvSpPr>
        <p:spPr>
          <a:xfrm>
            <a:off x="5349240" y="7059240"/>
            <a:ext cx="300960" cy="264600"/>
          </a:xfrm>
          <a:prstGeom prst="roundRect">
            <a:avLst>
              <a:gd name="adj" fmla="val 16667"/>
            </a:avLst>
          </a:prstGeom>
          <a:solidFill>
            <a:srgbClr val="FFEAA7"/>
          </a:solidFill>
          <a:ln w="16510">
            <a:solidFill>
              <a:srgbClr val="786025"/>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23" name="Shape 120"/>
          <p:cNvSpPr/>
          <p:nvPr/>
        </p:nvSpPr>
        <p:spPr>
          <a:xfrm>
            <a:off x="5358240" y="7022520"/>
            <a:ext cx="154800" cy="90720"/>
          </a:xfrm>
          <a:prstGeom prst="roundRect">
            <a:avLst>
              <a:gd name="adj" fmla="val 16667"/>
            </a:avLst>
          </a:prstGeom>
          <a:solidFill>
            <a:srgbClr val="FFEAA7"/>
          </a:solidFill>
          <a:ln w="12700">
            <a:solidFill>
              <a:srgbClr val="786025"/>
            </a:solidFill>
            <a:round/>
          </a:ln>
        </p:spPr>
        <p:style>
          <a:lnRef idx="0"/>
          <a:fillRef idx="0"/>
          <a:effectRef idx="0"/>
          <a:fontRef idx="minor"/>
        </p:style>
        <p:txBody>
          <a:bodyPr lIns="77400" tIns="37440" rIns="77400" bIns="37440" anchor="t">
            <a:noAutofit/>
          </a:bodyPr>
          <a:p>
            <a:endParaRPr lang="en-GB" sz="1800" b="0" u="none" strike="noStrike">
              <a:solidFill>
                <a:srgbClr val="000000"/>
              </a:solidFill>
              <a:effectLst/>
              <a:uFillTx/>
              <a:latin typeface="Arial"/>
            </a:endParaRPr>
          </a:p>
        </p:txBody>
      </p:sp>
      <p:sp>
        <p:nvSpPr>
          <p:cNvPr id="124" name="Shape 121"/>
          <p:cNvSpPr/>
          <p:nvPr/>
        </p:nvSpPr>
        <p:spPr>
          <a:xfrm>
            <a:off x="7717680" y="7077600"/>
            <a:ext cx="291960" cy="264600"/>
          </a:xfrm>
          <a:prstGeom prst="roundRect">
            <a:avLst>
              <a:gd name="adj" fmla="val 16667"/>
            </a:avLst>
          </a:prstGeom>
          <a:solidFill>
            <a:srgbClr val="FFEAA7"/>
          </a:solidFill>
          <a:ln w="16510">
            <a:solidFill>
              <a:srgbClr val="786025"/>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25" name="Shape 122"/>
          <p:cNvSpPr/>
          <p:nvPr/>
        </p:nvSpPr>
        <p:spPr>
          <a:xfrm>
            <a:off x="7726680" y="7040880"/>
            <a:ext cx="154800" cy="90720"/>
          </a:xfrm>
          <a:prstGeom prst="roundRect">
            <a:avLst>
              <a:gd name="adj" fmla="val 16667"/>
            </a:avLst>
          </a:prstGeom>
          <a:solidFill>
            <a:srgbClr val="FFEAA7"/>
          </a:solidFill>
          <a:ln w="12700">
            <a:solidFill>
              <a:srgbClr val="786025"/>
            </a:solidFill>
            <a:round/>
          </a:ln>
        </p:spPr>
        <p:style>
          <a:lnRef idx="0"/>
          <a:fillRef idx="0"/>
          <a:effectRef idx="0"/>
          <a:fontRef idx="minor"/>
        </p:style>
        <p:txBody>
          <a:bodyPr lIns="77400" tIns="37440" rIns="77400" bIns="37440" anchor="t">
            <a:noAutofit/>
          </a:bodyPr>
          <a:p>
            <a:endParaRPr lang="en-GB" sz="1800" b="0" u="none" strike="noStrike">
              <a:solidFill>
                <a:srgbClr val="000000"/>
              </a:solidFill>
              <a:effectLst/>
              <a:uFillTx/>
              <a:latin typeface="Arial"/>
            </a:endParaRPr>
          </a:p>
        </p:txBody>
      </p:sp>
      <p:sp>
        <p:nvSpPr>
          <p:cNvPr id="126" name="Shape 123"/>
          <p:cNvSpPr/>
          <p:nvPr/>
        </p:nvSpPr>
        <p:spPr>
          <a:xfrm>
            <a:off x="420480" y="1856160"/>
            <a:ext cx="173160" cy="191160"/>
          </a:xfrm>
          <a:prstGeom prst="ellipse">
            <a:avLst/>
          </a:prstGeom>
          <a:solidFill>
            <a:srgbClr val="35486B"/>
          </a:solidFill>
          <a:ln w="3810">
            <a:solidFill>
              <a:srgbClr val="35486B"/>
            </a:solidFill>
            <a:round/>
          </a:ln>
        </p:spPr>
        <p:style>
          <a:lnRef idx="0"/>
          <a:fillRef idx="0"/>
          <a:effectRef idx="0"/>
          <a:fontRef idx="minor"/>
        </p:style>
        <p:txBody>
          <a:bodyPr lIns="86760" tIns="45000" rIns="86760" bIns="45000" anchor="t">
            <a:noAutofit/>
          </a:bodyPr>
          <a:p>
            <a:endParaRPr lang="en-GB" sz="1800" b="0" u="none" strike="noStrike">
              <a:solidFill>
                <a:srgbClr val="FFFFFF"/>
              </a:solidFill>
              <a:effectLst/>
              <a:uFillTx/>
              <a:latin typeface="Arial"/>
            </a:endParaRPr>
          </a:p>
        </p:txBody>
      </p:sp>
      <p:sp>
        <p:nvSpPr>
          <p:cNvPr id="127" name="Shape 124"/>
          <p:cNvSpPr/>
          <p:nvPr/>
        </p:nvSpPr>
        <p:spPr>
          <a:xfrm>
            <a:off x="356760" y="2048400"/>
            <a:ext cx="291960" cy="264600"/>
          </a:xfrm>
          <a:prstGeom prst="arc">
            <a:avLst>
              <a:gd name="adj1" fmla="val 16200000"/>
              <a:gd name="adj2" fmla="val 0"/>
            </a:avLst>
          </a:prstGeom>
          <a:solidFill>
            <a:srgbClr val="35486B"/>
          </a:solidFill>
          <a:ln w="12700">
            <a:solidFill>
              <a:srgbClr val="35486B"/>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28" name="Shape 125"/>
          <p:cNvSpPr/>
          <p:nvPr/>
        </p:nvSpPr>
        <p:spPr>
          <a:xfrm>
            <a:off x="3813120" y="1892880"/>
            <a:ext cx="346680" cy="392400"/>
          </a:xfrm>
          <a:prstGeom prst="hexagon">
            <a:avLst>
              <a:gd name="adj" fmla="val 25000"/>
              <a:gd name="vf" fmla="val 115470"/>
            </a:avLst>
          </a:prstGeom>
          <a:solidFill>
            <a:srgbClr val="008C4D"/>
          </a:solidFill>
          <a:ln w="3175">
            <a:solidFill>
              <a:srgbClr val="008C4D"/>
            </a:solidFill>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29" name="Text 126"/>
          <p:cNvSpPr/>
          <p:nvPr/>
        </p:nvSpPr>
        <p:spPr>
          <a:xfrm>
            <a:off x="3895200" y="1956960"/>
            <a:ext cx="182160" cy="218880"/>
          </a:xfrm>
          <a:prstGeom prst="rect">
            <a:avLst/>
          </a:prstGeom>
          <a:noFill/>
          <a:ln w="0">
            <a:noFill/>
          </a:ln>
        </p:spPr>
        <p:style>
          <a:lnRef idx="0"/>
          <a:fillRef idx="0"/>
          <a:effectRef idx="0"/>
          <a:fontRef idx="minor"/>
        </p:style>
        <p:txBody>
          <a:bodyPr lIns="0" tIns="0" rIns="0" bIns="0" anchor="ctr">
            <a:normAutofit fontScale="77500" lnSpcReduction="19999"/>
          </a:bodyPr>
          <a:p>
            <a:pPr algn="ctr" defTabSz="914400">
              <a:lnSpc>
                <a:spcPct val="100000"/>
              </a:lnSpc>
              <a:tabLst>
                <a:tab pos="0" algn="l"/>
              </a:tabLst>
            </a:pPr>
            <a:r>
              <a:rPr lang="en-GB" sz="2200" b="1" u="none" strike="noStrike">
                <a:solidFill>
                  <a:srgbClr val="FFFFFF"/>
                </a:solidFill>
                <a:effectLst/>
                <a:uFillTx/>
                <a:latin typeface="Arial"/>
                <a:ea typeface="Arial"/>
              </a:rPr>
              <a:t>N</a:t>
            </a:r>
            <a:endParaRPr lang="en-GB" sz="2200" b="0" u="none" strike="noStrike">
              <a:solidFill>
                <a:srgbClr val="000000"/>
              </a:solidFill>
              <a:effectLst/>
              <a:uFillTx/>
              <a:latin typeface="Arial"/>
            </a:endParaRPr>
          </a:p>
        </p:txBody>
      </p:sp>
      <p:pic>
        <p:nvPicPr>
          <p:cNvPr id="130" name="Image 0" descr="preencoded.png"/>
          <p:cNvPicPr/>
          <p:nvPr/>
        </p:nvPicPr>
        <p:blipFill>
          <a:blip r:embed="rId1">
            <a:extLst>
              <a:ext uri="{96DAC541-7B7A-43D3-8B79-37D633B846F1}">
                <asvg:svgBlip xmlns:asvg="http://schemas.microsoft.com/office/drawing/2016/SVG/main" r:embed="rId2"/>
              </a:ext>
            </a:extLst>
          </a:blip>
          <a:stretch/>
        </p:blipFill>
        <p:spPr>
          <a:xfrm>
            <a:off x="7425000" y="1837800"/>
            <a:ext cx="511200" cy="502200"/>
          </a:xfrm>
          <a:prstGeom prst="rect">
            <a:avLst/>
          </a:prstGeom>
          <a:noFill/>
          <a:ln w="0">
            <a:noFill/>
          </a:ln>
        </p:spPr>
      </p:pic>
      <p:pic>
        <p:nvPicPr>
          <p:cNvPr id="131" name="Image 1" descr="preencoded.png"/>
          <p:cNvPicPr/>
          <p:nvPr/>
        </p:nvPicPr>
        <p:blipFill>
          <a:blip r:embed="rId3">
            <a:extLst>
              <a:ext uri="{96DAC541-7B7A-43D3-8B79-37D633B846F1}">
                <asvg:svgBlip xmlns:asvg="http://schemas.microsoft.com/office/drawing/2016/SVG/main" r:embed="rId4"/>
              </a:ext>
            </a:extLst>
          </a:blip>
          <a:stretch/>
        </p:blipFill>
        <p:spPr>
          <a:xfrm>
            <a:off x="329040" y="3858840"/>
            <a:ext cx="365040" cy="356040"/>
          </a:xfrm>
          <a:prstGeom prst="rect">
            <a:avLst/>
          </a:prstGeom>
          <a:noFill/>
          <a:ln w="0">
            <a:noFill/>
          </a:ln>
        </p:spPr>
      </p:pic>
      <p:pic>
        <p:nvPicPr>
          <p:cNvPr id="132" name="Image 2" descr="preencoded.png"/>
          <p:cNvPicPr/>
          <p:nvPr/>
        </p:nvPicPr>
        <p:blipFill>
          <a:blip r:embed="rId5">
            <a:extLst>
              <a:ext uri="{96DAC541-7B7A-43D3-8B79-37D633B846F1}">
                <asvg:svgBlip xmlns:asvg="http://schemas.microsoft.com/office/drawing/2016/SVG/main" r:embed="rId6"/>
              </a:ext>
            </a:extLst>
          </a:blip>
          <a:stretch/>
        </p:blipFill>
        <p:spPr>
          <a:xfrm>
            <a:off x="329040" y="5193720"/>
            <a:ext cx="365040" cy="356040"/>
          </a:xfrm>
          <a:prstGeom prst="rect">
            <a:avLst/>
          </a:prstGeom>
          <a:noFill/>
          <a:ln w="0">
            <a:noFill/>
          </a:ln>
        </p:spPr>
      </p:pic>
      <p:pic>
        <p:nvPicPr>
          <p:cNvPr id="133" name="Image 3" descr="/mnt/data/rustserver_editable_reconstruction/google-logo.png"/>
          <p:cNvPicPr/>
          <p:nvPr/>
        </p:nvPicPr>
        <p:blipFill>
          <a:blip r:embed="rId7"/>
          <a:stretch/>
        </p:blipFill>
        <p:spPr>
          <a:xfrm>
            <a:off x="12612960" y="1920240"/>
            <a:ext cx="346680" cy="310320"/>
          </a:xfrm>
          <a:prstGeom prst="rect">
            <a:avLst/>
          </a:prstGeom>
          <a:noFill/>
          <a:ln w="0">
            <a:noFill/>
          </a:ln>
        </p:spPr>
      </p:pic>
      <p:pic>
        <p:nvPicPr>
          <p:cNvPr id="134" name="Image 4" descr="preencoded.png"/>
          <p:cNvPicPr/>
          <p:nvPr/>
        </p:nvPicPr>
        <p:blipFill>
          <a:blip r:embed="rId8">
            <a:extLst>
              <a:ext uri="{96DAC541-7B7A-43D3-8B79-37D633B846F1}">
                <asvg:svgBlip xmlns:asvg="http://schemas.microsoft.com/office/drawing/2016/SVG/main" r:embed="rId9"/>
              </a:ext>
            </a:extLst>
          </a:blip>
          <a:stretch/>
        </p:blipFill>
        <p:spPr>
          <a:xfrm>
            <a:off x="13860000" y="1911240"/>
            <a:ext cx="291960" cy="291960"/>
          </a:xfrm>
          <a:prstGeom prst="rect">
            <a:avLst/>
          </a:prstGeom>
          <a:noFill/>
          <a:ln w="0">
            <a:noFill/>
          </a:ln>
        </p:spPr>
      </p:pic>
      <p:pic>
        <p:nvPicPr>
          <p:cNvPr id="135" name="Image 6" descr="preencoded.png"/>
          <p:cNvPicPr/>
          <p:nvPr/>
        </p:nvPicPr>
        <p:blipFill>
          <a:blip r:embed="rId10">
            <a:extLst>
              <a:ext uri="{96DAC541-7B7A-43D3-8B79-37D633B846F1}">
                <asvg:svgBlip xmlns:asvg="http://schemas.microsoft.com/office/drawing/2016/SVG/main" r:embed="rId11"/>
              </a:ext>
            </a:extLst>
          </a:blip>
          <a:stretch/>
        </p:blipFill>
        <p:spPr>
          <a:xfrm>
            <a:off x="2779920" y="6355080"/>
            <a:ext cx="319320" cy="319320"/>
          </a:xfrm>
          <a:prstGeom prst="rect">
            <a:avLst/>
          </a:prstGeom>
          <a:noFill/>
          <a:ln w="0">
            <a:noFill/>
          </a:ln>
        </p:spPr>
      </p:pic>
      <p:pic>
        <p:nvPicPr>
          <p:cNvPr id="136" name="Image 7" descr="preencoded.png"/>
          <p:cNvPicPr/>
          <p:nvPr/>
        </p:nvPicPr>
        <p:blipFill>
          <a:blip r:embed="rId12">
            <a:extLst>
              <a:ext uri="{96DAC541-7B7A-43D3-8B79-37D633B846F1}">
                <asvg:svgBlip xmlns:asvg="http://schemas.microsoft.com/office/drawing/2016/SVG/main" r:embed="rId13"/>
              </a:ext>
            </a:extLst>
          </a:blip>
          <a:stretch/>
        </p:blipFill>
        <p:spPr>
          <a:xfrm>
            <a:off x="4974480" y="6355080"/>
            <a:ext cx="319320" cy="300960"/>
          </a:xfrm>
          <a:prstGeom prst="rect">
            <a:avLst/>
          </a:prstGeom>
          <a:noFill/>
          <a:ln w="0">
            <a:noFill/>
          </a:ln>
        </p:spPr>
      </p:pic>
      <p:pic>
        <p:nvPicPr>
          <p:cNvPr id="137" name="Image 8" descr="preencoded.png"/>
          <p:cNvPicPr/>
          <p:nvPr/>
        </p:nvPicPr>
        <p:blipFill>
          <a:blip r:embed="rId14">
            <a:extLst>
              <a:ext uri="{96DAC541-7B7A-43D3-8B79-37D633B846F1}">
                <asvg:svgBlip xmlns:asvg="http://schemas.microsoft.com/office/drawing/2016/SVG/main" r:embed="rId15"/>
              </a:ext>
            </a:extLst>
          </a:blip>
          <a:stretch/>
        </p:blipFill>
        <p:spPr>
          <a:xfrm>
            <a:off x="7260480" y="6355080"/>
            <a:ext cx="319320" cy="319320"/>
          </a:xfrm>
          <a:prstGeom prst="rect">
            <a:avLst/>
          </a:prstGeom>
          <a:noFill/>
          <a:ln w="0">
            <a:noFill/>
          </a:ln>
        </p:spPr>
      </p:pic>
      <p:pic>
        <p:nvPicPr>
          <p:cNvPr id="138" name="Image 9" descr="preencoded.png"/>
          <p:cNvPicPr/>
          <p:nvPr/>
        </p:nvPicPr>
        <p:blipFill>
          <a:blip r:embed="rId16">
            <a:extLst>
              <a:ext uri="{96DAC541-7B7A-43D3-8B79-37D633B846F1}">
                <asvg:svgBlip xmlns:asvg="http://schemas.microsoft.com/office/drawing/2016/SVG/main" r:embed="rId17"/>
              </a:ext>
            </a:extLst>
          </a:blip>
          <a:stretch/>
        </p:blipFill>
        <p:spPr>
          <a:xfrm>
            <a:off x="10031040" y="6355080"/>
            <a:ext cx="282600" cy="291960"/>
          </a:xfrm>
          <a:prstGeom prst="rect">
            <a:avLst/>
          </a:prstGeom>
          <a:noFill/>
          <a:ln w="0">
            <a:noFill/>
          </a:ln>
        </p:spPr>
      </p:pic>
      <p:sp>
        <p:nvSpPr>
          <p:cNvPr id="139" name="Shape 127"/>
          <p:cNvSpPr/>
          <p:nvPr/>
        </p:nvSpPr>
        <p:spPr>
          <a:xfrm>
            <a:off x="2505600" y="1033200"/>
            <a:ext cx="273600" cy="81720"/>
          </a:xfrm>
          <a:prstGeom prst="roundRect">
            <a:avLst>
              <a:gd name="adj" fmla="val 16667"/>
            </a:avLst>
          </a:prstGeom>
          <a:solidFill>
            <a:srgbClr val="F3F8FC"/>
          </a:solidFill>
          <a:ln w="11430">
            <a:solidFill>
              <a:srgbClr val="253A5C"/>
            </a:solidFill>
            <a:round/>
          </a:ln>
        </p:spPr>
        <p:style>
          <a:lnRef idx="0"/>
          <a:fillRef idx="0"/>
          <a:effectRef idx="0"/>
          <a:fontRef idx="minor"/>
        </p:style>
        <p:txBody>
          <a:bodyPr lIns="90000" tIns="29160" rIns="90000" bIns="29160" anchor="t">
            <a:noAutofit/>
          </a:bodyPr>
          <a:p>
            <a:endParaRPr lang="en-GB" sz="1800" b="0" u="none" strike="noStrike">
              <a:solidFill>
                <a:srgbClr val="000000"/>
              </a:solidFill>
              <a:effectLst/>
              <a:uFillTx/>
              <a:latin typeface="Arial"/>
            </a:endParaRPr>
          </a:p>
        </p:txBody>
      </p:sp>
      <p:sp>
        <p:nvSpPr>
          <p:cNvPr id="140" name="Shape 128"/>
          <p:cNvSpPr/>
          <p:nvPr/>
        </p:nvSpPr>
        <p:spPr>
          <a:xfrm>
            <a:off x="2551320" y="1060560"/>
            <a:ext cx="173160" cy="17640"/>
          </a:xfrm>
          <a:prstGeom prst="rect">
            <a:avLst/>
          </a:prstGeom>
          <a:solidFill>
            <a:srgbClr val="29466F"/>
          </a:solidFill>
          <a:ln w="12700">
            <a:solidFill>
              <a:srgbClr val="29466F"/>
            </a:solidFill>
            <a:round/>
          </a:ln>
        </p:spPr>
        <p:style>
          <a:lnRef idx="0"/>
          <a:fillRef idx="0"/>
          <a:effectRef idx="0"/>
          <a:fontRef idx="minor"/>
        </p:style>
        <p:txBody>
          <a:bodyPr lIns="86760" tIns="-26640" rIns="86760" bIns="-26640" anchor="t">
            <a:noAutofit/>
          </a:bodyPr>
          <a:p>
            <a:endParaRPr lang="en-GB" sz="1800" b="0" u="none" strike="noStrike">
              <a:solidFill>
                <a:srgbClr val="FFFFFF"/>
              </a:solidFill>
              <a:effectLst/>
              <a:uFillTx/>
              <a:latin typeface="Arial"/>
            </a:endParaRPr>
          </a:p>
        </p:txBody>
      </p:sp>
      <p:sp>
        <p:nvSpPr>
          <p:cNvPr id="141" name="Shape 129"/>
          <p:cNvSpPr/>
          <p:nvPr/>
        </p:nvSpPr>
        <p:spPr>
          <a:xfrm>
            <a:off x="2505600" y="1152000"/>
            <a:ext cx="273600" cy="81720"/>
          </a:xfrm>
          <a:prstGeom prst="roundRect">
            <a:avLst>
              <a:gd name="adj" fmla="val 16667"/>
            </a:avLst>
          </a:prstGeom>
          <a:solidFill>
            <a:srgbClr val="F3F8FC"/>
          </a:solidFill>
          <a:ln w="11430">
            <a:solidFill>
              <a:srgbClr val="253A5C"/>
            </a:solidFill>
            <a:round/>
          </a:ln>
        </p:spPr>
        <p:style>
          <a:lnRef idx="0"/>
          <a:fillRef idx="0"/>
          <a:effectRef idx="0"/>
          <a:fontRef idx="minor"/>
        </p:style>
        <p:txBody>
          <a:bodyPr lIns="90000" tIns="29160" rIns="90000" bIns="29160" anchor="t">
            <a:noAutofit/>
          </a:bodyPr>
          <a:p>
            <a:endParaRPr lang="en-GB" sz="1800" b="0" u="none" strike="noStrike">
              <a:solidFill>
                <a:srgbClr val="000000"/>
              </a:solidFill>
              <a:effectLst/>
              <a:uFillTx/>
              <a:latin typeface="Arial"/>
            </a:endParaRPr>
          </a:p>
        </p:txBody>
      </p:sp>
      <p:sp>
        <p:nvSpPr>
          <p:cNvPr id="142" name="Shape 130"/>
          <p:cNvSpPr/>
          <p:nvPr/>
        </p:nvSpPr>
        <p:spPr>
          <a:xfrm>
            <a:off x="2551320" y="1179720"/>
            <a:ext cx="173160" cy="17640"/>
          </a:xfrm>
          <a:prstGeom prst="rect">
            <a:avLst/>
          </a:prstGeom>
          <a:solidFill>
            <a:srgbClr val="29466F"/>
          </a:solidFill>
          <a:ln w="12700">
            <a:solidFill>
              <a:srgbClr val="29466F"/>
            </a:solidFill>
            <a:round/>
          </a:ln>
        </p:spPr>
        <p:style>
          <a:lnRef idx="0"/>
          <a:fillRef idx="0"/>
          <a:effectRef idx="0"/>
          <a:fontRef idx="minor"/>
        </p:style>
        <p:txBody>
          <a:bodyPr lIns="86760" tIns="-26640" rIns="86760" bIns="-26640" anchor="t">
            <a:noAutofit/>
          </a:bodyPr>
          <a:p>
            <a:endParaRPr lang="en-GB" sz="1800" b="0" u="none" strike="noStrike">
              <a:solidFill>
                <a:srgbClr val="FFFFFF"/>
              </a:solidFill>
              <a:effectLst/>
              <a:uFillTx/>
              <a:latin typeface="Arial"/>
            </a:endParaRPr>
          </a:p>
        </p:txBody>
      </p:sp>
      <p:sp>
        <p:nvSpPr>
          <p:cNvPr id="143" name="Shape 131"/>
          <p:cNvSpPr/>
          <p:nvPr/>
        </p:nvSpPr>
        <p:spPr>
          <a:xfrm>
            <a:off x="2505600" y="1271160"/>
            <a:ext cx="273600" cy="81720"/>
          </a:xfrm>
          <a:prstGeom prst="roundRect">
            <a:avLst>
              <a:gd name="adj" fmla="val 16667"/>
            </a:avLst>
          </a:prstGeom>
          <a:solidFill>
            <a:srgbClr val="F3F8FC"/>
          </a:solidFill>
          <a:ln w="11430">
            <a:solidFill>
              <a:srgbClr val="253A5C"/>
            </a:solidFill>
            <a:round/>
          </a:ln>
        </p:spPr>
        <p:style>
          <a:lnRef idx="0"/>
          <a:fillRef idx="0"/>
          <a:effectRef idx="0"/>
          <a:fontRef idx="minor"/>
        </p:style>
        <p:txBody>
          <a:bodyPr lIns="90000" tIns="29160" rIns="90000" bIns="29160" anchor="t">
            <a:noAutofit/>
          </a:bodyPr>
          <a:p>
            <a:endParaRPr lang="en-GB" sz="1800" b="0" u="none" strike="noStrike">
              <a:solidFill>
                <a:srgbClr val="000000"/>
              </a:solidFill>
              <a:effectLst/>
              <a:uFillTx/>
              <a:latin typeface="Arial"/>
            </a:endParaRPr>
          </a:p>
        </p:txBody>
      </p:sp>
      <p:sp>
        <p:nvSpPr>
          <p:cNvPr id="144" name="Shape 132"/>
          <p:cNvSpPr/>
          <p:nvPr/>
        </p:nvSpPr>
        <p:spPr>
          <a:xfrm>
            <a:off x="2551320" y="1298520"/>
            <a:ext cx="173160" cy="17640"/>
          </a:xfrm>
          <a:prstGeom prst="rect">
            <a:avLst/>
          </a:prstGeom>
          <a:solidFill>
            <a:srgbClr val="29466F"/>
          </a:solidFill>
          <a:ln w="12700">
            <a:solidFill>
              <a:srgbClr val="29466F"/>
            </a:solidFill>
            <a:round/>
          </a:ln>
        </p:spPr>
        <p:style>
          <a:lnRef idx="0"/>
          <a:fillRef idx="0"/>
          <a:effectRef idx="0"/>
          <a:fontRef idx="minor"/>
        </p:style>
        <p:txBody>
          <a:bodyPr lIns="86760" tIns="-26640" rIns="86760" bIns="-26640" anchor="t">
            <a:noAutofit/>
          </a:bodyPr>
          <a:p>
            <a:endParaRPr lang="en-GB" sz="1800" b="0" u="none" strike="noStrike">
              <a:solidFill>
                <a:srgbClr val="FFFFFF"/>
              </a:solidFill>
              <a:effectLst/>
              <a:uFillTx/>
              <a:latin typeface="Arial"/>
            </a:endParaRPr>
          </a:p>
        </p:txBody>
      </p:sp>
      <p:sp>
        <p:nvSpPr>
          <p:cNvPr id="145" name="Text 133"/>
          <p:cNvSpPr/>
          <p:nvPr/>
        </p:nvSpPr>
        <p:spPr>
          <a:xfrm>
            <a:off x="3996000" y="64080"/>
            <a:ext cx="7470000" cy="410760"/>
          </a:xfrm>
          <a:prstGeom prst="rect">
            <a:avLst/>
          </a:prstGeom>
          <a:noFill/>
          <a:ln w="0">
            <a:noFill/>
          </a:ln>
        </p:spPr>
        <p:style>
          <a:lnRef idx="0"/>
          <a:fillRef idx="0"/>
          <a:effectRef idx="0"/>
          <a:fontRef idx="minor"/>
        </p:style>
        <p:txBody>
          <a:bodyPr lIns="0" tIns="0" rIns="0" bIns="0" anchor="ctr">
            <a:normAutofit fontScale="85000" lnSpcReduction="9999"/>
          </a:bodyPr>
          <a:p>
            <a:pPr algn="ctr" defTabSz="914400">
              <a:lnSpc>
                <a:spcPct val="100000"/>
              </a:lnSpc>
              <a:tabLst>
                <a:tab pos="0" algn="l"/>
              </a:tabLst>
            </a:pPr>
            <a:r>
              <a:rPr lang="en-GB" sz="3100" b="1" u="none" strike="noStrike">
                <a:solidFill>
                  <a:srgbClr val="0C1B3C"/>
                </a:solidFill>
                <a:effectLst/>
                <a:uFillTx/>
                <a:latin typeface="Arial"/>
                <a:ea typeface="Arial"/>
              </a:rPr>
              <a:t>RustServer Platform — System Architecture</a:t>
            </a:r>
            <a:endParaRPr lang="en-GB" sz="3100" b="0" u="none" strike="noStrike">
              <a:solidFill>
                <a:srgbClr val="000000"/>
              </a:solidFill>
              <a:effectLst/>
              <a:uFillTx/>
              <a:latin typeface="Arial"/>
            </a:endParaRPr>
          </a:p>
        </p:txBody>
      </p:sp>
      <p:sp>
        <p:nvSpPr>
          <p:cNvPr id="146" name="Text 134"/>
          <p:cNvSpPr/>
          <p:nvPr/>
        </p:nvSpPr>
        <p:spPr>
          <a:xfrm>
            <a:off x="3831480" y="502920"/>
            <a:ext cx="7954560" cy="2919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1600" b="0" u="none" strike="noStrike">
                <a:solidFill>
                  <a:srgbClr val="4E6588"/>
                </a:solidFill>
                <a:effectLst/>
                <a:uFillTx/>
                <a:latin typeface="Arial"/>
                <a:ea typeface="Arial"/>
              </a:rPr>
              <a:t>Self-hosted administration and deployment platform for Rust Dedicated Server</a:t>
            </a:r>
            <a:endParaRPr lang="en-GB" sz="1600" b="0" u="none" strike="noStrike">
              <a:solidFill>
                <a:srgbClr val="000000"/>
              </a:solidFill>
              <a:effectLst/>
              <a:uFillTx/>
              <a:latin typeface="Arial"/>
            </a:endParaRPr>
          </a:p>
        </p:txBody>
      </p:sp>
      <p:sp>
        <p:nvSpPr>
          <p:cNvPr id="147" name="Text 135"/>
          <p:cNvSpPr/>
          <p:nvPr/>
        </p:nvSpPr>
        <p:spPr>
          <a:xfrm>
            <a:off x="2926080" y="1005840"/>
            <a:ext cx="2833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500" b="1" u="none" strike="noStrike">
                <a:solidFill>
                  <a:srgbClr val="0C1B3C"/>
                </a:solidFill>
                <a:effectLst/>
                <a:uFillTx/>
                <a:latin typeface="Arial"/>
                <a:ea typeface="Arial"/>
              </a:rPr>
              <a:t>Ubuntu Linux Host</a:t>
            </a:r>
            <a:endParaRPr lang="en-GB" sz="1500" b="0" u="none" strike="noStrike">
              <a:solidFill>
                <a:srgbClr val="000000"/>
              </a:solidFill>
              <a:effectLst/>
              <a:uFillTx/>
              <a:latin typeface="Arial"/>
            </a:endParaRPr>
          </a:p>
        </p:txBody>
      </p:sp>
      <p:sp>
        <p:nvSpPr>
          <p:cNvPr id="148" name="Text 136"/>
          <p:cNvSpPr/>
          <p:nvPr/>
        </p:nvSpPr>
        <p:spPr>
          <a:xfrm>
            <a:off x="2917080" y="1243440"/>
            <a:ext cx="3199680" cy="182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50" b="0" u="none" strike="noStrike">
                <a:solidFill>
                  <a:srgbClr val="4E6588"/>
                </a:solidFill>
                <a:effectLst/>
                <a:uFillTx/>
                <a:latin typeface="Arial"/>
                <a:ea typeface="Arial"/>
              </a:rPr>
              <a:t>Self-hosted server (all components run locally)</a:t>
            </a:r>
            <a:endParaRPr lang="en-GB" sz="1050" b="0" u="none" strike="noStrike">
              <a:solidFill>
                <a:srgbClr val="000000"/>
              </a:solidFill>
              <a:effectLst/>
              <a:uFillTx/>
              <a:latin typeface="Arial"/>
            </a:endParaRPr>
          </a:p>
        </p:txBody>
      </p:sp>
      <p:sp>
        <p:nvSpPr>
          <p:cNvPr id="149" name="Text 137"/>
          <p:cNvSpPr/>
          <p:nvPr/>
        </p:nvSpPr>
        <p:spPr>
          <a:xfrm>
            <a:off x="2660760" y="1545480"/>
            <a:ext cx="4589640" cy="209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210" b="1" u="none" strike="noStrike">
                <a:solidFill>
                  <a:srgbClr val="07529E"/>
                </a:solidFill>
                <a:effectLst/>
                <a:uFillTx/>
                <a:latin typeface="Arial"/>
                <a:ea typeface="Arial"/>
              </a:rPr>
              <a:t>Web Layer (Nginx + Frontend)</a:t>
            </a:r>
            <a:endParaRPr lang="en-GB" sz="1210" b="0" u="none" strike="noStrike">
              <a:solidFill>
                <a:srgbClr val="000000"/>
              </a:solidFill>
              <a:effectLst/>
              <a:uFillTx/>
              <a:latin typeface="Arial"/>
            </a:endParaRPr>
          </a:p>
        </p:txBody>
      </p:sp>
      <p:sp>
        <p:nvSpPr>
          <p:cNvPr id="150" name="Text 138"/>
          <p:cNvSpPr/>
          <p:nvPr/>
        </p:nvSpPr>
        <p:spPr>
          <a:xfrm>
            <a:off x="2624400" y="3063240"/>
            <a:ext cx="5110920" cy="209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250" b="1" u="none" strike="noStrike">
                <a:solidFill>
                  <a:srgbClr val="065325"/>
                </a:solidFill>
                <a:effectLst/>
                <a:highlight>
                  <a:srgbClr val="FFFFFF"/>
                </a:highlight>
                <a:uFillTx/>
                <a:latin typeface="Arial"/>
                <a:ea typeface="Arial"/>
              </a:rPr>
              <a:t>Independent ASP.NET Core Services / systemd</a:t>
            </a:r>
            <a:endParaRPr lang="en-GB" sz="1250" b="0" u="none" strike="noStrike">
              <a:solidFill>
                <a:srgbClr val="000000"/>
              </a:solidFill>
              <a:effectLst/>
              <a:highlight>
                <a:srgbClr val="FFFFFF"/>
              </a:highlight>
              <a:uFillTx/>
              <a:latin typeface="Arial"/>
            </a:endParaRPr>
          </a:p>
        </p:txBody>
      </p:sp>
      <p:sp>
        <p:nvSpPr>
          <p:cNvPr id="151" name="Text 139"/>
          <p:cNvSpPr/>
          <p:nvPr/>
        </p:nvSpPr>
        <p:spPr>
          <a:xfrm>
            <a:off x="2660760" y="5952600"/>
            <a:ext cx="5577120" cy="209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250" b="1" u="none" strike="noStrike">
                <a:solidFill>
                  <a:srgbClr val="AC0C29"/>
                </a:solidFill>
                <a:effectLst/>
                <a:uFillTx/>
                <a:latin typeface="Arial"/>
                <a:ea typeface="Arial"/>
              </a:rPr>
              <a:t>Deployment &amp; Provisioning / systemd</a:t>
            </a:r>
            <a:endParaRPr lang="en-GB" sz="1250" b="0" u="none" strike="noStrike">
              <a:solidFill>
                <a:srgbClr val="000000"/>
              </a:solidFill>
              <a:effectLst/>
              <a:uFillTx/>
              <a:latin typeface="Arial"/>
            </a:endParaRPr>
          </a:p>
        </p:txBody>
      </p:sp>
      <p:sp>
        <p:nvSpPr>
          <p:cNvPr id="152" name="Text 140"/>
          <p:cNvSpPr/>
          <p:nvPr/>
        </p:nvSpPr>
        <p:spPr>
          <a:xfrm>
            <a:off x="12865680" y="3145680"/>
            <a:ext cx="1800720" cy="209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110" b="1" u="none" strike="noStrike">
                <a:solidFill>
                  <a:srgbClr val="171810"/>
                </a:solidFill>
                <a:effectLst/>
                <a:uFillTx/>
                <a:latin typeface="Arial"/>
                <a:ea typeface="Arial"/>
              </a:rPr>
              <a:t>Game Runtime</a:t>
            </a:r>
            <a:endParaRPr lang="en-GB" sz="1110" b="0" u="none" strike="noStrike">
              <a:solidFill>
                <a:srgbClr val="000000"/>
              </a:solidFill>
              <a:effectLst/>
              <a:uFillTx/>
              <a:latin typeface="Arial"/>
            </a:endParaRPr>
          </a:p>
        </p:txBody>
      </p:sp>
      <p:sp>
        <p:nvSpPr>
          <p:cNvPr id="153" name="Text 141"/>
          <p:cNvSpPr/>
          <p:nvPr/>
        </p:nvSpPr>
        <p:spPr>
          <a:xfrm>
            <a:off x="786240" y="1865520"/>
            <a:ext cx="1050840" cy="200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140" b="1" u="none" strike="noStrike">
                <a:solidFill>
                  <a:srgbClr val="0C1B3C"/>
                </a:solidFill>
                <a:effectLst/>
                <a:uFillTx/>
                <a:latin typeface="Arial"/>
                <a:ea typeface="Arial"/>
              </a:rPr>
              <a:t>Administrator</a:t>
            </a:r>
            <a:endParaRPr lang="en-GB" sz="1140" b="0" u="none" strike="noStrike">
              <a:solidFill>
                <a:srgbClr val="000000"/>
              </a:solidFill>
              <a:effectLst/>
              <a:uFillTx/>
              <a:latin typeface="Arial"/>
            </a:endParaRPr>
          </a:p>
        </p:txBody>
      </p:sp>
      <p:sp>
        <p:nvSpPr>
          <p:cNvPr id="154" name="Text 142"/>
          <p:cNvSpPr/>
          <p:nvPr/>
        </p:nvSpPr>
        <p:spPr>
          <a:xfrm>
            <a:off x="786240" y="2075760"/>
            <a:ext cx="959400" cy="154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10" b="0" u="none" strike="noStrike">
                <a:solidFill>
                  <a:srgbClr val="0C1B3C"/>
                </a:solidFill>
                <a:effectLst/>
                <a:uFillTx/>
                <a:latin typeface="Arial"/>
                <a:ea typeface="Arial"/>
              </a:rPr>
              <a:t>Browser</a:t>
            </a:r>
            <a:endParaRPr lang="en-GB" sz="1010" b="0" u="none" strike="noStrike">
              <a:solidFill>
                <a:srgbClr val="000000"/>
              </a:solidFill>
              <a:effectLst/>
              <a:uFillTx/>
              <a:latin typeface="Arial"/>
            </a:endParaRPr>
          </a:p>
        </p:txBody>
      </p:sp>
      <p:sp>
        <p:nvSpPr>
          <p:cNvPr id="155" name="Text 143"/>
          <p:cNvSpPr/>
          <p:nvPr/>
        </p:nvSpPr>
        <p:spPr>
          <a:xfrm>
            <a:off x="1965960" y="1911240"/>
            <a:ext cx="822240" cy="182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130" b="1" u="none" strike="noStrike">
                <a:solidFill>
                  <a:srgbClr val="1265CF"/>
                </a:solidFill>
                <a:effectLst/>
                <a:highlight>
                  <a:srgbClr val="FFFFFF"/>
                </a:highlight>
                <a:uFillTx/>
                <a:latin typeface="Arial"/>
                <a:ea typeface="Arial"/>
              </a:rPr>
              <a:t>HTTPS</a:t>
            </a:r>
            <a:endParaRPr lang="en-GB" sz="1130" b="0" u="none" strike="noStrike">
              <a:solidFill>
                <a:srgbClr val="000000"/>
              </a:solidFill>
              <a:effectLst/>
              <a:uFillTx/>
              <a:latin typeface="Arial"/>
            </a:endParaRPr>
          </a:p>
        </p:txBody>
      </p:sp>
      <p:sp>
        <p:nvSpPr>
          <p:cNvPr id="156" name="Text 144"/>
          <p:cNvSpPr/>
          <p:nvPr/>
        </p:nvSpPr>
        <p:spPr>
          <a:xfrm>
            <a:off x="4416480" y="1911240"/>
            <a:ext cx="1160640" cy="191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150" b="1" u="none" strike="noStrike">
                <a:solidFill>
                  <a:srgbClr val="0C1B3C"/>
                </a:solidFill>
                <a:effectLst/>
                <a:uFillTx/>
                <a:latin typeface="Arial"/>
                <a:ea typeface="Arial"/>
              </a:rPr>
              <a:t>Nginx</a:t>
            </a:r>
            <a:endParaRPr lang="en-GB" sz="1150" b="0" u="none" strike="noStrike">
              <a:solidFill>
                <a:srgbClr val="000000"/>
              </a:solidFill>
              <a:effectLst/>
              <a:uFillTx/>
              <a:latin typeface="Arial"/>
            </a:endParaRPr>
          </a:p>
        </p:txBody>
      </p:sp>
      <p:sp>
        <p:nvSpPr>
          <p:cNvPr id="157" name="Text 145"/>
          <p:cNvSpPr/>
          <p:nvPr/>
        </p:nvSpPr>
        <p:spPr>
          <a:xfrm>
            <a:off x="4416480" y="2121480"/>
            <a:ext cx="1233720" cy="182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130" b="1" u="none" strike="noStrike">
                <a:solidFill>
                  <a:srgbClr val="0C1B3C"/>
                </a:solidFill>
                <a:effectLst/>
                <a:uFillTx/>
                <a:latin typeface="Arial"/>
                <a:ea typeface="Arial"/>
              </a:rPr>
              <a:t>Reverse Proxy</a:t>
            </a:r>
            <a:endParaRPr lang="en-GB" sz="1130" b="0" u="none" strike="noStrike">
              <a:solidFill>
                <a:srgbClr val="000000"/>
              </a:solidFill>
              <a:effectLst/>
              <a:uFillTx/>
              <a:latin typeface="Arial"/>
            </a:endParaRPr>
          </a:p>
        </p:txBody>
      </p:sp>
      <p:sp>
        <p:nvSpPr>
          <p:cNvPr id="158" name="Text 146"/>
          <p:cNvSpPr/>
          <p:nvPr/>
        </p:nvSpPr>
        <p:spPr>
          <a:xfrm>
            <a:off x="6226920" y="1755000"/>
            <a:ext cx="613080" cy="3564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910" b="0" u="none" strike="noStrike">
                <a:solidFill>
                  <a:srgbClr val="0C1B3C"/>
                </a:solidFill>
                <a:effectLst/>
                <a:uFillTx/>
                <a:latin typeface="Arial"/>
                <a:ea typeface="Arial"/>
              </a:rPr>
              <a:t>Serves </a:t>
            </a:r>
            <a:r>
              <a:rPr lang="en-GB" sz="920" b="0" u="none" strike="noStrike">
                <a:solidFill>
                  <a:srgbClr val="0C1B3C"/>
                </a:solidFill>
                <a:effectLst/>
                <a:uFillTx/>
                <a:latin typeface="Arial"/>
                <a:ea typeface="Arial"/>
              </a:rPr>
              <a:t>static files</a:t>
            </a:r>
            <a:endParaRPr lang="en-GB" sz="920" b="0" u="none" strike="noStrike">
              <a:solidFill>
                <a:srgbClr val="000000"/>
              </a:solidFill>
              <a:effectLst/>
              <a:uFillTx/>
              <a:latin typeface="Arial"/>
            </a:endParaRPr>
          </a:p>
        </p:txBody>
      </p:sp>
      <p:sp>
        <p:nvSpPr>
          <p:cNvPr id="159" name="Text 147"/>
          <p:cNvSpPr/>
          <p:nvPr/>
        </p:nvSpPr>
        <p:spPr>
          <a:xfrm>
            <a:off x="6071760" y="1965960"/>
            <a:ext cx="758160" cy="145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endParaRPr lang="en-GB" sz="1800" b="0" u="none" strike="noStrike">
              <a:solidFill>
                <a:srgbClr val="000000"/>
              </a:solidFill>
              <a:effectLst/>
              <a:uFillTx/>
              <a:latin typeface="Arial"/>
            </a:endParaRPr>
          </a:p>
        </p:txBody>
      </p:sp>
      <p:sp>
        <p:nvSpPr>
          <p:cNvPr id="160" name="Text 148"/>
          <p:cNvSpPr/>
          <p:nvPr/>
        </p:nvSpPr>
        <p:spPr>
          <a:xfrm>
            <a:off x="8192880" y="1847160"/>
            <a:ext cx="1370880" cy="209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150" b="1" u="none" strike="noStrike">
                <a:solidFill>
                  <a:srgbClr val="0C1B3C"/>
                </a:solidFill>
                <a:effectLst/>
                <a:uFillTx/>
                <a:latin typeface="Arial"/>
                <a:ea typeface="Arial"/>
              </a:rPr>
              <a:t>Web Dashboard</a:t>
            </a:r>
            <a:endParaRPr lang="en-GB" sz="1150" b="0" u="none" strike="noStrike">
              <a:solidFill>
                <a:srgbClr val="000000"/>
              </a:solidFill>
              <a:effectLst/>
              <a:uFillTx/>
              <a:latin typeface="Arial"/>
            </a:endParaRPr>
          </a:p>
        </p:txBody>
      </p:sp>
      <p:sp>
        <p:nvSpPr>
          <p:cNvPr id="161" name="Text 149"/>
          <p:cNvSpPr/>
          <p:nvPr/>
        </p:nvSpPr>
        <p:spPr>
          <a:xfrm>
            <a:off x="8192880" y="2048400"/>
            <a:ext cx="1279440" cy="163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80" b="0" u="none" strike="noStrike">
                <a:solidFill>
                  <a:srgbClr val="4E6588"/>
                </a:solidFill>
                <a:effectLst/>
                <a:uFillTx/>
                <a:latin typeface="Arial"/>
                <a:ea typeface="Arial"/>
              </a:rPr>
              <a:t>React / TypeScript</a:t>
            </a:r>
            <a:endParaRPr lang="en-GB" sz="980" b="0" u="none" strike="noStrike">
              <a:solidFill>
                <a:srgbClr val="000000"/>
              </a:solidFill>
              <a:effectLst/>
              <a:uFillTx/>
              <a:latin typeface="Arial"/>
            </a:endParaRPr>
          </a:p>
        </p:txBody>
      </p:sp>
      <p:sp>
        <p:nvSpPr>
          <p:cNvPr id="162" name="Text 150"/>
          <p:cNvSpPr/>
          <p:nvPr/>
        </p:nvSpPr>
        <p:spPr>
          <a:xfrm>
            <a:off x="8192880" y="2194560"/>
            <a:ext cx="1325160" cy="182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80" b="0" u="none" strike="noStrike">
                <a:solidFill>
                  <a:srgbClr val="4E6588"/>
                </a:solidFill>
                <a:effectLst/>
                <a:uFillTx/>
                <a:latin typeface="Arial"/>
                <a:ea typeface="Arial"/>
              </a:rPr>
              <a:t>(Static Application)</a:t>
            </a:r>
            <a:endParaRPr lang="en-GB" sz="980" b="0" u="none" strike="noStrike">
              <a:solidFill>
                <a:srgbClr val="000000"/>
              </a:solidFill>
              <a:effectLst/>
              <a:uFillTx/>
              <a:latin typeface="Arial"/>
            </a:endParaRPr>
          </a:p>
        </p:txBody>
      </p:sp>
      <p:sp>
        <p:nvSpPr>
          <p:cNvPr id="163" name="Text 151"/>
          <p:cNvSpPr/>
          <p:nvPr/>
        </p:nvSpPr>
        <p:spPr>
          <a:xfrm>
            <a:off x="3090600" y="2340000"/>
            <a:ext cx="1049400" cy="4665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GB" sz="989" b="0" u="none" strike="noStrike">
                <a:solidFill>
                  <a:srgbClr val="0C1B3C"/>
                </a:solidFill>
                <a:effectLst/>
                <a:uFillTx/>
                <a:latin typeface="Arial"/>
                <a:ea typeface="Arial"/>
              </a:rPr>
              <a:t>auth_request / </a:t>
            </a:r>
            <a:r>
              <a:rPr lang="en-GB" sz="939" b="0" u="none" strike="noStrike">
                <a:solidFill>
                  <a:srgbClr val="0C1B3C"/>
                </a:solidFill>
                <a:effectLst/>
                <a:uFillTx/>
                <a:latin typeface="Arial"/>
                <a:ea typeface="Arial"/>
              </a:rPr>
              <a:t>login</a:t>
            </a:r>
            <a:endParaRPr lang="en-GB" sz="939" b="0" u="none" strike="noStrike">
              <a:solidFill>
                <a:srgbClr val="000000"/>
              </a:solidFill>
              <a:effectLst/>
              <a:uFillTx/>
              <a:latin typeface="Arial"/>
            </a:endParaRPr>
          </a:p>
        </p:txBody>
      </p:sp>
      <p:sp>
        <p:nvSpPr>
          <p:cNvPr id="164" name="Text 152"/>
          <p:cNvSpPr/>
          <p:nvPr/>
        </p:nvSpPr>
        <p:spPr>
          <a:xfrm>
            <a:off x="3319200" y="2651760"/>
            <a:ext cx="639360" cy="154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endParaRPr lang="en-GB" sz="1800" b="0" u="none" strike="noStrike">
              <a:solidFill>
                <a:srgbClr val="000000"/>
              </a:solidFill>
              <a:effectLst/>
              <a:uFillTx/>
              <a:latin typeface="Arial"/>
            </a:endParaRPr>
          </a:p>
        </p:txBody>
      </p:sp>
      <p:sp>
        <p:nvSpPr>
          <p:cNvPr id="165" name="Shape 153"/>
          <p:cNvSpPr/>
          <p:nvPr/>
        </p:nvSpPr>
        <p:spPr>
          <a:xfrm>
            <a:off x="7169040" y="2752200"/>
            <a:ext cx="1252080" cy="182160"/>
          </a:xfrm>
          <a:prstGeom prst="rect">
            <a:avLst/>
          </a:prstGeom>
          <a:solidFill>
            <a:srgbClr val="EAF8FF"/>
          </a:solidFill>
          <a:ln w="12700">
            <a:solidFill>
              <a:srgbClr val="EAF8FF"/>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66" name="Text 154"/>
          <p:cNvSpPr/>
          <p:nvPr/>
        </p:nvSpPr>
        <p:spPr>
          <a:xfrm>
            <a:off x="7214760" y="2761560"/>
            <a:ext cx="1334160" cy="182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00" b="1" u="none" strike="noStrike">
                <a:solidFill>
                  <a:srgbClr val="1265CF"/>
                </a:solidFill>
                <a:effectLst/>
                <a:highlight>
                  <a:srgbClr val="FFFFFF"/>
                </a:highlight>
                <a:uFillTx/>
                <a:latin typeface="Arial"/>
                <a:ea typeface="Arial"/>
              </a:rPr>
              <a:t>REST (API requests)</a:t>
            </a:r>
            <a:endParaRPr lang="en-GB" sz="1000" b="0" u="none" strike="noStrike">
              <a:solidFill>
                <a:srgbClr val="000000"/>
              </a:solidFill>
              <a:effectLst/>
              <a:highlight>
                <a:srgbClr val="FFFFFF"/>
              </a:highlight>
              <a:uFillTx/>
              <a:latin typeface="Arial"/>
            </a:endParaRPr>
          </a:p>
        </p:txBody>
      </p:sp>
      <p:sp>
        <p:nvSpPr>
          <p:cNvPr id="167" name="Text 155"/>
          <p:cNvSpPr/>
          <p:nvPr/>
        </p:nvSpPr>
        <p:spPr>
          <a:xfrm>
            <a:off x="12582000" y="1334880"/>
            <a:ext cx="2202840" cy="182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160" b="1" u="none" strike="noStrike">
                <a:solidFill>
                  <a:srgbClr val="322166"/>
                </a:solidFill>
                <a:effectLst/>
                <a:uFillTx/>
                <a:latin typeface="Arial"/>
                <a:ea typeface="Arial"/>
              </a:rPr>
              <a:t>External Identity Providers</a:t>
            </a:r>
            <a:endParaRPr lang="en-GB" sz="1160" b="0" u="none" strike="noStrike">
              <a:solidFill>
                <a:srgbClr val="000000"/>
              </a:solidFill>
              <a:effectLst/>
              <a:uFillTx/>
              <a:latin typeface="Arial"/>
            </a:endParaRPr>
          </a:p>
        </p:txBody>
      </p:sp>
      <p:sp>
        <p:nvSpPr>
          <p:cNvPr id="168" name="Text 156"/>
          <p:cNvSpPr/>
          <p:nvPr/>
        </p:nvSpPr>
        <p:spPr>
          <a:xfrm>
            <a:off x="12582000" y="1554480"/>
            <a:ext cx="1197000" cy="163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60" b="0" u="none" strike="noStrike">
                <a:solidFill>
                  <a:srgbClr val="322166"/>
                </a:solidFill>
                <a:effectLst/>
                <a:uFillTx/>
                <a:latin typeface="Arial"/>
                <a:ea typeface="Arial"/>
              </a:rPr>
              <a:t>(Optional)</a:t>
            </a:r>
            <a:endParaRPr lang="en-GB" sz="1060" b="0" u="none" strike="noStrike">
              <a:solidFill>
                <a:srgbClr val="000000"/>
              </a:solidFill>
              <a:effectLst/>
              <a:uFillTx/>
              <a:latin typeface="Arial"/>
            </a:endParaRPr>
          </a:p>
        </p:txBody>
      </p:sp>
      <p:sp>
        <p:nvSpPr>
          <p:cNvPr id="169" name="Text 157"/>
          <p:cNvSpPr/>
          <p:nvPr/>
        </p:nvSpPr>
        <p:spPr>
          <a:xfrm>
            <a:off x="13061520" y="1974960"/>
            <a:ext cx="438120" cy="18468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GB" sz="1000" b="1" u="none" strike="noStrike">
                <a:solidFill>
                  <a:srgbClr val="0C1B3C"/>
                </a:solidFill>
                <a:effectLst/>
                <a:uFillTx/>
                <a:latin typeface="Arial"/>
                <a:ea typeface="Arial"/>
              </a:rPr>
              <a:t>Google</a:t>
            </a:r>
            <a:endParaRPr lang="en-GB" sz="1000" b="0" u="none" strike="noStrike">
              <a:solidFill>
                <a:srgbClr val="000000"/>
              </a:solidFill>
              <a:effectLst/>
              <a:uFillTx/>
              <a:latin typeface="Arial"/>
            </a:endParaRPr>
          </a:p>
        </p:txBody>
      </p:sp>
      <p:sp>
        <p:nvSpPr>
          <p:cNvPr id="170" name="Text 158"/>
          <p:cNvSpPr/>
          <p:nvPr/>
        </p:nvSpPr>
        <p:spPr>
          <a:xfrm>
            <a:off x="14220000" y="1965960"/>
            <a:ext cx="474840" cy="182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00" b="1" u="none" strike="noStrike">
                <a:solidFill>
                  <a:srgbClr val="0C1B3C"/>
                </a:solidFill>
                <a:effectLst/>
                <a:uFillTx/>
                <a:latin typeface="Arial"/>
                <a:ea typeface="Arial"/>
              </a:rPr>
              <a:t>Steam</a:t>
            </a:r>
            <a:endParaRPr lang="en-GB" sz="1000" b="0" u="none" strike="noStrike">
              <a:solidFill>
                <a:srgbClr val="000000"/>
              </a:solidFill>
              <a:effectLst/>
              <a:uFillTx/>
              <a:latin typeface="Arial"/>
            </a:endParaRPr>
          </a:p>
        </p:txBody>
      </p:sp>
      <p:sp>
        <p:nvSpPr>
          <p:cNvPr id="171" name="Text 159"/>
          <p:cNvSpPr/>
          <p:nvPr/>
        </p:nvSpPr>
        <p:spPr>
          <a:xfrm>
            <a:off x="12600000" y="2496240"/>
            <a:ext cx="539640" cy="3834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00" b="0" u="none" strike="noStrike">
                <a:solidFill>
                  <a:srgbClr val="0C1B3C"/>
                </a:solidFill>
                <a:effectLst/>
                <a:uFillTx/>
                <a:latin typeface="Arial"/>
                <a:ea typeface="Arial"/>
              </a:rPr>
              <a:t>OAuth2 (login)</a:t>
            </a:r>
            <a:endParaRPr lang="en-GB" sz="1000" b="0" u="none" strike="noStrike">
              <a:solidFill>
                <a:srgbClr val="000000"/>
              </a:solidFill>
              <a:effectLst/>
              <a:uFillTx/>
              <a:latin typeface="Arial"/>
            </a:endParaRPr>
          </a:p>
        </p:txBody>
      </p:sp>
      <p:sp>
        <p:nvSpPr>
          <p:cNvPr id="172" name="Text 160"/>
          <p:cNvSpPr/>
          <p:nvPr/>
        </p:nvSpPr>
        <p:spPr>
          <a:xfrm>
            <a:off x="12435840" y="2642760"/>
            <a:ext cx="1005120" cy="145440"/>
          </a:xfrm>
          <a:prstGeom prst="rect">
            <a:avLst/>
          </a:prstGeom>
          <a:noFill/>
          <a:ln w="0">
            <a:noFill/>
          </a:ln>
        </p:spPr>
        <p:style>
          <a:lnRef idx="0"/>
          <a:fillRef idx="0"/>
          <a:effectRef idx="0"/>
          <a:fontRef idx="minor"/>
        </p:style>
        <p:txBody>
          <a:bodyPr lIns="0" tIns="0" rIns="0" bIns="0" anchor="ctr">
            <a:normAutofit fontScale="32500" lnSpcReduction="19999"/>
          </a:bodyPr>
          <a:p>
            <a:endParaRPr lang="en-GB" sz="1800" b="0" u="none" strike="noStrike">
              <a:solidFill>
                <a:srgbClr val="000000"/>
              </a:solidFill>
              <a:effectLst/>
              <a:uFillTx/>
              <a:latin typeface="Arial"/>
            </a:endParaRPr>
          </a:p>
        </p:txBody>
      </p:sp>
      <p:sp>
        <p:nvSpPr>
          <p:cNvPr id="173" name="Text 161"/>
          <p:cNvSpPr/>
          <p:nvPr/>
        </p:nvSpPr>
        <p:spPr>
          <a:xfrm>
            <a:off x="9080640" y="2520000"/>
            <a:ext cx="639360" cy="360000"/>
          </a:xfrm>
          <a:prstGeom prst="rect">
            <a:avLst/>
          </a:prstGeom>
          <a:noFill/>
          <a:ln w="0">
            <a:noFill/>
          </a:ln>
        </p:spPr>
        <p:style>
          <a:lnRef idx="0"/>
          <a:fillRef idx="0"/>
          <a:effectRef idx="0"/>
          <a:fontRef idx="minor"/>
        </p:style>
        <p:txBody>
          <a:bodyPr lIns="0" tIns="0" rIns="0" bIns="0" anchor="ctr" anchorCtr="1">
            <a:normAutofit fontScale="92500" lnSpcReduction="9999"/>
          </a:bodyPr>
          <a:p>
            <a:pPr algn="ctr" defTabSz="914400">
              <a:lnSpc>
                <a:spcPct val="100000"/>
              </a:lnSpc>
              <a:tabLst>
                <a:tab pos="0" algn="l"/>
              </a:tabLst>
            </a:pPr>
            <a:r>
              <a:rPr lang="en-GB" sz="1000" b="0" u="none" strike="noStrike">
                <a:solidFill>
                  <a:srgbClr val="0C1B3C"/>
                </a:solidFill>
                <a:effectLst/>
                <a:highlight>
                  <a:srgbClr val="FFFFFF"/>
                </a:highlight>
                <a:uFillTx/>
                <a:latin typeface="Arial"/>
                <a:ea typeface="Arial"/>
              </a:rPr>
              <a:t>SSE </a:t>
            </a:r>
            <a:r>
              <a:rPr lang="en-GB" sz="939" b="0" u="none" strike="noStrike">
                <a:solidFill>
                  <a:srgbClr val="0C1B3C"/>
                </a:solidFill>
                <a:effectLst/>
                <a:highlight>
                  <a:srgbClr val="FFFFFF"/>
                </a:highlight>
                <a:uFillTx/>
                <a:latin typeface="Arial"/>
                <a:ea typeface="Arial"/>
              </a:rPr>
              <a:t>runtime events</a:t>
            </a:r>
            <a:endParaRPr lang="en-GB" sz="939" b="0" u="none" strike="noStrike">
              <a:solidFill>
                <a:srgbClr val="000000"/>
              </a:solidFill>
              <a:effectLst/>
              <a:highlight>
                <a:srgbClr val="FFFFFF"/>
              </a:highlight>
              <a:uFillTx/>
              <a:latin typeface="Arial"/>
            </a:endParaRPr>
          </a:p>
        </p:txBody>
      </p:sp>
      <p:sp>
        <p:nvSpPr>
          <p:cNvPr id="174" name="Text 162"/>
          <p:cNvSpPr/>
          <p:nvPr/>
        </p:nvSpPr>
        <p:spPr>
          <a:xfrm>
            <a:off x="9189720" y="2670120"/>
            <a:ext cx="913680" cy="1364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endParaRPr lang="en-GB" sz="1800" b="0" u="none" strike="noStrike">
              <a:solidFill>
                <a:srgbClr val="000000"/>
              </a:solidFill>
              <a:effectLst/>
              <a:uFillTx/>
              <a:latin typeface="Arial"/>
            </a:endParaRPr>
          </a:p>
        </p:txBody>
      </p:sp>
      <p:sp>
        <p:nvSpPr>
          <p:cNvPr id="175" name="Text 163"/>
          <p:cNvSpPr/>
          <p:nvPr/>
        </p:nvSpPr>
        <p:spPr>
          <a:xfrm>
            <a:off x="320040" y="3648600"/>
            <a:ext cx="1553760" cy="1911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GB" sz="1160" b="1" u="none" strike="noStrike">
                <a:solidFill>
                  <a:srgbClr val="0C1B3C"/>
                </a:solidFill>
                <a:effectLst/>
                <a:uFillTx/>
                <a:latin typeface="Arial"/>
                <a:ea typeface="Arial"/>
              </a:rPr>
              <a:t>Plugin Git Repositories</a:t>
            </a:r>
            <a:endParaRPr lang="en-GB" sz="1160" b="0" u="none" strike="noStrike">
              <a:solidFill>
                <a:srgbClr val="000000"/>
              </a:solidFill>
              <a:effectLst/>
              <a:uFillTx/>
              <a:latin typeface="Arial"/>
            </a:endParaRPr>
          </a:p>
        </p:txBody>
      </p:sp>
      <p:sp>
        <p:nvSpPr>
          <p:cNvPr id="176" name="Text 164"/>
          <p:cNvSpPr/>
          <p:nvPr/>
        </p:nvSpPr>
        <p:spPr>
          <a:xfrm>
            <a:off x="320040" y="4251960"/>
            <a:ext cx="1508040" cy="173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10" b="0" u="none" strike="noStrike">
                <a:solidFill>
                  <a:srgbClr val="4E6588"/>
                </a:solidFill>
                <a:effectLst/>
                <a:uFillTx/>
                <a:latin typeface="Arial"/>
                <a:ea typeface="Arial"/>
              </a:rPr>
              <a:t>PluginFiles / ConfigFiles</a:t>
            </a:r>
            <a:endParaRPr lang="en-GB" sz="1010" b="0" u="none" strike="noStrike">
              <a:solidFill>
                <a:srgbClr val="000000"/>
              </a:solidFill>
              <a:effectLst/>
              <a:uFillTx/>
              <a:latin typeface="Arial"/>
            </a:endParaRPr>
          </a:p>
        </p:txBody>
      </p:sp>
      <p:sp>
        <p:nvSpPr>
          <p:cNvPr id="177" name="Text 165"/>
          <p:cNvSpPr/>
          <p:nvPr/>
        </p:nvSpPr>
        <p:spPr>
          <a:xfrm>
            <a:off x="2048400" y="3840480"/>
            <a:ext cx="429120" cy="209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100" b="1" u="none" strike="noStrike">
                <a:solidFill>
                  <a:srgbClr val="1265CF"/>
                </a:solidFill>
                <a:effectLst/>
                <a:uFillTx/>
                <a:latin typeface="Arial"/>
                <a:ea typeface="Arial"/>
              </a:rPr>
              <a:t>Git</a:t>
            </a:r>
            <a:endParaRPr lang="en-GB" sz="1100" b="0" u="none" strike="noStrike">
              <a:solidFill>
                <a:srgbClr val="000000"/>
              </a:solidFill>
              <a:effectLst/>
              <a:uFillTx/>
              <a:latin typeface="Arial"/>
            </a:endParaRPr>
          </a:p>
        </p:txBody>
      </p:sp>
      <p:sp>
        <p:nvSpPr>
          <p:cNvPr id="178" name="Text 166"/>
          <p:cNvSpPr/>
          <p:nvPr/>
        </p:nvSpPr>
        <p:spPr>
          <a:xfrm>
            <a:off x="329040" y="4956120"/>
            <a:ext cx="1316160" cy="227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150" b="1" u="none" strike="noStrike">
                <a:solidFill>
                  <a:srgbClr val="0C1B3C"/>
                </a:solidFill>
                <a:effectLst/>
                <a:uFillTx/>
                <a:latin typeface="Arial"/>
                <a:ea typeface="Arial"/>
              </a:rPr>
              <a:t>GitHub Releases</a:t>
            </a:r>
            <a:endParaRPr lang="en-GB" sz="1150" b="0" u="none" strike="noStrike">
              <a:solidFill>
                <a:srgbClr val="000000"/>
              </a:solidFill>
              <a:effectLst/>
              <a:uFillTx/>
              <a:latin typeface="Arial"/>
            </a:endParaRPr>
          </a:p>
        </p:txBody>
      </p:sp>
      <p:sp>
        <p:nvSpPr>
          <p:cNvPr id="179" name="Text 167"/>
          <p:cNvSpPr/>
          <p:nvPr/>
        </p:nvSpPr>
        <p:spPr>
          <a:xfrm>
            <a:off x="320040" y="5586840"/>
            <a:ext cx="1325160" cy="163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89" b="0" u="none" strike="noStrike">
                <a:solidFill>
                  <a:srgbClr val="4E6588"/>
                </a:solidFill>
                <a:effectLst/>
                <a:uFillTx/>
                <a:latin typeface="Arial"/>
                <a:ea typeface="Arial"/>
              </a:rPr>
              <a:t>Platform releases</a:t>
            </a:r>
            <a:endParaRPr lang="en-GB" sz="989" b="0" u="none" strike="noStrike">
              <a:solidFill>
                <a:srgbClr val="000000"/>
              </a:solidFill>
              <a:effectLst/>
              <a:uFillTx/>
              <a:latin typeface="Arial"/>
            </a:endParaRPr>
          </a:p>
        </p:txBody>
      </p:sp>
      <p:sp>
        <p:nvSpPr>
          <p:cNvPr id="180" name="Text 168"/>
          <p:cNvSpPr/>
          <p:nvPr/>
        </p:nvSpPr>
        <p:spPr>
          <a:xfrm>
            <a:off x="320040" y="5742360"/>
            <a:ext cx="1361880" cy="173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89" b="0" u="none" strike="noStrike">
                <a:solidFill>
                  <a:srgbClr val="4E6588"/>
                </a:solidFill>
                <a:effectLst/>
                <a:uFillTx/>
                <a:latin typeface="Arial"/>
                <a:ea typeface="Arial"/>
              </a:rPr>
              <a:t>(Updater packages)</a:t>
            </a:r>
            <a:endParaRPr lang="en-GB" sz="989" b="0" u="none" strike="noStrike">
              <a:solidFill>
                <a:srgbClr val="000000"/>
              </a:solidFill>
              <a:effectLst/>
              <a:uFillTx/>
              <a:latin typeface="Arial"/>
            </a:endParaRPr>
          </a:p>
        </p:txBody>
      </p:sp>
      <p:sp>
        <p:nvSpPr>
          <p:cNvPr id="181" name="Text 169"/>
          <p:cNvSpPr/>
          <p:nvPr/>
        </p:nvSpPr>
        <p:spPr>
          <a:xfrm>
            <a:off x="1737360" y="5047560"/>
            <a:ext cx="657720" cy="182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00" b="0" u="none" strike="noStrike">
                <a:solidFill>
                  <a:srgbClr val="1265CF"/>
                </a:solidFill>
                <a:effectLst/>
                <a:uFillTx/>
                <a:latin typeface="Arial"/>
                <a:ea typeface="Arial"/>
              </a:rPr>
              <a:t>release</a:t>
            </a:r>
            <a:endParaRPr lang="en-GB" sz="1000" b="0" u="none" strike="noStrike">
              <a:solidFill>
                <a:srgbClr val="000000"/>
              </a:solidFill>
              <a:effectLst/>
              <a:uFillTx/>
              <a:latin typeface="Arial"/>
            </a:endParaRPr>
          </a:p>
        </p:txBody>
      </p:sp>
      <p:sp>
        <p:nvSpPr>
          <p:cNvPr id="182" name="Text 170"/>
          <p:cNvSpPr/>
          <p:nvPr/>
        </p:nvSpPr>
        <p:spPr>
          <a:xfrm>
            <a:off x="1737360" y="5203080"/>
            <a:ext cx="849600" cy="182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00" b="0" u="none" strike="noStrike">
                <a:solidFill>
                  <a:srgbClr val="1265CF"/>
                </a:solidFill>
                <a:effectLst/>
                <a:uFillTx/>
                <a:latin typeface="Arial"/>
                <a:ea typeface="Arial"/>
              </a:rPr>
              <a:t>packages</a:t>
            </a:r>
            <a:endParaRPr lang="en-GB" sz="1000" b="0" u="none" strike="noStrike">
              <a:solidFill>
                <a:srgbClr val="000000"/>
              </a:solidFill>
              <a:effectLst/>
              <a:uFillTx/>
              <a:latin typeface="Arial"/>
            </a:endParaRPr>
          </a:p>
        </p:txBody>
      </p:sp>
      <p:sp>
        <p:nvSpPr>
          <p:cNvPr id="183" name="Text 171"/>
          <p:cNvSpPr/>
          <p:nvPr/>
        </p:nvSpPr>
        <p:spPr>
          <a:xfrm>
            <a:off x="6199560" y="4078440"/>
            <a:ext cx="685080" cy="163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50" b="1" u="none" strike="noStrike">
                <a:solidFill>
                  <a:srgbClr val="1265CF"/>
                </a:solidFill>
                <a:effectLst/>
                <a:highlight>
                  <a:srgbClr val="FFFFFF"/>
                </a:highlight>
                <a:uFillTx/>
                <a:latin typeface="Arial"/>
                <a:ea typeface="Arial"/>
              </a:rPr>
              <a:t>gRPC</a:t>
            </a:r>
            <a:endParaRPr lang="en-GB" sz="1050" b="0" u="none" strike="noStrike">
              <a:solidFill>
                <a:srgbClr val="000000"/>
              </a:solidFill>
              <a:effectLst/>
              <a:highlight>
                <a:srgbClr val="FFFFFF"/>
              </a:highlight>
              <a:uFillTx/>
              <a:latin typeface="Arial"/>
            </a:endParaRPr>
          </a:p>
        </p:txBody>
      </p:sp>
      <p:sp>
        <p:nvSpPr>
          <p:cNvPr id="184" name="Text 172"/>
          <p:cNvSpPr/>
          <p:nvPr/>
        </p:nvSpPr>
        <p:spPr>
          <a:xfrm>
            <a:off x="9107280" y="4060800"/>
            <a:ext cx="685080" cy="173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50" b="1" u="none" strike="noStrike">
                <a:solidFill>
                  <a:srgbClr val="1265CF"/>
                </a:solidFill>
                <a:effectLst/>
                <a:highlight>
                  <a:srgbClr val="FFFFFF"/>
                </a:highlight>
                <a:uFillTx/>
                <a:latin typeface="Arial"/>
                <a:ea typeface="Arial"/>
              </a:rPr>
              <a:t>gRPC</a:t>
            </a:r>
            <a:endParaRPr lang="en-GB" sz="1050" b="0" u="none" strike="noStrike">
              <a:solidFill>
                <a:srgbClr val="000000"/>
              </a:solidFill>
              <a:effectLst/>
              <a:highlight>
                <a:srgbClr val="FFFFFF"/>
              </a:highlight>
              <a:uFillTx/>
              <a:latin typeface="Arial"/>
            </a:endParaRPr>
          </a:p>
        </p:txBody>
      </p:sp>
      <p:sp>
        <p:nvSpPr>
          <p:cNvPr id="185" name="Text 173"/>
          <p:cNvSpPr/>
          <p:nvPr/>
        </p:nvSpPr>
        <p:spPr>
          <a:xfrm>
            <a:off x="12015360" y="3420000"/>
            <a:ext cx="721800" cy="3596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70" b="0" u="none" strike="noStrike">
                <a:solidFill>
                  <a:srgbClr val="0C1B3C"/>
                </a:solidFill>
                <a:effectLst/>
                <a:highlight>
                  <a:srgbClr val="FFFFFF"/>
                </a:highlight>
                <a:uFillTx/>
                <a:latin typeface="Arial"/>
                <a:ea typeface="Arial"/>
              </a:rPr>
              <a:t>WebRCON / WebSocket</a:t>
            </a:r>
            <a:endParaRPr lang="en-GB" sz="970" b="0" u="none" strike="noStrike">
              <a:solidFill>
                <a:srgbClr val="000000"/>
              </a:solidFill>
              <a:effectLst/>
              <a:uFillTx/>
              <a:latin typeface="Arial"/>
            </a:endParaRPr>
          </a:p>
        </p:txBody>
      </p:sp>
      <p:sp>
        <p:nvSpPr>
          <p:cNvPr id="186" name="Text 174"/>
          <p:cNvSpPr/>
          <p:nvPr/>
        </p:nvSpPr>
        <p:spPr>
          <a:xfrm>
            <a:off x="12015360" y="3694320"/>
            <a:ext cx="876960" cy="154800"/>
          </a:xfrm>
          <a:prstGeom prst="rect">
            <a:avLst/>
          </a:prstGeom>
          <a:noFill/>
          <a:ln w="0">
            <a:noFill/>
          </a:ln>
        </p:spPr>
        <p:style>
          <a:lnRef idx="0"/>
          <a:fillRef idx="0"/>
          <a:effectRef idx="0"/>
          <a:fontRef idx="minor"/>
        </p:style>
        <p:txBody>
          <a:bodyPr lIns="0" tIns="0" rIns="0" bIns="0" anchor="ctr">
            <a:normAutofit fontScale="40000" lnSpcReduction="19999"/>
          </a:bodyPr>
          <a:p>
            <a:endParaRPr lang="en-GB" sz="1800" b="0" u="none" strike="noStrike">
              <a:solidFill>
                <a:srgbClr val="000000"/>
              </a:solidFill>
              <a:effectLst/>
              <a:uFillTx/>
              <a:latin typeface="Arial"/>
            </a:endParaRPr>
          </a:p>
        </p:txBody>
      </p:sp>
      <p:sp>
        <p:nvSpPr>
          <p:cNvPr id="187" name="Text 175"/>
          <p:cNvSpPr/>
          <p:nvPr/>
        </p:nvSpPr>
        <p:spPr>
          <a:xfrm>
            <a:off x="13500000" y="3675960"/>
            <a:ext cx="1142280" cy="173160"/>
          </a:xfrm>
          <a:prstGeom prst="rect">
            <a:avLst/>
          </a:prstGeom>
          <a:noFill/>
          <a:ln w="0">
            <a:noFill/>
          </a:ln>
        </p:spPr>
        <p:style>
          <a:lnRef idx="0"/>
          <a:fillRef idx="0"/>
          <a:effectRef idx="0"/>
          <a:fontRef idx="minor"/>
        </p:style>
        <p:txBody>
          <a:bodyPr lIns="0" tIns="0" rIns="0" bIns="0" anchor="ctr">
            <a:normAutofit fontScale="77500" lnSpcReduction="19999"/>
          </a:bodyPr>
          <a:p>
            <a:pPr defTabSz="914400">
              <a:lnSpc>
                <a:spcPct val="100000"/>
              </a:lnSpc>
              <a:tabLst>
                <a:tab pos="0" algn="l"/>
              </a:tabLst>
            </a:pPr>
            <a:r>
              <a:rPr lang="en-GB" sz="1020" b="1" u="none" strike="noStrike">
                <a:solidFill>
                  <a:srgbClr val="0C1B3C"/>
                </a:solidFill>
                <a:effectLst/>
                <a:uFillTx/>
                <a:latin typeface="Arial"/>
                <a:ea typeface="Arial"/>
              </a:rPr>
              <a:t>Rust Dedicated Server</a:t>
            </a:r>
            <a:endParaRPr lang="en-GB" sz="1020" b="0" u="none" strike="noStrike">
              <a:solidFill>
                <a:srgbClr val="000000"/>
              </a:solidFill>
              <a:effectLst/>
              <a:uFillTx/>
              <a:latin typeface="Arial"/>
            </a:endParaRPr>
          </a:p>
        </p:txBody>
      </p:sp>
      <p:sp>
        <p:nvSpPr>
          <p:cNvPr id="188" name="Text 176"/>
          <p:cNvSpPr/>
          <p:nvPr/>
        </p:nvSpPr>
        <p:spPr>
          <a:xfrm>
            <a:off x="13500000" y="3877200"/>
            <a:ext cx="1142280" cy="163800"/>
          </a:xfrm>
          <a:prstGeom prst="rect">
            <a:avLst/>
          </a:prstGeom>
          <a:noFill/>
          <a:ln w="0">
            <a:noFill/>
          </a:ln>
        </p:spPr>
        <p:style>
          <a:lnRef idx="0"/>
          <a:fillRef idx="0"/>
          <a:effectRef idx="0"/>
          <a:fontRef idx="minor"/>
        </p:style>
        <p:txBody>
          <a:bodyPr lIns="0" tIns="0" rIns="0" bIns="0" anchor="ctr">
            <a:normAutofit fontScale="77500" lnSpcReduction="19999"/>
          </a:bodyPr>
          <a:p>
            <a:pPr defTabSz="914400">
              <a:lnSpc>
                <a:spcPct val="100000"/>
              </a:lnSpc>
              <a:tabLst>
                <a:tab pos="0" algn="l"/>
              </a:tabLst>
            </a:pPr>
            <a:r>
              <a:rPr lang="en-GB" sz="860" b="0" u="none" strike="noStrike">
                <a:solidFill>
                  <a:srgbClr val="0C1B3C"/>
                </a:solidFill>
                <a:effectLst/>
                <a:uFillTx/>
                <a:latin typeface="Arial"/>
                <a:ea typeface="Arial"/>
              </a:rPr>
              <a:t>Docker Compose container</a:t>
            </a:r>
            <a:endParaRPr lang="en-GB" sz="860" b="0" u="none" strike="noStrike">
              <a:solidFill>
                <a:srgbClr val="000000"/>
              </a:solidFill>
              <a:effectLst/>
              <a:uFillTx/>
              <a:latin typeface="Arial"/>
            </a:endParaRPr>
          </a:p>
        </p:txBody>
      </p:sp>
      <p:sp>
        <p:nvSpPr>
          <p:cNvPr id="189" name="Text 177"/>
          <p:cNvSpPr/>
          <p:nvPr/>
        </p:nvSpPr>
        <p:spPr>
          <a:xfrm>
            <a:off x="4864680" y="4636080"/>
            <a:ext cx="977760" cy="163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40" b="0" u="none" strike="noStrike">
                <a:solidFill>
                  <a:srgbClr val="0C1B3C"/>
                </a:solidFill>
                <a:effectLst/>
                <a:uFillTx/>
                <a:latin typeface="Arial"/>
                <a:ea typeface="Arial"/>
              </a:rPr>
              <a:t>Control</a:t>
            </a:r>
            <a:endParaRPr lang="en-GB" sz="1040" b="0" u="none" strike="noStrike">
              <a:solidFill>
                <a:srgbClr val="000000"/>
              </a:solidFill>
              <a:effectLst/>
              <a:uFillTx/>
              <a:latin typeface="Arial"/>
            </a:endParaRPr>
          </a:p>
        </p:txBody>
      </p:sp>
      <p:sp>
        <p:nvSpPr>
          <p:cNvPr id="190" name="Text 178"/>
          <p:cNvSpPr/>
          <p:nvPr/>
        </p:nvSpPr>
        <p:spPr>
          <a:xfrm>
            <a:off x="4864680" y="4809600"/>
            <a:ext cx="1069200" cy="163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40" b="0" u="none" strike="noStrike">
                <a:solidFill>
                  <a:srgbClr val="0C1B3C"/>
                </a:solidFill>
                <a:effectLst/>
                <a:uFillTx/>
                <a:latin typeface="Arial"/>
                <a:ea typeface="Arial"/>
              </a:rPr>
              <a:t>Config JSON</a:t>
            </a:r>
            <a:endParaRPr lang="en-GB" sz="1040" b="0" u="none" strike="noStrike">
              <a:solidFill>
                <a:srgbClr val="000000"/>
              </a:solidFill>
              <a:effectLst/>
              <a:uFillTx/>
              <a:latin typeface="Arial"/>
            </a:endParaRPr>
          </a:p>
        </p:txBody>
      </p:sp>
      <p:sp>
        <p:nvSpPr>
          <p:cNvPr id="191" name="Text 179"/>
          <p:cNvSpPr/>
          <p:nvPr/>
        </p:nvSpPr>
        <p:spPr>
          <a:xfrm>
            <a:off x="4864680" y="5193720"/>
            <a:ext cx="1087560" cy="173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20" b="0" u="none" strike="noStrike">
                <a:solidFill>
                  <a:srgbClr val="0C1B3C"/>
                </a:solidFill>
                <a:effectLst/>
                <a:uFillTx/>
                <a:latin typeface="Arial"/>
                <a:ea typeface="Arial"/>
              </a:rPr>
              <a:t>Control Network</a:t>
            </a:r>
            <a:endParaRPr lang="en-GB" sz="1020" b="0" u="none" strike="noStrike">
              <a:solidFill>
                <a:srgbClr val="000000"/>
              </a:solidFill>
              <a:effectLst/>
              <a:uFillTx/>
              <a:latin typeface="Arial"/>
            </a:endParaRPr>
          </a:p>
        </p:txBody>
      </p:sp>
      <p:sp>
        <p:nvSpPr>
          <p:cNvPr id="192" name="Text 180"/>
          <p:cNvSpPr/>
          <p:nvPr/>
        </p:nvSpPr>
        <p:spPr>
          <a:xfrm>
            <a:off x="4864680" y="5376600"/>
            <a:ext cx="1096560" cy="163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20" b="0" u="none" strike="noStrike">
                <a:solidFill>
                  <a:srgbClr val="0C1B3C"/>
                </a:solidFill>
                <a:effectLst/>
                <a:uFillTx/>
                <a:latin typeface="Arial"/>
                <a:ea typeface="Arial"/>
              </a:rPr>
              <a:t>Access JSON</a:t>
            </a:r>
            <a:endParaRPr lang="en-GB" sz="1020" b="0" u="none" strike="noStrike">
              <a:solidFill>
                <a:srgbClr val="000000"/>
              </a:solidFill>
              <a:effectLst/>
              <a:uFillTx/>
              <a:latin typeface="Arial"/>
            </a:endParaRPr>
          </a:p>
        </p:txBody>
      </p:sp>
      <p:sp>
        <p:nvSpPr>
          <p:cNvPr id="193" name="Text 181"/>
          <p:cNvSpPr/>
          <p:nvPr/>
        </p:nvSpPr>
        <p:spPr>
          <a:xfrm>
            <a:off x="6976800" y="5312520"/>
            <a:ext cx="763200" cy="26748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GB" sz="1020" b="0" u="none" strike="noStrike">
                <a:solidFill>
                  <a:srgbClr val="0C1B3C"/>
                </a:solidFill>
                <a:effectLst/>
                <a:uFillTx/>
                <a:latin typeface="Arial"/>
                <a:ea typeface="Arial"/>
              </a:rPr>
              <a:t>Plugin State / </a:t>
            </a:r>
            <a:r>
              <a:rPr lang="en-GB" sz="1020" b="0" u="none" strike="noStrike">
                <a:solidFill>
                  <a:srgbClr val="0C1B3C"/>
                </a:solidFill>
                <a:effectLst/>
                <a:uFillTx/>
                <a:latin typeface="Arial"/>
                <a:ea typeface="Arial"/>
              </a:rPr>
              <a:t>Baseline Files</a:t>
            </a:r>
            <a:endParaRPr lang="en-GB" sz="1020" b="0" u="none" strike="noStrike">
              <a:solidFill>
                <a:srgbClr val="000000"/>
              </a:solidFill>
              <a:effectLst/>
              <a:uFillTx/>
              <a:latin typeface="Arial"/>
            </a:endParaRPr>
          </a:p>
        </p:txBody>
      </p:sp>
      <p:sp>
        <p:nvSpPr>
          <p:cNvPr id="194" name="Text 182"/>
          <p:cNvSpPr/>
          <p:nvPr/>
        </p:nvSpPr>
        <p:spPr>
          <a:xfrm>
            <a:off x="6976800" y="5495400"/>
            <a:ext cx="1105560" cy="163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endParaRPr lang="en-GB" sz="1800" b="0" u="none" strike="noStrike">
              <a:solidFill>
                <a:srgbClr val="000000"/>
              </a:solidFill>
              <a:effectLst/>
              <a:uFillTx/>
              <a:latin typeface="Arial"/>
            </a:endParaRPr>
          </a:p>
        </p:txBody>
      </p:sp>
      <p:sp>
        <p:nvSpPr>
          <p:cNvPr id="195" name="Text 183"/>
          <p:cNvSpPr/>
          <p:nvPr/>
        </p:nvSpPr>
        <p:spPr>
          <a:xfrm>
            <a:off x="8412480" y="5312520"/>
            <a:ext cx="767520" cy="26748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GB" sz="1010" b="0" u="none" strike="noStrike">
                <a:solidFill>
                  <a:srgbClr val="0C1B3C"/>
                </a:solidFill>
                <a:effectLst/>
                <a:uFillTx/>
                <a:latin typeface="Arial"/>
                <a:ea typeface="Arial"/>
              </a:rPr>
              <a:t>Plugin Media </a:t>
            </a:r>
            <a:r>
              <a:rPr lang="en-GB" sz="1010" b="0" u="none" strike="noStrike">
                <a:solidFill>
                  <a:srgbClr val="0C1B3C"/>
                </a:solidFill>
                <a:effectLst/>
                <a:uFillTx/>
                <a:latin typeface="Arial"/>
                <a:ea typeface="Arial"/>
              </a:rPr>
              <a:t>Storage</a:t>
            </a:r>
            <a:endParaRPr lang="en-GB" sz="1010" b="0" u="none" strike="noStrike">
              <a:solidFill>
                <a:srgbClr val="000000"/>
              </a:solidFill>
              <a:effectLst/>
              <a:uFillTx/>
              <a:latin typeface="Arial"/>
            </a:endParaRPr>
          </a:p>
        </p:txBody>
      </p:sp>
      <p:sp>
        <p:nvSpPr>
          <p:cNvPr id="196" name="Text 184"/>
          <p:cNvSpPr/>
          <p:nvPr/>
        </p:nvSpPr>
        <p:spPr>
          <a:xfrm>
            <a:off x="8412480" y="5495400"/>
            <a:ext cx="867960" cy="163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endParaRPr lang="en-GB" sz="1800" b="0" u="none" strike="noStrike">
              <a:solidFill>
                <a:srgbClr val="000000"/>
              </a:solidFill>
              <a:effectLst/>
              <a:uFillTx/>
              <a:latin typeface="Arial"/>
            </a:endParaRPr>
          </a:p>
        </p:txBody>
      </p:sp>
      <p:sp>
        <p:nvSpPr>
          <p:cNvPr id="197" name="Text 185"/>
          <p:cNvSpPr/>
          <p:nvPr/>
        </p:nvSpPr>
        <p:spPr>
          <a:xfrm>
            <a:off x="10149840" y="5040000"/>
            <a:ext cx="1190160" cy="5400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30" b="0" u="none" strike="noStrike">
                <a:solidFill>
                  <a:srgbClr val="0C1B3C"/>
                </a:solidFill>
                <a:effectLst/>
                <a:uFillTx/>
                <a:latin typeface="Arial"/>
                <a:ea typeface="Arial"/>
              </a:rPr>
              <a:t>Snapshot Archives </a:t>
            </a:r>
            <a:r>
              <a:rPr lang="en-GB" sz="1000" b="0" u="none" strike="noStrike">
                <a:solidFill>
                  <a:srgbClr val="0C1B3C"/>
                </a:solidFill>
                <a:effectLst/>
                <a:uFillTx/>
                <a:latin typeface="Arial"/>
                <a:ea typeface="Arial"/>
              </a:rPr>
              <a:t>(ZIP + metadata)</a:t>
            </a:r>
            <a:endParaRPr lang="en-GB" sz="1000" b="0" u="none" strike="noStrike">
              <a:solidFill>
                <a:srgbClr val="000000"/>
              </a:solidFill>
              <a:effectLst/>
              <a:uFillTx/>
              <a:latin typeface="Arial"/>
            </a:endParaRPr>
          </a:p>
        </p:txBody>
      </p:sp>
      <p:sp>
        <p:nvSpPr>
          <p:cNvPr id="198" name="Text 186"/>
          <p:cNvSpPr/>
          <p:nvPr/>
        </p:nvSpPr>
        <p:spPr>
          <a:xfrm>
            <a:off x="10149840" y="5349240"/>
            <a:ext cx="1334160" cy="163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endParaRPr lang="en-GB" sz="1800" b="0" u="none" strike="noStrike">
              <a:solidFill>
                <a:srgbClr val="000000"/>
              </a:solidFill>
              <a:effectLst/>
              <a:uFillTx/>
              <a:latin typeface="Arial"/>
            </a:endParaRPr>
          </a:p>
        </p:txBody>
      </p:sp>
      <p:sp>
        <p:nvSpPr>
          <p:cNvPr id="199" name="Text 187"/>
          <p:cNvSpPr/>
          <p:nvPr/>
        </p:nvSpPr>
        <p:spPr>
          <a:xfrm>
            <a:off x="12351960" y="4860000"/>
            <a:ext cx="2047680" cy="182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70" b="0" u="none" strike="noStrike">
                <a:solidFill>
                  <a:srgbClr val="107E36"/>
                </a:solidFill>
                <a:effectLst/>
                <a:uFillTx/>
                <a:latin typeface="Arial"/>
                <a:ea typeface="Arial"/>
              </a:rPr>
              <a:t>runtime plugin/config files</a:t>
            </a:r>
            <a:endParaRPr lang="en-GB" sz="970" b="0" u="none" strike="noStrike">
              <a:solidFill>
                <a:srgbClr val="000000"/>
              </a:solidFill>
              <a:effectLst/>
              <a:uFillTx/>
              <a:latin typeface="Arial"/>
            </a:endParaRPr>
          </a:p>
        </p:txBody>
      </p:sp>
      <p:sp>
        <p:nvSpPr>
          <p:cNvPr id="200" name="Text 188"/>
          <p:cNvSpPr/>
          <p:nvPr/>
        </p:nvSpPr>
        <p:spPr>
          <a:xfrm>
            <a:off x="3240000" y="6282000"/>
            <a:ext cx="846360" cy="191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50" b="1" u="none" strike="noStrike">
                <a:solidFill>
                  <a:srgbClr val="0C1B3C"/>
                </a:solidFill>
                <a:effectLst/>
                <a:uFillTx/>
                <a:latin typeface="Arial"/>
                <a:ea typeface="Arial"/>
              </a:rPr>
              <a:t>Bootstrap</a:t>
            </a:r>
            <a:endParaRPr lang="en-GB" sz="1050" b="0" u="none" strike="noStrike">
              <a:solidFill>
                <a:srgbClr val="000000"/>
              </a:solidFill>
              <a:effectLst/>
              <a:uFillTx/>
              <a:latin typeface="Arial"/>
            </a:endParaRPr>
          </a:p>
        </p:txBody>
      </p:sp>
      <p:sp>
        <p:nvSpPr>
          <p:cNvPr id="201" name="Text 189"/>
          <p:cNvSpPr/>
          <p:nvPr/>
        </p:nvSpPr>
        <p:spPr>
          <a:xfrm>
            <a:off x="3060000" y="6480000"/>
            <a:ext cx="1079640" cy="359640"/>
          </a:xfrm>
          <a:prstGeom prst="rect">
            <a:avLst/>
          </a:prstGeom>
          <a:noFill/>
          <a:ln w="0">
            <a:noFill/>
          </a:ln>
        </p:spPr>
        <p:style>
          <a:lnRef idx="0"/>
          <a:fillRef idx="0"/>
          <a:effectRef idx="0"/>
          <a:fontRef idx="minor"/>
        </p:style>
        <p:txBody>
          <a:bodyPr lIns="0" tIns="0" rIns="0" bIns="0" anchor="ctr" anchorCtr="1">
            <a:normAutofit/>
          </a:bodyPr>
          <a:p>
            <a:pPr algn="ctr" defTabSz="914400">
              <a:lnSpc>
                <a:spcPct val="100000"/>
              </a:lnSpc>
              <a:tabLst>
                <a:tab pos="0" algn="l"/>
              </a:tabLst>
            </a:pPr>
            <a:r>
              <a:rPr lang="en-GB" sz="900" b="0" u="none" strike="noStrike">
                <a:solidFill>
                  <a:srgbClr val="4E6588"/>
                </a:solidFill>
                <a:effectLst/>
                <a:uFillTx/>
                <a:latin typeface="Arial"/>
                <a:ea typeface="Arial"/>
              </a:rPr>
              <a:t>shell scripts / </a:t>
            </a:r>
            <a:br>
              <a:rPr sz="900"/>
            </a:br>
            <a:r>
              <a:rPr lang="en-GB" sz="900" b="0" u="none" strike="noStrike">
                <a:solidFill>
                  <a:srgbClr val="4E6588"/>
                </a:solidFill>
                <a:effectLst/>
                <a:uFillTx/>
                <a:latin typeface="Arial"/>
                <a:ea typeface="Arial"/>
              </a:rPr>
              <a:t>initial provisioning</a:t>
            </a:r>
            <a:endParaRPr lang="en-GB" sz="900" b="0" u="none" strike="noStrike">
              <a:solidFill>
                <a:srgbClr val="000000"/>
              </a:solidFill>
              <a:effectLst/>
              <a:uFillTx/>
              <a:latin typeface="Arial"/>
            </a:endParaRPr>
          </a:p>
        </p:txBody>
      </p:sp>
      <p:sp>
        <p:nvSpPr>
          <p:cNvPr id="202" name="Text 191"/>
          <p:cNvSpPr/>
          <p:nvPr/>
        </p:nvSpPr>
        <p:spPr>
          <a:xfrm>
            <a:off x="4140000" y="6272640"/>
            <a:ext cx="719640" cy="300960"/>
          </a:xfrm>
          <a:prstGeom prst="rect">
            <a:avLst/>
          </a:prstGeom>
          <a:noFill/>
          <a:ln w="0">
            <a:noFill/>
          </a:ln>
        </p:spPr>
        <p:style>
          <a:lnRef idx="0"/>
          <a:fillRef idx="0"/>
          <a:effectRef idx="0"/>
          <a:fontRef idx="minor"/>
        </p:style>
        <p:txBody>
          <a:bodyPr lIns="0" tIns="0" rIns="0" bIns="0" anchor="ctr" anchorCtr="1">
            <a:normAutofit/>
          </a:bodyPr>
          <a:p>
            <a:pPr algn="ctr" defTabSz="914400">
              <a:lnSpc>
                <a:spcPct val="100000"/>
              </a:lnSpc>
              <a:tabLst>
                <a:tab pos="0" algn="l"/>
              </a:tabLst>
            </a:pPr>
            <a:r>
              <a:rPr lang="en-GB" sz="860" b="0" u="none" strike="noStrike">
                <a:solidFill>
                  <a:srgbClr val="0C1B3C"/>
                </a:solidFill>
                <a:effectLst/>
                <a:uFillTx/>
                <a:latin typeface="Arial"/>
                <a:ea typeface="Arial"/>
              </a:rPr>
              <a:t>Initial </a:t>
            </a:r>
            <a:r>
              <a:rPr lang="en-GB" sz="870" b="0" u="none" strike="noStrike">
                <a:solidFill>
                  <a:srgbClr val="0C1B3C"/>
                </a:solidFill>
                <a:effectLst/>
                <a:uFillTx/>
                <a:latin typeface="Arial"/>
                <a:ea typeface="Arial"/>
              </a:rPr>
              <a:t>provisioning</a:t>
            </a:r>
            <a:endParaRPr lang="en-GB" sz="870" b="0" u="none" strike="noStrike">
              <a:solidFill>
                <a:srgbClr val="000000"/>
              </a:solidFill>
              <a:effectLst/>
              <a:uFillTx/>
              <a:latin typeface="Arial"/>
            </a:endParaRPr>
          </a:p>
        </p:txBody>
      </p:sp>
      <p:sp>
        <p:nvSpPr>
          <p:cNvPr id="203" name="Text 192"/>
          <p:cNvSpPr/>
          <p:nvPr/>
        </p:nvSpPr>
        <p:spPr>
          <a:xfrm>
            <a:off x="4288680" y="6409800"/>
            <a:ext cx="621000" cy="163800"/>
          </a:xfrm>
          <a:prstGeom prst="rect">
            <a:avLst/>
          </a:prstGeom>
          <a:noFill/>
          <a:ln w="0">
            <a:noFill/>
          </a:ln>
        </p:spPr>
        <p:style>
          <a:lnRef idx="0"/>
          <a:fillRef idx="0"/>
          <a:effectRef idx="0"/>
          <a:fontRef idx="minor"/>
        </p:style>
        <p:txBody>
          <a:bodyPr lIns="0" tIns="0" rIns="0" bIns="0" anchor="ctr">
            <a:normAutofit fontScale="40000" lnSpcReduction="19999"/>
          </a:bodyPr>
          <a:p>
            <a:endParaRPr lang="en-GB" sz="1800" b="0" u="none" strike="noStrike">
              <a:solidFill>
                <a:srgbClr val="000000"/>
              </a:solidFill>
              <a:effectLst/>
              <a:uFillTx/>
              <a:latin typeface="Arial"/>
            </a:endParaRPr>
          </a:p>
        </p:txBody>
      </p:sp>
      <p:sp>
        <p:nvSpPr>
          <p:cNvPr id="204" name="Text 193"/>
          <p:cNvSpPr/>
          <p:nvPr/>
        </p:nvSpPr>
        <p:spPr>
          <a:xfrm>
            <a:off x="5385960" y="6336720"/>
            <a:ext cx="831240" cy="182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100" b="1" u="none" strike="noStrike">
                <a:solidFill>
                  <a:srgbClr val="0C1B3C"/>
                </a:solidFill>
                <a:effectLst/>
                <a:uFillTx/>
                <a:latin typeface="Arial"/>
                <a:ea typeface="Arial"/>
              </a:rPr>
              <a:t>Updater API</a:t>
            </a:r>
            <a:endParaRPr lang="en-GB" sz="1100" b="0" u="none" strike="noStrike">
              <a:solidFill>
                <a:srgbClr val="000000"/>
              </a:solidFill>
              <a:effectLst/>
              <a:uFillTx/>
              <a:latin typeface="Arial"/>
            </a:endParaRPr>
          </a:p>
        </p:txBody>
      </p:sp>
      <p:sp>
        <p:nvSpPr>
          <p:cNvPr id="205" name="Text 194"/>
          <p:cNvSpPr/>
          <p:nvPr/>
        </p:nvSpPr>
        <p:spPr>
          <a:xfrm>
            <a:off x="5367600" y="6565320"/>
            <a:ext cx="959400" cy="173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50" b="0" u="none" strike="noStrike">
                <a:solidFill>
                  <a:srgbClr val="4E6588"/>
                </a:solidFill>
                <a:effectLst/>
                <a:uFillTx/>
                <a:latin typeface="Arial"/>
                <a:ea typeface="Arial"/>
              </a:rPr>
              <a:t>ASP.NET Core</a:t>
            </a:r>
            <a:endParaRPr lang="en-GB" sz="950" b="0" u="none" strike="noStrike">
              <a:solidFill>
                <a:srgbClr val="000000"/>
              </a:solidFill>
              <a:effectLst/>
              <a:uFillTx/>
              <a:latin typeface="Arial"/>
            </a:endParaRPr>
          </a:p>
        </p:txBody>
      </p:sp>
      <p:sp>
        <p:nvSpPr>
          <p:cNvPr id="206" name="Text 195"/>
          <p:cNvSpPr/>
          <p:nvPr/>
        </p:nvSpPr>
        <p:spPr>
          <a:xfrm>
            <a:off x="6300000" y="6291000"/>
            <a:ext cx="899640" cy="188640"/>
          </a:xfrm>
          <a:prstGeom prst="rect">
            <a:avLst/>
          </a:prstGeom>
          <a:noFill/>
          <a:ln w="0">
            <a:noFill/>
          </a:ln>
        </p:spPr>
        <p:style>
          <a:lnRef idx="0"/>
          <a:fillRef idx="0"/>
          <a:effectRef idx="0"/>
          <a:fontRef idx="minor"/>
        </p:style>
        <p:txBody>
          <a:bodyPr lIns="0" tIns="0" rIns="0" bIns="0" anchor="ctr" anchorCtr="1">
            <a:normAutofit fontScale="77500" lnSpcReduction="19999"/>
          </a:bodyPr>
          <a:p>
            <a:pPr algn="ctr" defTabSz="914400">
              <a:lnSpc>
                <a:spcPct val="100000"/>
              </a:lnSpc>
              <a:tabLst>
                <a:tab pos="0" algn="l"/>
              </a:tabLst>
            </a:pPr>
            <a:r>
              <a:rPr lang="en-GB" sz="860" b="0" u="none" strike="noStrike">
                <a:solidFill>
                  <a:srgbClr val="0C1B3C"/>
                </a:solidFill>
                <a:effectLst/>
                <a:uFillTx/>
                <a:latin typeface="Arial"/>
                <a:ea typeface="Arial"/>
              </a:rPr>
              <a:t>local socket /</a:t>
            </a:r>
            <a:br>
              <a:rPr sz="860.0001"/>
            </a:br>
            <a:r>
              <a:rPr lang="en-GB" sz="889" b="0" u="none" strike="noStrike">
                <a:solidFill>
                  <a:srgbClr val="0C1B3C"/>
                </a:solidFill>
                <a:effectLst/>
                <a:uFillTx/>
                <a:latin typeface="Arial"/>
                <a:ea typeface="Arial"/>
              </a:rPr>
              <a:t>systemd</a:t>
            </a:r>
            <a:endParaRPr lang="en-GB" sz="889" b="0" u="none" strike="noStrike">
              <a:solidFill>
                <a:srgbClr val="000000"/>
              </a:solidFill>
              <a:effectLst/>
              <a:uFillTx/>
              <a:latin typeface="Arial"/>
            </a:endParaRPr>
          </a:p>
        </p:txBody>
      </p:sp>
      <p:sp>
        <p:nvSpPr>
          <p:cNvPr id="207" name="Text 197"/>
          <p:cNvSpPr/>
          <p:nvPr/>
        </p:nvSpPr>
        <p:spPr>
          <a:xfrm>
            <a:off x="7653600" y="6318360"/>
            <a:ext cx="1334160" cy="1911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GB" sz="1050" b="1" u="none" strike="noStrike">
                <a:solidFill>
                  <a:srgbClr val="0C1B3C"/>
                </a:solidFill>
                <a:effectLst/>
                <a:uFillTx/>
                <a:latin typeface="Arial"/>
                <a:ea typeface="Arial"/>
              </a:rPr>
              <a:t>Deployment Executor</a:t>
            </a:r>
            <a:endParaRPr lang="en-GB" sz="1050" b="0" u="none" strike="noStrike">
              <a:solidFill>
                <a:srgbClr val="000000"/>
              </a:solidFill>
              <a:effectLst/>
              <a:uFillTx/>
              <a:latin typeface="Arial"/>
            </a:endParaRPr>
          </a:p>
        </p:txBody>
      </p:sp>
      <p:sp>
        <p:nvSpPr>
          <p:cNvPr id="208" name="Text 198"/>
          <p:cNvSpPr/>
          <p:nvPr/>
        </p:nvSpPr>
        <p:spPr>
          <a:xfrm>
            <a:off x="7653600" y="6519600"/>
            <a:ext cx="1041840" cy="163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80" b="0" u="none" strike="noStrike">
                <a:solidFill>
                  <a:srgbClr val="0C1B3C"/>
                </a:solidFill>
                <a:effectLst/>
                <a:uFillTx/>
                <a:latin typeface="Arial"/>
                <a:ea typeface="Arial"/>
              </a:rPr>
              <a:t>(privileged)</a:t>
            </a:r>
            <a:endParaRPr lang="en-GB" sz="980" b="0" u="none" strike="noStrike">
              <a:solidFill>
                <a:srgbClr val="000000"/>
              </a:solidFill>
              <a:effectLst/>
              <a:uFillTx/>
              <a:latin typeface="Arial"/>
            </a:endParaRPr>
          </a:p>
        </p:txBody>
      </p:sp>
      <p:sp>
        <p:nvSpPr>
          <p:cNvPr id="209" name="Text 199"/>
          <p:cNvSpPr/>
          <p:nvPr/>
        </p:nvSpPr>
        <p:spPr>
          <a:xfrm>
            <a:off x="9107280" y="6254640"/>
            <a:ext cx="867960" cy="182160"/>
          </a:xfrm>
          <a:prstGeom prst="rect">
            <a:avLst/>
          </a:prstGeom>
          <a:noFill/>
          <a:ln w="0">
            <a:noFill/>
          </a:ln>
        </p:spPr>
        <p:style>
          <a:lnRef idx="0"/>
          <a:fillRef idx="0"/>
          <a:effectRef idx="0"/>
          <a:fontRef idx="minor"/>
        </p:style>
        <p:txBody>
          <a:bodyPr lIns="0" tIns="0" rIns="0" bIns="0" anchor="ctr" anchorCtr="1">
            <a:normAutofit fontScale="77500" lnSpcReduction="19999"/>
          </a:bodyPr>
          <a:p>
            <a:pPr algn="ctr" defTabSz="914400">
              <a:lnSpc>
                <a:spcPct val="100000"/>
              </a:lnSpc>
              <a:tabLst>
                <a:tab pos="0" algn="l"/>
              </a:tabLst>
            </a:pPr>
            <a:r>
              <a:rPr lang="en-GB" sz="860" b="0" u="none" strike="noStrike">
                <a:solidFill>
                  <a:srgbClr val="0C1B3C"/>
                </a:solidFill>
                <a:effectLst/>
                <a:uFillTx/>
                <a:latin typeface="Arial"/>
                <a:ea typeface="Arial"/>
              </a:rPr>
              <a:t>install / update / </a:t>
            </a:r>
            <a:r>
              <a:rPr lang="en-GB" sz="880" b="0" u="none" strike="noStrike">
                <a:solidFill>
                  <a:srgbClr val="0C1B3C"/>
                </a:solidFill>
                <a:effectLst/>
                <a:uFillTx/>
                <a:latin typeface="Arial"/>
                <a:ea typeface="Arial"/>
              </a:rPr>
              <a:t>rollback</a:t>
            </a:r>
            <a:endParaRPr lang="en-GB" sz="880" b="0" u="none" strike="noStrike">
              <a:solidFill>
                <a:srgbClr val="000000"/>
              </a:solidFill>
              <a:effectLst/>
              <a:uFillTx/>
              <a:latin typeface="Arial"/>
            </a:endParaRPr>
          </a:p>
        </p:txBody>
      </p:sp>
      <p:sp>
        <p:nvSpPr>
          <p:cNvPr id="210" name="Text 200"/>
          <p:cNvSpPr/>
          <p:nvPr/>
        </p:nvSpPr>
        <p:spPr>
          <a:xfrm>
            <a:off x="9272160" y="6446520"/>
            <a:ext cx="602640" cy="154800"/>
          </a:xfrm>
          <a:prstGeom prst="rect">
            <a:avLst/>
          </a:prstGeom>
          <a:noFill/>
          <a:ln w="0">
            <a:noFill/>
          </a:ln>
        </p:spPr>
        <p:style>
          <a:lnRef idx="0"/>
          <a:fillRef idx="0"/>
          <a:effectRef idx="0"/>
          <a:fontRef idx="minor"/>
        </p:style>
        <p:txBody>
          <a:bodyPr lIns="0" tIns="0" rIns="0" bIns="0" anchor="ctr">
            <a:normAutofit fontScale="40000" lnSpcReduction="19999"/>
          </a:bodyPr>
          <a:p>
            <a:endParaRPr lang="en-GB" sz="1800" b="0" u="none" strike="noStrike">
              <a:solidFill>
                <a:srgbClr val="000000"/>
              </a:solidFill>
              <a:effectLst/>
              <a:uFillTx/>
              <a:latin typeface="Arial"/>
            </a:endParaRPr>
          </a:p>
        </p:txBody>
      </p:sp>
      <p:sp>
        <p:nvSpPr>
          <p:cNvPr id="211" name="Text 201"/>
          <p:cNvSpPr/>
          <p:nvPr/>
        </p:nvSpPr>
        <p:spPr>
          <a:xfrm>
            <a:off x="10378440" y="6318360"/>
            <a:ext cx="1352520" cy="182160"/>
          </a:xfrm>
          <a:prstGeom prst="rect">
            <a:avLst/>
          </a:prstGeom>
          <a:noFill/>
          <a:ln w="0">
            <a:noFill/>
          </a:ln>
        </p:spPr>
        <p:style>
          <a:lnRef idx="0"/>
          <a:fillRef idx="0"/>
          <a:effectRef idx="0"/>
          <a:fontRef idx="minor"/>
        </p:style>
        <p:txBody>
          <a:bodyPr lIns="0" tIns="0" rIns="0" bIns="0" anchor="ctr">
            <a:normAutofit fontScale="77500" lnSpcReduction="19999"/>
          </a:bodyPr>
          <a:p>
            <a:pPr defTabSz="914400">
              <a:lnSpc>
                <a:spcPct val="100000"/>
              </a:lnSpc>
              <a:tabLst>
                <a:tab pos="0" algn="l"/>
              </a:tabLst>
            </a:pPr>
            <a:r>
              <a:rPr lang="en-GB" sz="970" b="1" u="none" strike="noStrike">
                <a:solidFill>
                  <a:srgbClr val="0C1B3C"/>
                </a:solidFill>
                <a:effectLst/>
                <a:uFillTx/>
                <a:latin typeface="Arial"/>
                <a:ea typeface="Arial"/>
              </a:rPr>
              <a:t>Installed Platform Services</a:t>
            </a:r>
            <a:endParaRPr lang="en-GB" sz="970" b="0" u="none" strike="noStrike">
              <a:solidFill>
                <a:srgbClr val="000000"/>
              </a:solidFill>
              <a:effectLst/>
              <a:uFillTx/>
              <a:latin typeface="Arial"/>
            </a:endParaRPr>
          </a:p>
        </p:txBody>
      </p:sp>
      <p:sp>
        <p:nvSpPr>
          <p:cNvPr id="212" name="Text 202"/>
          <p:cNvSpPr/>
          <p:nvPr/>
        </p:nvSpPr>
        <p:spPr>
          <a:xfrm>
            <a:off x="10387440" y="6501240"/>
            <a:ext cx="1325160" cy="154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50" b="1" u="none" strike="noStrike">
                <a:solidFill>
                  <a:srgbClr val="0C1B3C"/>
                </a:solidFill>
                <a:effectLst/>
                <a:uFillTx/>
                <a:latin typeface="Arial"/>
                <a:ea typeface="Arial"/>
              </a:rPr>
              <a:t>/ Release Directories</a:t>
            </a:r>
            <a:endParaRPr lang="en-GB" sz="950" b="0" u="none" strike="noStrike">
              <a:solidFill>
                <a:srgbClr val="000000"/>
              </a:solidFill>
              <a:effectLst/>
              <a:uFillTx/>
              <a:latin typeface="Arial"/>
            </a:endParaRPr>
          </a:p>
        </p:txBody>
      </p:sp>
      <p:sp>
        <p:nvSpPr>
          <p:cNvPr id="213" name="Text 203"/>
          <p:cNvSpPr/>
          <p:nvPr/>
        </p:nvSpPr>
        <p:spPr>
          <a:xfrm>
            <a:off x="10387440" y="6660000"/>
            <a:ext cx="592200" cy="178920"/>
          </a:xfrm>
          <a:prstGeom prst="rect">
            <a:avLst/>
          </a:prstGeom>
          <a:noFill/>
          <a:ln w="0">
            <a:noFill/>
          </a:ln>
        </p:spPr>
        <p:style>
          <a:lnRef idx="0"/>
          <a:fillRef idx="0"/>
          <a:effectRef idx="0"/>
          <a:fontRef idx="minor"/>
        </p:style>
        <p:txBody>
          <a:bodyPr lIns="0" tIns="0" rIns="0" bIns="0" anchor="ctr" anchorCtr="1">
            <a:normAutofit/>
          </a:bodyPr>
          <a:p>
            <a:pPr algn="ctr" defTabSz="914400">
              <a:lnSpc>
                <a:spcPct val="100000"/>
              </a:lnSpc>
              <a:tabLst>
                <a:tab pos="0" algn="l"/>
              </a:tabLst>
            </a:pPr>
            <a:r>
              <a:rPr lang="en-GB" sz="960" b="0" u="none" strike="noStrike">
                <a:solidFill>
                  <a:srgbClr val="4E6588"/>
                </a:solidFill>
                <a:effectLst/>
                <a:uFillTx/>
                <a:latin typeface="Arial"/>
                <a:ea typeface="Arial"/>
              </a:rPr>
              <a:t>systemd</a:t>
            </a:r>
            <a:endParaRPr lang="en-GB" sz="960" b="0" u="none" strike="noStrike">
              <a:solidFill>
                <a:srgbClr val="000000"/>
              </a:solidFill>
              <a:effectLst/>
              <a:uFillTx/>
              <a:latin typeface="Arial"/>
            </a:endParaRPr>
          </a:p>
        </p:txBody>
      </p:sp>
      <p:sp>
        <p:nvSpPr>
          <p:cNvPr id="214" name="Text 204"/>
          <p:cNvSpPr/>
          <p:nvPr/>
        </p:nvSpPr>
        <p:spPr>
          <a:xfrm>
            <a:off x="5730480" y="7020000"/>
            <a:ext cx="749160" cy="239760"/>
          </a:xfrm>
          <a:prstGeom prst="rect">
            <a:avLst/>
          </a:prstGeom>
          <a:noFill/>
          <a:ln w="0">
            <a:noFill/>
          </a:ln>
        </p:spPr>
        <p:style>
          <a:lnRef idx="0"/>
          <a:fillRef idx="0"/>
          <a:effectRef idx="0"/>
          <a:fontRef idx="minor"/>
        </p:style>
        <p:txBody>
          <a:bodyPr lIns="0" tIns="0" rIns="0" bIns="0" anchor="ctr">
            <a:normAutofit fontScale="70000" lnSpcReduction="19999"/>
          </a:bodyPr>
          <a:p>
            <a:pPr defTabSz="914400">
              <a:lnSpc>
                <a:spcPct val="100000"/>
              </a:lnSpc>
              <a:tabLst>
                <a:tab pos="0" algn="l"/>
              </a:tabLst>
            </a:pPr>
            <a:r>
              <a:rPr lang="en-GB" sz="1020" b="0" u="none" strike="noStrike">
                <a:solidFill>
                  <a:srgbClr val="0C1B3C"/>
                </a:solidFill>
                <a:effectLst/>
                <a:uFillTx/>
                <a:latin typeface="Arial"/>
                <a:ea typeface="Arial"/>
              </a:rPr>
              <a:t>Updater </a:t>
            </a:r>
            <a:r>
              <a:rPr lang="en-GB" sz="1010" b="0" u="none" strike="noStrike">
                <a:solidFill>
                  <a:srgbClr val="0C1B3C"/>
                </a:solidFill>
                <a:effectLst/>
                <a:uFillTx/>
                <a:latin typeface="Arial"/>
                <a:ea typeface="Arial"/>
              </a:rPr>
              <a:t>Operation Files </a:t>
            </a:r>
            <a:r>
              <a:rPr lang="en-GB" sz="970" b="0" u="none" strike="noStrike">
                <a:solidFill>
                  <a:srgbClr val="0C1B3C"/>
                </a:solidFill>
                <a:effectLst/>
                <a:uFillTx/>
                <a:latin typeface="Arial"/>
                <a:ea typeface="Arial"/>
              </a:rPr>
              <a:t>(JSON)</a:t>
            </a:r>
            <a:endParaRPr lang="en-GB" sz="970" b="0" u="none" strike="noStrike">
              <a:solidFill>
                <a:srgbClr val="000000"/>
              </a:solidFill>
              <a:effectLst/>
              <a:uFillTx/>
              <a:latin typeface="Arial"/>
            </a:endParaRPr>
          </a:p>
        </p:txBody>
      </p:sp>
      <p:sp>
        <p:nvSpPr>
          <p:cNvPr id="215" name="Text 205"/>
          <p:cNvSpPr/>
          <p:nvPr/>
        </p:nvSpPr>
        <p:spPr>
          <a:xfrm>
            <a:off x="5751720" y="7104960"/>
            <a:ext cx="986760" cy="154800"/>
          </a:xfrm>
          <a:prstGeom prst="rect">
            <a:avLst/>
          </a:prstGeom>
          <a:noFill/>
          <a:ln w="0">
            <a:noFill/>
          </a:ln>
        </p:spPr>
        <p:style>
          <a:lnRef idx="0"/>
          <a:fillRef idx="0"/>
          <a:effectRef idx="0"/>
          <a:fontRef idx="minor"/>
        </p:style>
        <p:txBody>
          <a:bodyPr lIns="0" tIns="0" rIns="0" bIns="0" anchor="ctr">
            <a:normAutofit fontScale="40000" lnSpcReduction="19999"/>
          </a:bodyPr>
          <a:p>
            <a:endParaRPr lang="en-GB" sz="1800" b="0" u="none" strike="noStrike">
              <a:solidFill>
                <a:srgbClr val="000000"/>
              </a:solidFill>
              <a:effectLst/>
              <a:uFillTx/>
              <a:latin typeface="Arial"/>
            </a:endParaRPr>
          </a:p>
        </p:txBody>
      </p:sp>
      <p:sp>
        <p:nvSpPr>
          <p:cNvPr id="216" name="Text 206"/>
          <p:cNvSpPr/>
          <p:nvPr/>
        </p:nvSpPr>
        <p:spPr>
          <a:xfrm>
            <a:off x="5751720" y="7269480"/>
            <a:ext cx="803880" cy="145440"/>
          </a:xfrm>
          <a:prstGeom prst="rect">
            <a:avLst/>
          </a:prstGeom>
          <a:noFill/>
          <a:ln w="0">
            <a:noFill/>
          </a:ln>
        </p:spPr>
        <p:style>
          <a:lnRef idx="0"/>
          <a:fillRef idx="0"/>
          <a:effectRef idx="0"/>
          <a:fontRef idx="minor"/>
        </p:style>
        <p:txBody>
          <a:bodyPr lIns="0" tIns="0" rIns="0" bIns="0" anchor="ctr">
            <a:normAutofit fontScale="32500" lnSpcReduction="19999"/>
          </a:bodyPr>
          <a:p>
            <a:endParaRPr lang="en-GB" sz="1800" b="0" u="none" strike="noStrike">
              <a:solidFill>
                <a:srgbClr val="000000"/>
              </a:solidFill>
              <a:effectLst/>
              <a:uFillTx/>
              <a:latin typeface="Arial"/>
            </a:endParaRPr>
          </a:p>
        </p:txBody>
      </p:sp>
      <p:sp>
        <p:nvSpPr>
          <p:cNvPr id="217" name="Text 207"/>
          <p:cNvSpPr/>
          <p:nvPr/>
        </p:nvSpPr>
        <p:spPr>
          <a:xfrm>
            <a:off x="8110800" y="6995160"/>
            <a:ext cx="1248840" cy="204480"/>
          </a:xfrm>
          <a:prstGeom prst="rect">
            <a:avLst/>
          </a:prstGeom>
          <a:noFill/>
          <a:ln w="0">
            <a:noFill/>
          </a:ln>
        </p:spPr>
        <p:style>
          <a:lnRef idx="0"/>
          <a:fillRef idx="0"/>
          <a:effectRef idx="0"/>
          <a:fontRef idx="minor"/>
        </p:style>
        <p:txBody>
          <a:bodyPr lIns="0" tIns="0" rIns="0" bIns="0" anchor="ctr">
            <a:normAutofit fontScale="85000" lnSpcReduction="19999"/>
          </a:bodyPr>
          <a:p>
            <a:pPr defTabSz="914400">
              <a:lnSpc>
                <a:spcPct val="100000"/>
              </a:lnSpc>
              <a:tabLst>
                <a:tab pos="0" algn="l"/>
              </a:tabLst>
            </a:pPr>
            <a:r>
              <a:rPr lang="en-GB" sz="950" b="0" u="none" strike="noStrike">
                <a:solidFill>
                  <a:srgbClr val="0C1B3C"/>
                </a:solidFill>
                <a:effectLst/>
                <a:uFillTx/>
                <a:latin typeface="Arial"/>
                <a:ea typeface="Arial"/>
              </a:rPr>
              <a:t>Deployment Transactions / staging</a:t>
            </a:r>
            <a:endParaRPr lang="en-GB" sz="950" b="0" u="none" strike="noStrike">
              <a:solidFill>
                <a:srgbClr val="000000"/>
              </a:solidFill>
              <a:effectLst/>
              <a:uFillTx/>
              <a:latin typeface="Arial"/>
            </a:endParaRPr>
          </a:p>
        </p:txBody>
      </p:sp>
      <p:sp>
        <p:nvSpPr>
          <p:cNvPr id="218" name="Text 208"/>
          <p:cNvSpPr/>
          <p:nvPr/>
        </p:nvSpPr>
        <p:spPr>
          <a:xfrm>
            <a:off x="8110800" y="7169040"/>
            <a:ext cx="1142280" cy="173160"/>
          </a:xfrm>
          <a:prstGeom prst="rect">
            <a:avLst/>
          </a:prstGeom>
          <a:noFill/>
          <a:ln w="0">
            <a:noFill/>
          </a:ln>
        </p:spPr>
        <p:style>
          <a:lnRef idx="0"/>
          <a:fillRef idx="0"/>
          <a:effectRef idx="0"/>
          <a:fontRef idx="minor"/>
        </p:style>
        <p:txBody>
          <a:bodyPr lIns="0" tIns="0" rIns="0" bIns="0" anchor="ctr">
            <a:normAutofit fontScale="47500" lnSpcReduction="19999"/>
          </a:bodyPr>
          <a:p>
            <a:endParaRPr lang="en-GB" sz="1800" b="0" u="none" strike="noStrike">
              <a:solidFill>
                <a:srgbClr val="000000"/>
              </a:solidFill>
              <a:effectLst/>
              <a:uFillTx/>
              <a:latin typeface="Arial"/>
            </a:endParaRPr>
          </a:p>
        </p:txBody>
      </p:sp>
      <p:sp>
        <p:nvSpPr>
          <p:cNvPr id="219" name="Shape 209"/>
          <p:cNvSpPr/>
          <p:nvPr/>
        </p:nvSpPr>
        <p:spPr>
          <a:xfrm>
            <a:off x="356400" y="8046720"/>
            <a:ext cx="475560" cy="720"/>
          </a:xfrm>
          <a:prstGeom prst="line">
            <a:avLst/>
          </a:prstGeom>
          <a:ln w="19050">
            <a:solidFill>
              <a:srgbClr val="1265CF"/>
            </a:solidFill>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220" name="Text 210"/>
          <p:cNvSpPr/>
          <p:nvPr/>
        </p:nvSpPr>
        <p:spPr>
          <a:xfrm>
            <a:off x="996840" y="7964280"/>
            <a:ext cx="1370880" cy="191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39" b="0" u="none" strike="noStrike">
                <a:solidFill>
                  <a:srgbClr val="4E6588"/>
                </a:solidFill>
                <a:effectLst/>
                <a:uFillTx/>
                <a:latin typeface="Arial"/>
                <a:ea typeface="Arial"/>
              </a:rPr>
              <a:t>HTTP/HTTPS (REST)</a:t>
            </a:r>
            <a:endParaRPr lang="en-GB" sz="939" b="0" u="none" strike="noStrike">
              <a:solidFill>
                <a:srgbClr val="000000"/>
              </a:solidFill>
              <a:effectLst/>
              <a:uFillTx/>
              <a:latin typeface="Arial"/>
            </a:endParaRPr>
          </a:p>
        </p:txBody>
      </p:sp>
      <p:sp>
        <p:nvSpPr>
          <p:cNvPr id="221" name="Shape 211"/>
          <p:cNvSpPr/>
          <p:nvPr/>
        </p:nvSpPr>
        <p:spPr>
          <a:xfrm>
            <a:off x="2395440" y="8046720"/>
            <a:ext cx="475560" cy="720"/>
          </a:xfrm>
          <a:prstGeom prst="line">
            <a:avLst/>
          </a:prstGeom>
          <a:ln w="19050">
            <a:solidFill>
              <a:srgbClr val="008FCA"/>
            </a:solidFill>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222" name="Text 212"/>
          <p:cNvSpPr/>
          <p:nvPr/>
        </p:nvSpPr>
        <p:spPr>
          <a:xfrm>
            <a:off x="3035880" y="7964280"/>
            <a:ext cx="1370880" cy="191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39" b="0" u="none" strike="noStrike">
                <a:solidFill>
                  <a:srgbClr val="4E6588"/>
                </a:solidFill>
                <a:effectLst/>
                <a:uFillTx/>
                <a:latin typeface="Arial"/>
                <a:ea typeface="Arial"/>
              </a:rPr>
              <a:t>gRPC</a:t>
            </a:r>
            <a:endParaRPr lang="en-GB" sz="939" b="0" u="none" strike="noStrike">
              <a:solidFill>
                <a:srgbClr val="000000"/>
              </a:solidFill>
              <a:effectLst/>
              <a:uFillTx/>
              <a:latin typeface="Arial"/>
            </a:endParaRPr>
          </a:p>
        </p:txBody>
      </p:sp>
      <p:sp>
        <p:nvSpPr>
          <p:cNvPr id="223" name="Shape 213"/>
          <p:cNvSpPr/>
          <p:nvPr/>
        </p:nvSpPr>
        <p:spPr>
          <a:xfrm>
            <a:off x="3657600" y="8046720"/>
            <a:ext cx="475200" cy="720"/>
          </a:xfrm>
          <a:prstGeom prst="line">
            <a:avLst/>
          </a:prstGeom>
          <a:ln w="19050">
            <a:solidFill>
              <a:srgbClr val="9D64F4"/>
            </a:solidFill>
            <a:prstDash val="dash"/>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224" name="Text 214"/>
          <p:cNvSpPr/>
          <p:nvPr/>
        </p:nvSpPr>
        <p:spPr>
          <a:xfrm>
            <a:off x="4297680" y="7964280"/>
            <a:ext cx="1370880" cy="191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39" b="0" u="none" strike="noStrike">
                <a:solidFill>
                  <a:srgbClr val="4E6588"/>
                </a:solidFill>
                <a:effectLst/>
                <a:uFillTx/>
                <a:latin typeface="Arial"/>
                <a:ea typeface="Arial"/>
              </a:rPr>
              <a:t>External connection</a:t>
            </a:r>
            <a:endParaRPr lang="en-GB" sz="939" b="0" u="none" strike="noStrike">
              <a:solidFill>
                <a:srgbClr val="000000"/>
              </a:solidFill>
              <a:effectLst/>
              <a:uFillTx/>
              <a:latin typeface="Arial"/>
            </a:endParaRPr>
          </a:p>
        </p:txBody>
      </p:sp>
      <p:sp>
        <p:nvSpPr>
          <p:cNvPr id="225" name="Shape 215"/>
          <p:cNvSpPr/>
          <p:nvPr/>
        </p:nvSpPr>
        <p:spPr>
          <a:xfrm>
            <a:off x="5797080" y="8046720"/>
            <a:ext cx="475560" cy="720"/>
          </a:xfrm>
          <a:prstGeom prst="line">
            <a:avLst/>
          </a:prstGeom>
          <a:ln w="19050">
            <a:solidFill>
              <a:srgbClr val="107E36"/>
            </a:solidFill>
            <a:prstDash val="dash"/>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226" name="Text 216"/>
          <p:cNvSpPr/>
          <p:nvPr/>
        </p:nvSpPr>
        <p:spPr>
          <a:xfrm>
            <a:off x="6437520" y="7964280"/>
            <a:ext cx="1370880" cy="1911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GB" sz="939" b="0" u="none" strike="noStrike">
                <a:solidFill>
                  <a:srgbClr val="4E6588"/>
                </a:solidFill>
                <a:effectLst/>
                <a:uFillTx/>
                <a:latin typeface="Arial"/>
                <a:ea typeface="Arial"/>
              </a:rPr>
              <a:t>File deployment / shared files</a:t>
            </a:r>
            <a:endParaRPr lang="en-GB" sz="939" b="0" u="none" strike="noStrike">
              <a:solidFill>
                <a:srgbClr val="000000"/>
              </a:solidFill>
              <a:effectLst/>
              <a:uFillTx/>
              <a:latin typeface="Arial"/>
            </a:endParaRPr>
          </a:p>
        </p:txBody>
      </p:sp>
      <p:sp>
        <p:nvSpPr>
          <p:cNvPr id="227" name="Shape 217"/>
          <p:cNvSpPr/>
          <p:nvPr/>
        </p:nvSpPr>
        <p:spPr>
          <a:xfrm>
            <a:off x="8768880" y="8046720"/>
            <a:ext cx="475560" cy="720"/>
          </a:xfrm>
          <a:prstGeom prst="line">
            <a:avLst/>
          </a:prstGeom>
          <a:ln w="19050">
            <a:solidFill>
              <a:srgbClr val="25252B"/>
            </a:solidFill>
            <a:round/>
            <a:tailEnd len="med" type="triangle" w="me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228" name="Text 218"/>
          <p:cNvSpPr/>
          <p:nvPr/>
        </p:nvSpPr>
        <p:spPr>
          <a:xfrm>
            <a:off x="9409320" y="7964280"/>
            <a:ext cx="1370880" cy="191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39" b="0" u="none" strike="noStrike">
                <a:solidFill>
                  <a:srgbClr val="4E6588"/>
                </a:solidFill>
                <a:effectLst/>
                <a:uFillTx/>
                <a:latin typeface="Arial"/>
                <a:ea typeface="Arial"/>
              </a:rPr>
              <a:t>Local file access</a:t>
            </a:r>
            <a:endParaRPr lang="en-GB" sz="939" b="0" u="none" strike="noStrike">
              <a:solidFill>
                <a:srgbClr val="000000"/>
              </a:solidFill>
              <a:effectLst/>
              <a:uFillTx/>
              <a:latin typeface="Arial"/>
            </a:endParaRPr>
          </a:p>
        </p:txBody>
      </p:sp>
      <p:sp>
        <p:nvSpPr>
          <p:cNvPr id="229" name="Shape 219"/>
          <p:cNvSpPr/>
          <p:nvPr/>
        </p:nvSpPr>
        <p:spPr>
          <a:xfrm>
            <a:off x="10881360" y="7863840"/>
            <a:ext cx="365040" cy="356040"/>
          </a:xfrm>
          <a:prstGeom prst="can">
            <a:avLst>
              <a:gd name="adj" fmla="val 25000"/>
            </a:avLst>
          </a:prstGeom>
          <a:solidFill>
            <a:srgbClr val="F1E6FD"/>
          </a:solidFill>
          <a:ln w="12700">
            <a:solidFill>
              <a:srgbClr val="9F6AFD"/>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30" name="Text 220"/>
          <p:cNvSpPr/>
          <p:nvPr/>
        </p:nvSpPr>
        <p:spPr>
          <a:xfrm>
            <a:off x="11384280" y="7863840"/>
            <a:ext cx="1288440" cy="14544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GB" sz="970" b="0" u="none" strike="noStrike">
                <a:solidFill>
                  <a:srgbClr val="4E6588"/>
                </a:solidFill>
                <a:effectLst/>
                <a:uFillTx/>
                <a:latin typeface="Arial"/>
                <a:ea typeface="Arial"/>
              </a:rPr>
              <a:t>Database</a:t>
            </a:r>
            <a:endParaRPr lang="en-GB" sz="970" b="0" u="none" strike="noStrike">
              <a:solidFill>
                <a:srgbClr val="000000"/>
              </a:solidFill>
              <a:effectLst/>
              <a:uFillTx/>
              <a:latin typeface="Arial"/>
            </a:endParaRPr>
          </a:p>
        </p:txBody>
      </p:sp>
      <p:sp>
        <p:nvSpPr>
          <p:cNvPr id="231" name="Text 221"/>
          <p:cNvSpPr/>
          <p:nvPr/>
        </p:nvSpPr>
        <p:spPr>
          <a:xfrm>
            <a:off x="11384280" y="8019360"/>
            <a:ext cx="1343520" cy="191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50" b="0" u="none" strike="noStrike">
                <a:solidFill>
                  <a:srgbClr val="4E6588"/>
                </a:solidFill>
                <a:effectLst/>
                <a:uFillTx/>
                <a:latin typeface="Arial"/>
                <a:ea typeface="Arial"/>
              </a:rPr>
              <a:t>(SQLite / PostgreSQL)</a:t>
            </a:r>
            <a:endParaRPr lang="en-GB" sz="950" b="0" u="none" strike="noStrike">
              <a:solidFill>
                <a:srgbClr val="000000"/>
              </a:solidFill>
              <a:effectLst/>
              <a:uFillTx/>
              <a:latin typeface="Arial"/>
            </a:endParaRPr>
          </a:p>
        </p:txBody>
      </p:sp>
      <p:sp>
        <p:nvSpPr>
          <p:cNvPr id="232" name="Shape 222"/>
          <p:cNvSpPr/>
          <p:nvPr/>
        </p:nvSpPr>
        <p:spPr>
          <a:xfrm>
            <a:off x="13103280" y="7973640"/>
            <a:ext cx="356040" cy="236880"/>
          </a:xfrm>
          <a:prstGeom prst="roundRect">
            <a:avLst>
              <a:gd name="adj" fmla="val 16667"/>
            </a:avLst>
          </a:prstGeom>
          <a:solidFill>
            <a:srgbClr val="FFEAA7"/>
          </a:solidFill>
          <a:ln w="16510">
            <a:solidFill>
              <a:srgbClr val="786025"/>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33" name="Shape 223"/>
          <p:cNvSpPr/>
          <p:nvPr/>
        </p:nvSpPr>
        <p:spPr>
          <a:xfrm>
            <a:off x="13112640" y="7936920"/>
            <a:ext cx="154800" cy="90720"/>
          </a:xfrm>
          <a:prstGeom prst="roundRect">
            <a:avLst>
              <a:gd name="adj" fmla="val 16667"/>
            </a:avLst>
          </a:prstGeom>
          <a:solidFill>
            <a:srgbClr val="FFEAA7"/>
          </a:solidFill>
          <a:ln w="12700">
            <a:solidFill>
              <a:srgbClr val="786025"/>
            </a:solidFill>
            <a:round/>
          </a:ln>
        </p:spPr>
        <p:style>
          <a:lnRef idx="0"/>
          <a:fillRef idx="0"/>
          <a:effectRef idx="0"/>
          <a:fontRef idx="minor"/>
        </p:style>
        <p:txBody>
          <a:bodyPr lIns="77400" tIns="37440" rIns="77400" bIns="37440" anchor="t">
            <a:noAutofit/>
          </a:bodyPr>
          <a:p>
            <a:endParaRPr lang="en-GB" sz="1800" b="0" u="none" strike="noStrike">
              <a:solidFill>
                <a:srgbClr val="000000"/>
              </a:solidFill>
              <a:effectLst/>
              <a:uFillTx/>
              <a:latin typeface="Arial"/>
            </a:endParaRPr>
          </a:p>
        </p:txBody>
      </p:sp>
      <p:sp>
        <p:nvSpPr>
          <p:cNvPr id="234" name="Text 224"/>
          <p:cNvSpPr/>
          <p:nvPr/>
        </p:nvSpPr>
        <p:spPr>
          <a:xfrm>
            <a:off x="13606200" y="7872840"/>
            <a:ext cx="1151280" cy="173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80" b="0" u="none" strike="noStrike">
                <a:solidFill>
                  <a:srgbClr val="4E6588"/>
                </a:solidFill>
                <a:effectLst/>
                <a:uFillTx/>
                <a:latin typeface="Arial"/>
                <a:ea typeface="Arial"/>
              </a:rPr>
              <a:t>File storage</a:t>
            </a:r>
            <a:endParaRPr lang="en-GB" sz="980" b="0" u="none" strike="noStrike">
              <a:solidFill>
                <a:srgbClr val="000000"/>
              </a:solidFill>
              <a:effectLst/>
              <a:uFillTx/>
              <a:latin typeface="Arial"/>
            </a:endParaRPr>
          </a:p>
        </p:txBody>
      </p:sp>
      <p:sp>
        <p:nvSpPr>
          <p:cNvPr id="235" name="Text 225"/>
          <p:cNvSpPr/>
          <p:nvPr/>
        </p:nvSpPr>
        <p:spPr>
          <a:xfrm>
            <a:off x="13606200" y="8037720"/>
            <a:ext cx="1233720" cy="1821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GB" sz="930" b="0" u="none" strike="noStrike">
                <a:solidFill>
                  <a:srgbClr val="4E6588"/>
                </a:solidFill>
                <a:effectLst/>
                <a:uFillTx/>
                <a:latin typeface="Arial"/>
                <a:ea typeface="Arial"/>
              </a:rPr>
              <a:t>(Files / Directories / ZIP)</a:t>
            </a:r>
            <a:endParaRPr lang="en-GB" sz="930" b="0" u="none" strike="noStrike">
              <a:solidFill>
                <a:srgbClr val="000000"/>
              </a:solidFill>
              <a:effectLst/>
              <a:uFillTx/>
              <a:latin typeface="Arial"/>
            </a:endParaRPr>
          </a:p>
        </p:txBody>
      </p:sp>
      <p:pic>
        <p:nvPicPr>
          <p:cNvPr id="236" name=""/>
          <p:cNvPicPr/>
          <p:nvPr/>
        </p:nvPicPr>
        <p:blipFill>
          <a:blip r:embed="rId18"/>
          <a:stretch/>
        </p:blipFill>
        <p:spPr>
          <a:xfrm>
            <a:off x="12959640" y="3615120"/>
            <a:ext cx="360360" cy="360360"/>
          </a:xfrm>
          <a:prstGeom prst="rect">
            <a:avLst/>
          </a:prstGeom>
          <a:noFill/>
          <a:ln w="0">
            <a:noFill/>
          </a:ln>
        </p:spPr>
      </p:pic>
      <p:sp>
        <p:nvSpPr>
          <p:cNvPr id="237" name="Text 196"/>
          <p:cNvSpPr/>
          <p:nvPr/>
        </p:nvSpPr>
        <p:spPr>
          <a:xfrm>
            <a:off x="6446880" y="6464880"/>
            <a:ext cx="794880" cy="163800"/>
          </a:xfrm>
          <a:prstGeom prst="rect">
            <a:avLst/>
          </a:prstGeom>
          <a:noFill/>
          <a:ln w="0">
            <a:noFill/>
          </a:ln>
        </p:spPr>
        <p:style>
          <a:lnRef idx="0"/>
          <a:fillRef idx="0"/>
          <a:effectRef idx="0"/>
          <a:fontRef idx="minor"/>
        </p:style>
        <p:txBody>
          <a:bodyPr lIns="0" tIns="0" rIns="0" bIns="0" anchor="ctr">
            <a:normAutofit fontScale="40000" lnSpcReduction="19999"/>
          </a:bodyPr>
          <a:p>
            <a:endParaRPr lang="en-GB" sz="1800" b="0" u="none" strike="noStrike">
              <a:solidFill>
                <a:srgbClr val="000000"/>
              </a:solidFill>
              <a:effectLst/>
              <a:uFillTx/>
              <a:latin typeface="Arial"/>
            </a:endParaRPr>
          </a:p>
        </p:txBody>
      </p:sp>
      <p:sp>
        <p:nvSpPr>
          <p:cNvPr id="238" name="Shape 34"/>
          <p:cNvSpPr/>
          <p:nvPr/>
        </p:nvSpPr>
        <p:spPr>
          <a:xfrm>
            <a:off x="5039280" y="6839280"/>
            <a:ext cx="720" cy="329040"/>
          </a:xfrm>
          <a:prstGeom prst="line">
            <a:avLst/>
          </a:prstGeom>
          <a:ln w="16510">
            <a:solidFill>
              <a:srgbClr val="23415E"/>
            </a:solidFill>
            <a:roun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239" name="Shape 45"/>
          <p:cNvSpPr/>
          <p:nvPr/>
        </p:nvSpPr>
        <p:spPr>
          <a:xfrm>
            <a:off x="8412480" y="3959280"/>
            <a:ext cx="720" cy="567000"/>
          </a:xfrm>
          <a:prstGeom prst="line">
            <a:avLst/>
          </a:prstGeom>
          <a:ln w="13970">
            <a:solidFill>
              <a:srgbClr val="24262D"/>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240" name="Shape 43"/>
          <p:cNvSpPr/>
          <p:nvPr/>
        </p:nvSpPr>
        <p:spPr>
          <a:xfrm>
            <a:off x="6940080" y="3959280"/>
            <a:ext cx="720" cy="567000"/>
          </a:xfrm>
          <a:prstGeom prst="line">
            <a:avLst/>
          </a:prstGeom>
          <a:ln w="13970">
            <a:solidFill>
              <a:srgbClr val="24262D"/>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241" name="Shape 25"/>
          <p:cNvSpPr/>
          <p:nvPr/>
        </p:nvSpPr>
        <p:spPr>
          <a:xfrm>
            <a:off x="12508560" y="5220000"/>
            <a:ext cx="2071440" cy="1800000"/>
          </a:xfrm>
          <a:prstGeom prst="roundRect">
            <a:avLst>
              <a:gd name="adj" fmla="val 16667"/>
            </a:avLst>
          </a:prstGeom>
          <a:solidFill>
            <a:srgbClr val="FCFAFF"/>
          </a:solidFill>
          <a:ln w="11430">
            <a:solidFill>
              <a:srgbClr val="A987FB"/>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42" name="Shape 62"/>
          <p:cNvSpPr/>
          <p:nvPr/>
        </p:nvSpPr>
        <p:spPr>
          <a:xfrm flipH="1">
            <a:off x="4140000" y="5658120"/>
            <a:ext cx="8368560" cy="1800"/>
          </a:xfrm>
          <a:prstGeom prst="line">
            <a:avLst/>
          </a:prstGeom>
          <a:ln w="13970">
            <a:solidFill>
              <a:srgbClr val="985AF5"/>
            </a:solidFill>
            <a:prstDash val="dash"/>
            <a:round/>
          </a:ln>
        </p:spPr>
        <p:style>
          <a:lnRef idx="0"/>
          <a:fillRef idx="0"/>
          <a:effectRef idx="0"/>
          <a:fontRef idx="minor"/>
        </p:style>
        <p:txBody>
          <a:bodyPr lIns="90000" tIns="-44280" rIns="90000" bIns="-44280" anchor="t" anchorCtr="1">
            <a:noAutofit/>
          </a:bodyPr>
          <a:p>
            <a:endParaRPr lang="en-GB" sz="1800" b="0" u="none" strike="noStrike">
              <a:solidFill>
                <a:srgbClr val="000000"/>
              </a:solidFill>
              <a:effectLst/>
              <a:uFillTx/>
              <a:latin typeface="Arial"/>
            </a:endParaRPr>
          </a:p>
        </p:txBody>
      </p:sp>
      <p:sp>
        <p:nvSpPr>
          <p:cNvPr id="243" name="Shape 69"/>
          <p:cNvSpPr/>
          <p:nvPr/>
        </p:nvSpPr>
        <p:spPr>
          <a:xfrm flipV="1">
            <a:off x="4140000" y="3960000"/>
            <a:ext cx="0" cy="1620000"/>
          </a:xfrm>
          <a:prstGeom prst="line">
            <a:avLst/>
          </a:prstGeom>
          <a:ln w="13970">
            <a:solidFill>
              <a:srgbClr val="985AF5"/>
            </a:solidFill>
            <a:prstDash val="dash"/>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244" name="Shape 70"/>
          <p:cNvSpPr/>
          <p:nvPr/>
        </p:nvSpPr>
        <p:spPr>
          <a:xfrm>
            <a:off x="12600000" y="5400000"/>
            <a:ext cx="1080000" cy="511200"/>
          </a:xfrm>
          <a:prstGeom prst="roundRect">
            <a:avLst>
              <a:gd name="adj" fmla="val 16667"/>
            </a:avLst>
          </a:prstGeom>
          <a:solidFill>
            <a:srgbClr val="FFFFFF"/>
          </a:solidFill>
          <a:ln w="11430">
            <a:solidFill>
              <a:srgbClr val="CCB5FA"/>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245" name="Image 5" descr="preencoded.png"/>
          <p:cNvPicPr/>
          <p:nvPr/>
        </p:nvPicPr>
        <p:blipFill>
          <a:blip r:embed="rId19">
            <a:extLst>
              <a:ext uri="{96DAC541-7B7A-43D3-8B79-37D633B846F1}">
                <asvg:svgBlip xmlns:asvg="http://schemas.microsoft.com/office/drawing/2016/SVG/main" r:embed="rId20"/>
              </a:ext>
            </a:extLst>
          </a:blip>
          <a:stretch/>
        </p:blipFill>
        <p:spPr>
          <a:xfrm>
            <a:off x="12668040" y="5468040"/>
            <a:ext cx="291960" cy="291960"/>
          </a:xfrm>
          <a:prstGeom prst="rect">
            <a:avLst/>
          </a:prstGeom>
          <a:noFill/>
          <a:ln w="0">
            <a:noFill/>
          </a:ln>
        </p:spPr>
      </p:pic>
      <p:sp>
        <p:nvSpPr>
          <p:cNvPr id="246" name="Text 1"/>
          <p:cNvSpPr/>
          <p:nvPr/>
        </p:nvSpPr>
        <p:spPr>
          <a:xfrm>
            <a:off x="12960000" y="5400000"/>
            <a:ext cx="720000" cy="3600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1000" b="1" u="none" strike="noStrike">
                <a:solidFill>
                  <a:srgbClr val="0C1B3C"/>
                </a:solidFill>
                <a:effectLst/>
                <a:uFillTx/>
                <a:latin typeface="Arial"/>
                <a:ea typeface="Arial"/>
              </a:rPr>
              <a:t>SteamCMD</a:t>
            </a:r>
            <a:endParaRPr lang="en-GB" sz="1000" b="0" u="none" strike="noStrike">
              <a:solidFill>
                <a:srgbClr val="000000"/>
              </a:solidFill>
              <a:effectLst/>
              <a:uFillTx/>
              <a:latin typeface="Arial"/>
            </a:endParaRPr>
          </a:p>
        </p:txBody>
      </p:sp>
      <p:sp>
        <p:nvSpPr>
          <p:cNvPr id="247" name="Shape 72"/>
          <p:cNvSpPr/>
          <p:nvPr/>
        </p:nvSpPr>
        <p:spPr>
          <a:xfrm>
            <a:off x="12600000" y="5940000"/>
            <a:ext cx="1764000" cy="941040"/>
          </a:xfrm>
          <a:prstGeom prst="roundRect">
            <a:avLst>
              <a:gd name="adj" fmla="val 16667"/>
            </a:avLst>
          </a:prstGeom>
          <a:solidFill>
            <a:srgbClr val="FBF9FF"/>
          </a:solidFill>
          <a:ln w="12065">
            <a:solidFill>
              <a:srgbClr val="A87FFF"/>
            </a:solidFill>
            <a:round/>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248" name="Image 10" descr="preencoded.png"/>
          <p:cNvPicPr/>
          <p:nvPr/>
        </p:nvPicPr>
        <p:blipFill>
          <a:blip r:embed="rId21">
            <a:extLst>
              <a:ext uri="{96DAC541-7B7A-43D3-8B79-37D633B846F1}">
                <asvg:svgBlip xmlns:asvg="http://schemas.microsoft.com/office/drawing/2016/SVG/main" r:embed="rId22"/>
              </a:ext>
            </a:extLst>
          </a:blip>
          <a:stretch/>
        </p:blipFill>
        <p:spPr>
          <a:xfrm>
            <a:off x="12737160" y="6251040"/>
            <a:ext cx="365040" cy="356040"/>
          </a:xfrm>
          <a:prstGeom prst="rect">
            <a:avLst/>
          </a:prstGeom>
          <a:noFill/>
          <a:ln w="0">
            <a:noFill/>
          </a:ln>
        </p:spPr>
      </p:pic>
      <p:sp>
        <p:nvSpPr>
          <p:cNvPr id="249" name="Text 2"/>
          <p:cNvSpPr/>
          <p:nvPr/>
        </p:nvSpPr>
        <p:spPr>
          <a:xfrm>
            <a:off x="12728160" y="6040800"/>
            <a:ext cx="1553760" cy="191160"/>
          </a:xfrm>
          <a:prstGeom prst="rect">
            <a:avLst/>
          </a:prstGeom>
          <a:noFill/>
          <a:ln w="0">
            <a:noFill/>
          </a:ln>
        </p:spPr>
        <p:style>
          <a:lnRef idx="0"/>
          <a:fillRef idx="0"/>
          <a:effectRef idx="0"/>
          <a:fontRef idx="minor"/>
        </p:style>
        <p:txBody>
          <a:bodyPr lIns="0" tIns="0" rIns="0" bIns="0" anchor="ctr">
            <a:normAutofit fontScale="77500" lnSpcReduction="19999"/>
          </a:bodyPr>
          <a:p>
            <a:pPr defTabSz="914400">
              <a:lnSpc>
                <a:spcPct val="100000"/>
              </a:lnSpc>
              <a:spcBef>
                <a:spcPts val="1191"/>
              </a:spcBef>
              <a:spcAft>
                <a:spcPts val="992"/>
              </a:spcAft>
              <a:tabLst>
                <a:tab pos="0" algn="l"/>
              </a:tabLst>
            </a:pPr>
            <a:r>
              <a:rPr lang="en-GB" sz="1160" b="1" u="none" strike="noStrike">
                <a:solidFill>
                  <a:srgbClr val="0C1B3C"/>
                </a:solidFill>
                <a:effectLst/>
                <a:uFillTx/>
                <a:latin typeface="Arial"/>
                <a:ea typeface="Arial"/>
                <a:hlinkClick r:id="rId23"/>
              </a:rPr>
              <a:t>Oxide.Rust</a:t>
            </a:r>
            <a:r>
              <a:rPr lang="en-GB" sz="1160" b="1" u="none" strike="noStrike">
                <a:solidFill>
                  <a:srgbClr val="0C1B3C"/>
                </a:solidFill>
                <a:effectLst/>
                <a:uFillTx/>
                <a:latin typeface="Arial"/>
                <a:ea typeface="Arial"/>
              </a:rPr>
              <a:t> Git Repositories</a:t>
            </a:r>
            <a:endParaRPr lang="en-GB" sz="1160" b="0" u="none" strike="noStrike">
              <a:solidFill>
                <a:srgbClr val="000000"/>
              </a:solidFill>
              <a:effectLst/>
              <a:uFillTx/>
              <a:latin typeface="Arial"/>
            </a:endParaRPr>
          </a:p>
        </p:txBody>
      </p:sp>
      <p:sp>
        <p:nvSpPr>
          <p:cNvPr id="250" name="Text 3"/>
          <p:cNvSpPr/>
          <p:nvPr/>
        </p:nvSpPr>
        <p:spPr>
          <a:xfrm>
            <a:off x="12728160" y="6644160"/>
            <a:ext cx="1508040" cy="173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spcBef>
                <a:spcPts val="1191"/>
              </a:spcBef>
              <a:spcAft>
                <a:spcPts val="992"/>
              </a:spcAft>
              <a:tabLst>
                <a:tab pos="0" algn="l"/>
              </a:tabLst>
            </a:pPr>
            <a:r>
              <a:rPr lang="en-GB" sz="1010" b="0" u="none" strike="noStrike">
                <a:solidFill>
                  <a:srgbClr val="4E6588"/>
                </a:solidFill>
                <a:effectLst/>
                <a:uFillTx/>
                <a:latin typeface="Arial"/>
                <a:ea typeface="Arial"/>
              </a:rPr>
              <a:t>plugin framework for .NET </a:t>
            </a:r>
            <a:endParaRPr lang="en-GB" sz="1010" b="0" u="none" strike="noStrike">
              <a:solidFill>
                <a:srgbClr val="000000"/>
              </a:solidFill>
              <a:effectLst/>
              <a:uFillTx/>
              <a:latin typeface="Arial"/>
            </a:endParaRPr>
          </a:p>
        </p:txBody>
      </p:sp>
      <p:sp>
        <p:nvSpPr>
          <p:cNvPr id="251" name="Text 4"/>
          <p:cNvSpPr/>
          <p:nvPr/>
        </p:nvSpPr>
        <p:spPr>
          <a:xfrm>
            <a:off x="12015720" y="3420360"/>
            <a:ext cx="721800" cy="3596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GB" sz="970" b="0" u="none" strike="noStrike">
                <a:solidFill>
                  <a:srgbClr val="0C1B3C"/>
                </a:solidFill>
                <a:effectLst/>
                <a:highlight>
                  <a:srgbClr val="FFFFFF"/>
                </a:highlight>
                <a:uFillTx/>
                <a:latin typeface="Arial"/>
                <a:ea typeface="Arial"/>
              </a:rPr>
              <a:t>WebRCON / WebSocket</a:t>
            </a:r>
            <a:endParaRPr lang="en-GB" sz="970" b="0" u="none" strike="noStrike">
              <a:solidFill>
                <a:srgbClr val="000000"/>
              </a:solidFill>
              <a:effectLst/>
              <a:uFillTx/>
              <a:latin typeface="Arial"/>
            </a:endParaRPr>
          </a:p>
        </p:txBody>
      </p:sp>
      <p:sp>
        <p:nvSpPr>
          <p:cNvPr id="252" name="Text 5"/>
          <p:cNvSpPr/>
          <p:nvPr/>
        </p:nvSpPr>
        <p:spPr>
          <a:xfrm>
            <a:off x="11520000" y="5220360"/>
            <a:ext cx="721800" cy="3596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GB" sz="970" b="0" u="none" strike="noStrike">
                <a:solidFill>
                  <a:srgbClr val="0C1B3C"/>
                </a:solidFill>
                <a:effectLst/>
                <a:highlight>
                  <a:srgbClr val="FFFFFF"/>
                </a:highlight>
                <a:uFillTx/>
                <a:latin typeface="Arial"/>
                <a:ea typeface="Arial"/>
              </a:rPr>
              <a:t> WebSocket / Git</a:t>
            </a:r>
            <a:endParaRPr lang="en-GB" sz="970" b="0" u="none" strike="noStrike">
              <a:solidFill>
                <a:srgbClr val="000000"/>
              </a:solidFill>
              <a:effectLst/>
              <a:uFillTx/>
              <a:latin typeface="Arial"/>
            </a:endParaRPr>
          </a:p>
        </p:txBody>
      </p:sp>
      <p:sp>
        <p:nvSpPr>
          <p:cNvPr id="253" name="Shape 46"/>
          <p:cNvSpPr/>
          <p:nvPr/>
        </p:nvSpPr>
        <p:spPr>
          <a:xfrm>
            <a:off x="8138160" y="5129640"/>
            <a:ext cx="720" cy="237600"/>
          </a:xfrm>
          <a:prstGeom prst="line">
            <a:avLst/>
          </a:prstGeom>
          <a:ln w="13970">
            <a:solidFill>
              <a:srgbClr val="24262D"/>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
        <p:nvSpPr>
          <p:cNvPr id="254" name="Shape 44"/>
          <p:cNvSpPr/>
          <p:nvPr/>
        </p:nvSpPr>
        <p:spPr>
          <a:xfrm>
            <a:off x="6729840" y="5120640"/>
            <a:ext cx="720" cy="228600"/>
          </a:xfrm>
          <a:prstGeom prst="line">
            <a:avLst/>
          </a:prstGeom>
          <a:ln w="13970">
            <a:solidFill>
              <a:srgbClr val="24262D"/>
            </a:solidFill>
            <a:round/>
            <a:tailEnd len="med" type="triangle" w="med"/>
          </a:ln>
        </p:spPr>
        <p:style>
          <a:lnRef idx="0"/>
          <a:fillRef idx="0"/>
          <a:effectRef idx="0"/>
          <a:fontRef idx="minor"/>
        </p:style>
        <p:txBody>
          <a:bodyPr lIns="360" tIns="45000" rIns="360" bIns="45000" anchor="t" anchorCtr="1">
            <a:noAutofit/>
          </a:bodyPr>
          <a:p>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TotalTime>
  <Application>LibreOffice/26.2.6.3$Windows_X86_64 LibreOffice_project/8221e31b3ac356a1623c672912a3d2b492f7e3d1</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2026-10-21T12:29:07Z</dcterms:created>
  <dc:creator>RustServer Platform</dc:creator>
  <dc:description/>
  <dc:language>pl-PL</dc:language>
  <cp:lastModifiedBy/>
  <dcterms:modified xsi:type="dcterms:W3CDTF">2026-10-21T15:59:23Z</dcterms:modified>
  <cp:revision>4</cp:revision>
  <dc:subject>Editable faithful reconstruction of original system architecture image</dc:subject>
  <dc:title>RustServer Platform — System Architecture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On-screen Show (16:9)</vt:lpwstr>
  </property>
  <property fmtid="{D5CDD505-2E9C-101B-9397-08002B2CF9AE}" pid="4" name="Slides">
    <vt:i4>1</vt:i4>
  </property>
</Properties>
</file>