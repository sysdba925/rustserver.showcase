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-1-1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Relationship Id="rId11" Type="http://schemas.openxmlformats.org/officeDocument/2006/relationships/image" Target="../media/image9.png"/><Relationship Id="rId12" Type="http://schemas.openxmlformats.org/officeDocument/2006/relationships/image" Target="../media/image10.png"/><Relationship Id="rId13" Type="http://schemas.openxmlformats.org/officeDocument/2006/relationships/image" Target="../media/image11.png"/><Relationship Id="rId14" Type="http://schemas.openxmlformats.org/officeDocument/2006/relationships/image" Target="../media/image12.png"/><Relationship Id="rId15" Type="http://schemas.openxmlformats.org/officeDocument/2006/relationships/image" Target="../media/image13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6.png"/><Relationship Id="rId19" Type="http://schemas.openxmlformats.org/officeDocument/2006/relationships/image" Target="../media/image17.png"/><Relationship Id="rId20" Type="http://schemas.openxmlformats.org/officeDocument/2006/relationships/image" Target="../media/image1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png"/><Relationship Id="rId9" Type="http://schemas.openxmlformats.org/officeDocument/2006/relationships/image" Target="../media/image27.png"/><Relationship Id="rId10" Type="http://schemas.openxmlformats.org/officeDocument/2006/relationships/image" Target="../media/image28.png"/><Relationship Id="rId11" Type="http://schemas.openxmlformats.org/officeDocument/2006/relationships/image" Target="../media/image29.png"/><Relationship Id="rId12" Type="http://schemas.openxmlformats.org/officeDocument/2006/relationships/image" Target="../media/image30.png"/><Relationship Id="rId13" Type="http://schemas.openxmlformats.org/officeDocument/2006/relationships/image" Target="../media/image31.png"/><Relationship Id="rId14" Type="http://schemas.openxmlformats.org/officeDocument/2006/relationships/image" Target="../media/image32.png"/><Relationship Id="rId15" Type="http://schemas.openxmlformats.org/officeDocument/2006/relationships/image" Target="../media/image33.png"/><Relationship Id="rId16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0E"/>
          </a:solidFill>
          <a:ln w="12700">
            <a:solidFill>
              <a:srgbClr val="0D100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087368" cy="6858000"/>
          </a:xfrm>
          <a:prstGeom prst="rect">
            <a:avLst/>
          </a:prstGeom>
          <a:solidFill>
            <a:srgbClr val="101512"/>
          </a:solidFill>
          <a:ln w="12700">
            <a:solidFill>
              <a:srgbClr val="101512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78224" y="502920"/>
            <a:ext cx="0" cy="5843016"/>
          </a:xfrm>
          <a:prstGeom prst="line">
            <a:avLst/>
          </a:prstGeom>
          <a:noFill/>
          <a:ln w="12700">
            <a:solidFill>
              <a:srgbClr val="2C342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85216" y="658368"/>
            <a:ext cx="60350" cy="292608"/>
          </a:xfrm>
          <a:prstGeom prst="rect">
            <a:avLst/>
          </a:prstGeom>
          <a:solidFill>
            <a:srgbClr val="9CBC64"/>
          </a:solidFill>
          <a:ln w="12700">
            <a:solidFill>
              <a:srgbClr val="9CBC6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3816" y="657454"/>
            <a:ext cx="295351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90" kern="0" dirty="0">
                <a:solidFill>
                  <a:srgbClr val="9CBC64"/>
                </a:solidFill>
              </a:rPr>
              <a:t>ENGINEERING PROJECT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76072" y="1389888"/>
            <a:ext cx="35844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50" b="1" dirty="0">
                <a:solidFill>
                  <a:srgbClr val="F4F1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RUSTSERVER</a:t>
            </a:r>
            <a:endParaRPr lang="en-US" sz="3250" dirty="0"/>
          </a:p>
        </p:txBody>
      </p:sp>
      <p:sp>
        <p:nvSpPr>
          <p:cNvPr id="8" name="Text 6"/>
          <p:cNvSpPr/>
          <p:nvPr/>
        </p:nvSpPr>
        <p:spPr>
          <a:xfrm>
            <a:off x="576072" y="1947672"/>
            <a:ext cx="3584448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4F1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</a:t>
            </a:r>
            <a:endParaRPr lang="en-US" sz="3800" dirty="0"/>
          </a:p>
        </p:txBody>
      </p:sp>
      <p:sp>
        <p:nvSpPr>
          <p:cNvPr id="9" name="Shape 7"/>
          <p:cNvSpPr/>
          <p:nvPr/>
        </p:nvSpPr>
        <p:spPr>
          <a:xfrm>
            <a:off x="594360" y="2770632"/>
            <a:ext cx="1033272" cy="0"/>
          </a:xfrm>
          <a:prstGeom prst="line">
            <a:avLst/>
          </a:prstGeom>
          <a:noFill/>
          <a:ln w="50800">
            <a:solidFill>
              <a:srgbClr val="D654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3136392"/>
            <a:ext cx="311810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C9CD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Self-hosted administration and deployment platform for Rust Dedicated Server.</a:t>
            </a:r>
            <a:endParaRPr lang="en-US" sz="1820" dirty="0"/>
          </a:p>
        </p:txBody>
      </p:sp>
      <p:sp>
        <p:nvSpPr>
          <p:cNvPr id="11" name="Text 9"/>
          <p:cNvSpPr/>
          <p:nvPr/>
        </p:nvSpPr>
        <p:spPr>
          <a:xfrm>
            <a:off x="594360" y="4736592"/>
            <a:ext cx="341071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70" b="1" spc="110" kern="0" dirty="0">
                <a:solidFill>
                  <a:srgbClr val="B8DA7F"/>
                </a:solidFill>
              </a:rPr>
              <a:t>PLUGINS    •    DEPLOYMENT    •    OPERATIONS</a:t>
            </a:r>
            <a:endParaRPr lang="en-US" sz="1070" dirty="0"/>
          </a:p>
        </p:txBody>
      </p:sp>
      <p:sp>
        <p:nvSpPr>
          <p:cNvPr id="12" name="Shape 10"/>
          <p:cNvSpPr/>
          <p:nvPr/>
        </p:nvSpPr>
        <p:spPr>
          <a:xfrm>
            <a:off x="594360" y="5605272"/>
            <a:ext cx="2990088" cy="0"/>
          </a:xfrm>
          <a:prstGeom prst="line">
            <a:avLst/>
          </a:prstGeom>
          <a:noFill/>
          <a:ln w="12700">
            <a:solidFill>
              <a:srgbClr val="3B43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5806440"/>
            <a:ext cx="32735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29C90"/>
                </a:solidFill>
              </a:rPr>
              <a:t>ASP.NET Core   /   React   /   gRPC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29C90"/>
                </a:solidFill>
              </a:rPr>
              <a:t>PostgreSQL   /   MySQL   /   Docker</a:t>
            </a:r>
            <a:endParaRPr lang="en-US" sz="1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929C90"/>
                </a:solidFill>
              </a:rPr>
              <a:t>Ubuntu Linux   /   Microsoft Azure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343400" y="402336"/>
            <a:ext cx="7434072" cy="3438144"/>
          </a:xfrm>
          <a:prstGeom prst="roundRect">
            <a:avLst>
              <a:gd name="adj" fmla="val 2660"/>
            </a:avLst>
          </a:prstGeom>
          <a:solidFill>
            <a:srgbClr val="111611"/>
          </a:solidFill>
          <a:ln w="12700">
            <a:solidFill>
              <a:srgbClr val="31392F"/>
            </a:solidFill>
            <a:prstDash val="solid"/>
          </a:ln>
        </p:spPr>
      </p:sp>
      <p:pic>
        <p:nvPicPr>
          <p:cNvPr id="15" name="Image 0" descr="/mnt/data/rustserver_ppt_assets/catalo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11980" y="745236"/>
            <a:ext cx="7296912" cy="3026664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507992" y="441655"/>
            <a:ext cx="71048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spc="110" kern="0" dirty="0">
                <a:solidFill>
                  <a:srgbClr val="B8DA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  PLUGIN CATALOG</a:t>
            </a:r>
            <a:endParaRPr lang="en-US" sz="1060" dirty="0"/>
          </a:p>
        </p:txBody>
      </p:sp>
      <p:sp>
        <p:nvSpPr>
          <p:cNvPr id="17" name="Shape 14"/>
          <p:cNvSpPr/>
          <p:nvPr/>
        </p:nvSpPr>
        <p:spPr>
          <a:xfrm>
            <a:off x="4343400" y="3977640"/>
            <a:ext cx="3639312" cy="2450592"/>
          </a:xfrm>
          <a:prstGeom prst="roundRect">
            <a:avLst>
              <a:gd name="adj" fmla="val 3731"/>
            </a:avLst>
          </a:prstGeom>
          <a:solidFill>
            <a:srgbClr val="111611"/>
          </a:solidFill>
          <a:ln w="12700">
            <a:solidFill>
              <a:srgbClr val="31392F"/>
            </a:solidFill>
            <a:prstDash val="solid"/>
          </a:ln>
        </p:spPr>
      </p:sp>
      <p:pic>
        <p:nvPicPr>
          <p:cNvPr id="18" name="Image 1" descr="/mnt/data/rustserver_ppt_assets/manage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1980" y="4320540"/>
            <a:ext cx="3502152" cy="203911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507992" y="4016959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spc="110" kern="0" dirty="0">
                <a:solidFill>
                  <a:srgbClr val="B8DA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 GIT-BACKED PLUGIN MANAGEMENT</a:t>
            </a:r>
            <a:endParaRPr lang="en-US" sz="1060" dirty="0"/>
          </a:p>
        </p:txBody>
      </p:sp>
      <p:sp>
        <p:nvSpPr>
          <p:cNvPr id="20" name="Shape 16"/>
          <p:cNvSpPr/>
          <p:nvPr/>
        </p:nvSpPr>
        <p:spPr>
          <a:xfrm>
            <a:off x="8138160" y="3977640"/>
            <a:ext cx="3639312" cy="2450592"/>
          </a:xfrm>
          <a:prstGeom prst="roundRect">
            <a:avLst>
              <a:gd name="adj" fmla="val 3731"/>
            </a:avLst>
          </a:prstGeom>
          <a:solidFill>
            <a:srgbClr val="111611"/>
          </a:solidFill>
          <a:ln w="12700">
            <a:solidFill>
              <a:srgbClr val="31392F"/>
            </a:solidFill>
            <a:prstDash val="solid"/>
          </a:ln>
        </p:spPr>
      </p:sp>
      <p:pic>
        <p:nvPicPr>
          <p:cNvPr id="21" name="Image 2" descr="/mnt/data/rustserver_ppt_assets/upda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6740" y="4320540"/>
            <a:ext cx="3502152" cy="203911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8302752" y="4016959"/>
            <a:ext cx="331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spc="110" kern="0" dirty="0">
                <a:solidFill>
                  <a:srgbClr val="B8DA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  RELEASE UPDATER</a:t>
            </a:r>
            <a:endParaRPr lang="en-US" sz="1060" dirty="0"/>
          </a:p>
        </p:txBody>
      </p:sp>
      <p:sp>
        <p:nvSpPr>
          <p:cNvPr id="23" name="Text 18"/>
          <p:cNvSpPr/>
          <p:nvPr/>
        </p:nvSpPr>
        <p:spPr>
          <a:xfrm>
            <a:off x="9619488" y="137160"/>
            <a:ext cx="21579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100" kern="0" dirty="0">
                <a:solidFill>
                  <a:srgbClr val="788377"/>
                </a:solidFill>
              </a:rPr>
              <a:t>ACTUAL WEB INTERFACE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0D100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00E"/>
          </a:solidFill>
          <a:ln w="12700">
            <a:solidFill>
              <a:srgbClr val="0D100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402336"/>
            <a:ext cx="47549" cy="246888"/>
          </a:xfrm>
          <a:prstGeom prst="rect">
            <a:avLst/>
          </a:prstGeom>
          <a:solidFill>
            <a:srgbClr val="9CBC64"/>
          </a:solidFill>
          <a:ln w="12700">
            <a:solidFill>
              <a:srgbClr val="9CBC6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9410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9CBC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 /  SYSTEM DESIGN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784555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60" b="1" spc="70" kern="0" dirty="0">
                <a:solidFill>
                  <a:srgbClr val="F4F1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ARCHITECTURE</a:t>
            </a:r>
            <a:endParaRPr lang="en-US" sz="2660" dirty="0"/>
          </a:p>
        </p:txBody>
      </p:sp>
      <p:sp>
        <p:nvSpPr>
          <p:cNvPr id="6" name="Text 4"/>
          <p:cNvSpPr/>
          <p:nvPr/>
        </p:nvSpPr>
        <p:spPr>
          <a:xfrm>
            <a:off x="603504" y="1335024"/>
            <a:ext cx="10789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web interface. Independent services. A dedicated game runtime.</a:t>
            </a:r>
            <a:endParaRPr lang="en-US" sz="1160" dirty="0"/>
          </a:p>
        </p:txBody>
      </p:sp>
      <p:sp>
        <p:nvSpPr>
          <p:cNvPr id="7" name="Shape 5"/>
          <p:cNvSpPr/>
          <p:nvPr/>
        </p:nvSpPr>
        <p:spPr>
          <a:xfrm>
            <a:off x="594360" y="1679753"/>
            <a:ext cx="11018520" cy="0"/>
          </a:xfrm>
          <a:prstGeom prst="line">
            <a:avLst/>
          </a:prstGeom>
          <a:noFill/>
          <a:ln w="12700">
            <a:solidFill>
              <a:srgbClr val="3340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" y="1815084"/>
            <a:ext cx="25877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5" b="1" spc="115" kern="0" dirty="0">
                <a:solidFill>
                  <a:srgbClr val="9CBC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&amp; CONTROL</a:t>
            </a:r>
            <a:endParaRPr lang="en-US" sz="915" dirty="0"/>
          </a:p>
        </p:txBody>
      </p:sp>
      <p:sp>
        <p:nvSpPr>
          <p:cNvPr id="9" name="Shape 7"/>
          <p:cNvSpPr/>
          <p:nvPr/>
        </p:nvSpPr>
        <p:spPr>
          <a:xfrm>
            <a:off x="612648" y="2057400"/>
            <a:ext cx="1938528" cy="822960"/>
          </a:xfrm>
          <a:prstGeom prst="roundRect">
            <a:avLst>
              <a:gd name="adj" fmla="val 12222"/>
            </a:avLst>
          </a:prstGeom>
          <a:solidFill>
            <a:srgbClr val="151A16"/>
          </a:solidFill>
          <a:ln w="12700">
            <a:solidFill>
              <a:srgbClr val="31392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0664" y="2203704"/>
            <a:ext cx="42062" cy="530352"/>
          </a:xfrm>
          <a:prstGeom prst="rect">
            <a:avLst/>
          </a:prstGeom>
          <a:solidFill>
            <a:srgbClr val="9CBC64"/>
          </a:solidFill>
          <a:ln w="12700">
            <a:solidFill>
              <a:srgbClr val="9CBC64">
                <a:alpha val="0"/>
              </a:srgbClr>
            </a:solidFill>
            <a:prstDash val="solid"/>
          </a:ln>
        </p:spPr>
      </p:sp>
      <p:pic>
        <p:nvPicPr>
          <p:cNvPr id="11" name="Image 0" descr="/mnt/data/rust_architecture_icons/admin_9CBC6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267712"/>
            <a:ext cx="283464" cy="265176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80160" y="2208276"/>
            <a:ext cx="11338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ADMIN</a:t>
            </a:r>
            <a:endParaRPr lang="en-US" sz="1230" dirty="0"/>
          </a:p>
        </p:txBody>
      </p:sp>
      <p:sp>
        <p:nvSpPr>
          <p:cNvPr id="13" name="Text 10"/>
          <p:cNvSpPr/>
          <p:nvPr/>
        </p:nvSpPr>
        <p:spPr>
          <a:xfrm>
            <a:off x="1280160" y="2532888"/>
            <a:ext cx="11338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Browser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2843784" y="2057400"/>
            <a:ext cx="1773936" cy="822960"/>
          </a:xfrm>
          <a:prstGeom prst="roundRect">
            <a:avLst>
              <a:gd name="adj" fmla="val 12222"/>
            </a:avLst>
          </a:prstGeom>
          <a:solidFill>
            <a:srgbClr val="151A16"/>
          </a:solidFill>
          <a:ln w="12700">
            <a:solidFill>
              <a:srgbClr val="31392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971800" y="2203704"/>
            <a:ext cx="42062" cy="530352"/>
          </a:xfrm>
          <a:prstGeom prst="rect">
            <a:avLst/>
          </a:prstGeom>
          <a:solidFill>
            <a:srgbClr val="9CBC64"/>
          </a:solidFill>
          <a:ln w="12700">
            <a:solidFill>
              <a:srgbClr val="9CBC64">
                <a:alpha val="0"/>
              </a:srgbClr>
            </a:solidFill>
            <a:prstDash val="solid"/>
          </a:ln>
        </p:spPr>
      </p:sp>
      <p:pic>
        <p:nvPicPr>
          <p:cNvPr id="16" name="Image 1" descr="/mnt/data/rust_architecture_icons/routing_9CBC6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8104" y="2267712"/>
            <a:ext cx="283464" cy="26517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511296" y="2208276"/>
            <a:ext cx="96926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NGINX</a:t>
            </a:r>
            <a:endParaRPr lang="en-US" sz="1230" dirty="0"/>
          </a:p>
        </p:txBody>
      </p:sp>
      <p:sp>
        <p:nvSpPr>
          <p:cNvPr id="18" name="Text 14"/>
          <p:cNvSpPr/>
          <p:nvPr/>
        </p:nvSpPr>
        <p:spPr>
          <a:xfrm>
            <a:off x="3511296" y="2532888"/>
            <a:ext cx="969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Routing</a:t>
            </a:r>
            <a:endParaRPr lang="en-US" sz="940" dirty="0"/>
          </a:p>
        </p:txBody>
      </p:sp>
      <p:sp>
        <p:nvSpPr>
          <p:cNvPr id="19" name="Shape 15"/>
          <p:cNvSpPr/>
          <p:nvPr/>
        </p:nvSpPr>
        <p:spPr>
          <a:xfrm>
            <a:off x="4928616" y="2057400"/>
            <a:ext cx="3758184" cy="822960"/>
          </a:xfrm>
          <a:prstGeom prst="roundRect">
            <a:avLst>
              <a:gd name="adj" fmla="val 11111"/>
            </a:avLst>
          </a:prstGeom>
          <a:solidFill>
            <a:srgbClr val="17201A"/>
          </a:solidFill>
          <a:ln w="12700">
            <a:solidFill>
              <a:srgbClr val="526548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5047488" y="2203704"/>
            <a:ext cx="41148" cy="530352"/>
          </a:xfrm>
          <a:prstGeom prst="rect">
            <a:avLst/>
          </a:prstGeom>
          <a:solidFill>
            <a:srgbClr val="9CBC64"/>
          </a:solidFill>
          <a:ln w="12700">
            <a:solidFill>
              <a:srgbClr val="9CBC64">
                <a:alpha val="0"/>
              </a:srgbClr>
            </a:solidFill>
            <a:prstDash val="solid"/>
          </a:ln>
        </p:spPr>
      </p:sp>
      <p:pic>
        <p:nvPicPr>
          <p:cNvPr id="21" name="Image 2" descr="/mnt/data/rust_architecture_icons/web_9CBC6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0" y="2276856"/>
            <a:ext cx="356616" cy="30175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641848" y="21854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CONTROL PANEL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5641848" y="2496312"/>
            <a:ext cx="256032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React  /  TypeScript</a:t>
            </a:r>
            <a:endParaRPr lang="en-US" sz="960" dirty="0"/>
          </a:p>
        </p:txBody>
      </p:sp>
      <p:pic>
        <p:nvPicPr>
          <p:cNvPr id="24" name="Image 3" descr="/mnt/data/rustserver_ppt_assets/catalo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2194560"/>
            <a:ext cx="877824" cy="54864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7644384" y="2176272"/>
            <a:ext cx="914400" cy="585216"/>
          </a:xfrm>
          <a:prstGeom prst="roundRect">
            <a:avLst>
              <a:gd name="adj" fmla="val 4688"/>
            </a:avLst>
          </a:prstGeom>
          <a:solidFill>
            <a:srgbClr val="101511"/>
          </a:solidFill>
          <a:ln w="8890">
            <a:solidFill>
              <a:srgbClr val="465443"/>
            </a:solidFill>
            <a:prstDash val="solid"/>
          </a:ln>
        </p:spPr>
      </p:sp>
      <p:pic>
        <p:nvPicPr>
          <p:cNvPr id="26" name="Image 4" descr="/mnt/data/rustserver_ppt_assets/catalo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2672" y="2194560"/>
            <a:ext cx="877824" cy="548640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8997696" y="2057400"/>
            <a:ext cx="2596896" cy="822960"/>
          </a:xfrm>
          <a:prstGeom prst="roundRect">
            <a:avLst>
              <a:gd name="adj" fmla="val 12222"/>
            </a:avLst>
          </a:prstGeom>
          <a:solidFill>
            <a:srgbClr val="151A16"/>
          </a:solidFill>
          <a:ln w="12700">
            <a:solidFill>
              <a:srgbClr val="31392F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9125712" y="2203704"/>
            <a:ext cx="42062" cy="530352"/>
          </a:xfrm>
          <a:prstGeom prst="rect">
            <a:avLst/>
          </a:prstGeom>
          <a:solidFill>
            <a:srgbClr val="9CBC64"/>
          </a:solidFill>
          <a:ln w="12700">
            <a:solidFill>
              <a:srgbClr val="9CBC64">
                <a:alpha val="0"/>
              </a:srgbClr>
            </a:solidFill>
            <a:prstDash val="solid"/>
          </a:ln>
        </p:spPr>
      </p:sp>
      <p:pic>
        <p:nvPicPr>
          <p:cNvPr id="29" name="Image 5" descr="/mnt/data/rust_architecture_icons/auth_9CBC6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72016" y="2267712"/>
            <a:ext cx="283464" cy="265176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9665208" y="2208276"/>
            <a:ext cx="1792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3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</a:t>
            </a:r>
            <a:endParaRPr lang="en-US" sz="1230" dirty="0"/>
          </a:p>
        </p:txBody>
      </p:sp>
      <p:sp>
        <p:nvSpPr>
          <p:cNvPr id="31" name="Text 23"/>
          <p:cNvSpPr/>
          <p:nvPr/>
        </p:nvSpPr>
        <p:spPr>
          <a:xfrm>
            <a:off x="9665208" y="2532888"/>
            <a:ext cx="1792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Login / access</a:t>
            </a:r>
            <a:endParaRPr lang="en-US" sz="940" dirty="0"/>
          </a:p>
        </p:txBody>
      </p:sp>
      <p:sp>
        <p:nvSpPr>
          <p:cNvPr id="32" name="Shape 24"/>
          <p:cNvSpPr/>
          <p:nvPr/>
        </p:nvSpPr>
        <p:spPr>
          <a:xfrm>
            <a:off x="2551176" y="2468880"/>
            <a:ext cx="283464" cy="0"/>
          </a:xfrm>
          <a:prstGeom prst="line">
            <a:avLst/>
          </a:prstGeom>
          <a:noFill/>
          <a:ln w="19050">
            <a:solidFill>
              <a:srgbClr val="9CBC64"/>
            </a:solidFill>
            <a:prstDash val="solid"/>
            <a:tailEnd type="triangle"/>
          </a:ln>
        </p:spPr>
      </p:sp>
      <p:sp>
        <p:nvSpPr>
          <p:cNvPr id="33" name="Shape 25"/>
          <p:cNvSpPr/>
          <p:nvPr/>
        </p:nvSpPr>
        <p:spPr>
          <a:xfrm>
            <a:off x="4626864" y="2468880"/>
            <a:ext cx="292608" cy="0"/>
          </a:xfrm>
          <a:prstGeom prst="line">
            <a:avLst/>
          </a:prstGeom>
          <a:noFill/>
          <a:ln w="19050">
            <a:solidFill>
              <a:srgbClr val="9CBC64"/>
            </a:solidFill>
            <a:prstDash val="solid"/>
            <a:tailEnd type="triangle"/>
          </a:ln>
        </p:spPr>
      </p:sp>
      <p:sp>
        <p:nvSpPr>
          <p:cNvPr id="34" name="Shape 26"/>
          <p:cNvSpPr/>
          <p:nvPr/>
        </p:nvSpPr>
        <p:spPr>
          <a:xfrm>
            <a:off x="3721608" y="2880360"/>
            <a:ext cx="0" cy="173736"/>
          </a:xfrm>
          <a:prstGeom prst="line">
            <a:avLst/>
          </a:prstGeom>
          <a:noFill/>
          <a:ln w="13970">
            <a:solidFill>
              <a:srgbClr val="5C7652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3721608" y="3054096"/>
            <a:ext cx="6592824" cy="0"/>
          </a:xfrm>
          <a:prstGeom prst="line">
            <a:avLst/>
          </a:prstGeom>
          <a:noFill/>
          <a:ln w="13970">
            <a:solidFill>
              <a:srgbClr val="5C7652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10314432" y="3054096"/>
            <a:ext cx="0" cy="-173736"/>
          </a:xfrm>
          <a:prstGeom prst="line">
            <a:avLst/>
          </a:prstGeom>
          <a:noFill/>
          <a:ln w="13970">
            <a:solidFill>
              <a:srgbClr val="5C7652"/>
            </a:solidFill>
            <a:prstDash val="solid"/>
            <a:tailEnd type="triangle"/>
          </a:ln>
        </p:spPr>
      </p:sp>
      <p:sp>
        <p:nvSpPr>
          <p:cNvPr id="37" name="Text 29"/>
          <p:cNvSpPr/>
          <p:nvPr/>
        </p:nvSpPr>
        <p:spPr>
          <a:xfrm>
            <a:off x="8549640" y="2926080"/>
            <a:ext cx="1453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90" b="1" spc="55" kern="0" dirty="0">
                <a:solidFill>
                  <a:srgbClr val="829A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CHECK</a:t>
            </a:r>
            <a:endParaRPr lang="en-US" sz="790" dirty="0"/>
          </a:p>
        </p:txBody>
      </p:sp>
      <p:sp>
        <p:nvSpPr>
          <p:cNvPr id="38" name="Shape 30"/>
          <p:cNvSpPr/>
          <p:nvPr/>
        </p:nvSpPr>
        <p:spPr>
          <a:xfrm>
            <a:off x="612648" y="3273552"/>
            <a:ext cx="10981944" cy="2075688"/>
          </a:xfrm>
          <a:prstGeom prst="roundRect">
            <a:avLst>
              <a:gd name="adj" fmla="val 5286"/>
            </a:avLst>
          </a:prstGeom>
          <a:solidFill>
            <a:srgbClr val="101611"/>
          </a:solidFill>
          <a:ln w="12700">
            <a:solidFill>
              <a:srgbClr val="3B4839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822960" y="333756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spc="130" kern="0" dirty="0">
                <a:solidFill>
                  <a:srgbClr val="9CBC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UBUNTU LINUX HOST</a:t>
            </a:r>
            <a:endParaRPr lang="en-US" sz="910" dirty="0"/>
          </a:p>
        </p:txBody>
      </p:sp>
      <p:sp>
        <p:nvSpPr>
          <p:cNvPr id="40" name="Text 32"/>
          <p:cNvSpPr/>
          <p:nvPr/>
        </p:nvSpPr>
        <p:spPr>
          <a:xfrm>
            <a:off x="822960" y="3557016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b="1" spc="80" kern="0" dirty="0">
                <a:solidFill>
                  <a:srgbClr val="829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ASP.NET CORE SERVICES  /  SYSTEMD</a:t>
            </a:r>
            <a:endParaRPr lang="en-US" sz="860" dirty="0"/>
          </a:p>
        </p:txBody>
      </p:sp>
      <p:sp>
        <p:nvSpPr>
          <p:cNvPr id="41" name="Shape 33"/>
          <p:cNvSpPr/>
          <p:nvPr/>
        </p:nvSpPr>
        <p:spPr>
          <a:xfrm>
            <a:off x="822960" y="3840480"/>
            <a:ext cx="1453896" cy="896112"/>
          </a:xfrm>
          <a:prstGeom prst="roundRect">
            <a:avLst>
              <a:gd name="adj" fmla="val 9184"/>
            </a:avLst>
          </a:prstGeom>
          <a:solidFill>
            <a:srgbClr val="1A211B"/>
          </a:solidFill>
          <a:ln w="11430">
            <a:solidFill>
              <a:srgbClr val="3D4939"/>
            </a:solidFill>
            <a:prstDash val="solid"/>
          </a:ln>
        </p:spPr>
      </p:sp>
      <p:pic>
        <p:nvPicPr>
          <p:cNvPr id="42" name="Image 6" descr="/mnt/data/rust_architecture_icons/control_9CBC6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" y="3968496"/>
            <a:ext cx="256032" cy="246888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950976" y="428853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010" dirty="0"/>
          </a:p>
        </p:txBody>
      </p:sp>
      <p:sp>
        <p:nvSpPr>
          <p:cNvPr id="44" name="Text 35"/>
          <p:cNvSpPr/>
          <p:nvPr/>
        </p:nvSpPr>
        <p:spPr>
          <a:xfrm>
            <a:off x="950976" y="4512564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ops</a:t>
            </a:r>
            <a:endParaRPr lang="en-US" sz="810" dirty="0"/>
          </a:p>
        </p:txBody>
      </p:sp>
      <p:sp>
        <p:nvSpPr>
          <p:cNvPr id="45" name="Shape 36"/>
          <p:cNvSpPr/>
          <p:nvPr/>
        </p:nvSpPr>
        <p:spPr>
          <a:xfrm>
            <a:off x="2432304" y="3840480"/>
            <a:ext cx="1453896" cy="896112"/>
          </a:xfrm>
          <a:prstGeom prst="roundRect">
            <a:avLst>
              <a:gd name="adj" fmla="val 9184"/>
            </a:avLst>
          </a:prstGeom>
          <a:solidFill>
            <a:srgbClr val="1A211B"/>
          </a:solidFill>
          <a:ln w="11430">
            <a:solidFill>
              <a:srgbClr val="3D4939"/>
            </a:solidFill>
            <a:prstDash val="solid"/>
          </a:ln>
        </p:spPr>
      </p:sp>
      <p:pic>
        <p:nvPicPr>
          <p:cNvPr id="46" name="Image 7" descr="/mnt/data/rust_architecture_icons/versions_9CBC6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320" y="3968496"/>
            <a:ext cx="256032" cy="246888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2560320" y="428853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VERSIONS</a:t>
            </a:r>
            <a:endParaRPr lang="en-US" sz="1010" dirty="0"/>
          </a:p>
        </p:txBody>
      </p:sp>
      <p:sp>
        <p:nvSpPr>
          <p:cNvPr id="48" name="Text 38"/>
          <p:cNvSpPr/>
          <p:nvPr/>
        </p:nvSpPr>
        <p:spPr>
          <a:xfrm>
            <a:off x="2560320" y="4512564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checks</a:t>
            </a:r>
            <a:endParaRPr lang="en-US" sz="810" dirty="0"/>
          </a:p>
        </p:txBody>
      </p:sp>
      <p:sp>
        <p:nvSpPr>
          <p:cNvPr id="49" name="Shape 39"/>
          <p:cNvSpPr/>
          <p:nvPr/>
        </p:nvSpPr>
        <p:spPr>
          <a:xfrm>
            <a:off x="4041648" y="3840480"/>
            <a:ext cx="1453896" cy="896112"/>
          </a:xfrm>
          <a:prstGeom prst="roundRect">
            <a:avLst>
              <a:gd name="adj" fmla="val 9184"/>
            </a:avLst>
          </a:prstGeom>
          <a:solidFill>
            <a:srgbClr val="1A211B"/>
          </a:solidFill>
          <a:ln w="11430">
            <a:solidFill>
              <a:srgbClr val="3D4939"/>
            </a:solidFill>
            <a:prstDash val="solid"/>
          </a:ln>
        </p:spPr>
      </p:sp>
      <p:pic>
        <p:nvPicPr>
          <p:cNvPr id="50" name="Image 8" descr="/mnt/data/rust_architecture_icons/plugins_9CBC6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69664" y="3968496"/>
            <a:ext cx="256032" cy="246888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4169664" y="428853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PLUGINS</a:t>
            </a:r>
            <a:endParaRPr lang="en-US" sz="1010" dirty="0"/>
          </a:p>
        </p:txBody>
      </p:sp>
      <p:sp>
        <p:nvSpPr>
          <p:cNvPr id="52" name="Text 41"/>
          <p:cNvSpPr/>
          <p:nvPr/>
        </p:nvSpPr>
        <p:spPr>
          <a:xfrm>
            <a:off x="4169664" y="4512564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files</a:t>
            </a:r>
            <a:endParaRPr lang="en-US" sz="810" dirty="0"/>
          </a:p>
        </p:txBody>
      </p:sp>
      <p:sp>
        <p:nvSpPr>
          <p:cNvPr id="53" name="Shape 42"/>
          <p:cNvSpPr/>
          <p:nvPr/>
        </p:nvSpPr>
        <p:spPr>
          <a:xfrm>
            <a:off x="5650992" y="3840480"/>
            <a:ext cx="1453896" cy="896112"/>
          </a:xfrm>
          <a:prstGeom prst="roundRect">
            <a:avLst>
              <a:gd name="adj" fmla="val 9184"/>
            </a:avLst>
          </a:prstGeom>
          <a:solidFill>
            <a:srgbClr val="1A211B"/>
          </a:solidFill>
          <a:ln w="11430">
            <a:solidFill>
              <a:srgbClr val="3D4939"/>
            </a:solidFill>
            <a:prstDash val="solid"/>
          </a:ln>
        </p:spPr>
      </p:sp>
      <p:pic>
        <p:nvPicPr>
          <p:cNvPr id="54" name="Image 9" descr="/mnt/data/rust_architecture_icons/catalog_9CBC64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79008" y="3968496"/>
            <a:ext cx="256032" cy="246888"/>
          </a:xfrm>
          <a:prstGeom prst="rect">
            <a:avLst/>
          </a:prstGeom>
        </p:spPr>
      </p:pic>
      <p:sp>
        <p:nvSpPr>
          <p:cNvPr id="55" name="Text 43"/>
          <p:cNvSpPr/>
          <p:nvPr/>
        </p:nvSpPr>
        <p:spPr>
          <a:xfrm>
            <a:off x="5779008" y="428853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</a:t>
            </a:r>
            <a:endParaRPr lang="en-US" sz="1010" dirty="0"/>
          </a:p>
        </p:txBody>
      </p:sp>
      <p:sp>
        <p:nvSpPr>
          <p:cNvPr id="56" name="Text 44"/>
          <p:cNvSpPr/>
          <p:nvPr/>
        </p:nvSpPr>
        <p:spPr>
          <a:xfrm>
            <a:off x="5779008" y="4512564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Plugin library</a:t>
            </a:r>
            <a:endParaRPr lang="en-US" sz="810" dirty="0"/>
          </a:p>
        </p:txBody>
      </p:sp>
      <p:sp>
        <p:nvSpPr>
          <p:cNvPr id="57" name="Shape 45"/>
          <p:cNvSpPr/>
          <p:nvPr/>
        </p:nvSpPr>
        <p:spPr>
          <a:xfrm>
            <a:off x="7260336" y="3840480"/>
            <a:ext cx="1453896" cy="896112"/>
          </a:xfrm>
          <a:prstGeom prst="roundRect">
            <a:avLst>
              <a:gd name="adj" fmla="val 9184"/>
            </a:avLst>
          </a:prstGeom>
          <a:solidFill>
            <a:srgbClr val="1A211B"/>
          </a:solidFill>
          <a:ln w="11430">
            <a:solidFill>
              <a:srgbClr val="3D4939"/>
            </a:solidFill>
            <a:prstDash val="solid"/>
          </a:ln>
        </p:spPr>
      </p:sp>
      <p:pic>
        <p:nvPicPr>
          <p:cNvPr id="58" name="Image 10" descr="/mnt/data/rust_architecture_icons/snapshots_9CBC64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88352" y="3968496"/>
            <a:ext cx="256032" cy="246888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7388352" y="4288536"/>
            <a:ext cx="11978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1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SNAPSHOTS</a:t>
            </a:r>
            <a:endParaRPr lang="en-US" sz="1010" dirty="0"/>
          </a:p>
        </p:txBody>
      </p:sp>
      <p:sp>
        <p:nvSpPr>
          <p:cNvPr id="60" name="Text 47"/>
          <p:cNvSpPr/>
          <p:nvPr/>
        </p:nvSpPr>
        <p:spPr>
          <a:xfrm>
            <a:off x="7388352" y="4512564"/>
            <a:ext cx="119786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Backup / restore</a:t>
            </a:r>
            <a:endParaRPr lang="en-US" sz="810" dirty="0"/>
          </a:p>
        </p:txBody>
      </p:sp>
      <p:sp>
        <p:nvSpPr>
          <p:cNvPr id="61" name="Shape 48"/>
          <p:cNvSpPr/>
          <p:nvPr/>
        </p:nvSpPr>
        <p:spPr>
          <a:xfrm>
            <a:off x="3721608" y="3054096"/>
            <a:ext cx="0" cy="128016"/>
          </a:xfrm>
          <a:prstGeom prst="line">
            <a:avLst/>
          </a:prstGeom>
          <a:noFill/>
          <a:ln w="15240">
            <a:solidFill>
              <a:srgbClr val="66805B"/>
            </a:solidFill>
            <a:prstDash val="solid"/>
          </a:ln>
        </p:spPr>
      </p:sp>
      <p:sp>
        <p:nvSpPr>
          <p:cNvPr id="62" name="Shape 49"/>
          <p:cNvSpPr/>
          <p:nvPr/>
        </p:nvSpPr>
        <p:spPr>
          <a:xfrm>
            <a:off x="3721608" y="3182112"/>
            <a:ext cx="237744" cy="0"/>
          </a:xfrm>
          <a:prstGeom prst="line">
            <a:avLst/>
          </a:prstGeom>
          <a:noFill/>
          <a:ln w="15240">
            <a:solidFill>
              <a:srgbClr val="66805B"/>
            </a:solidFill>
            <a:prstDash val="solid"/>
          </a:ln>
        </p:spPr>
      </p:sp>
      <p:sp>
        <p:nvSpPr>
          <p:cNvPr id="63" name="Text 50"/>
          <p:cNvSpPr/>
          <p:nvPr/>
        </p:nvSpPr>
        <p:spPr>
          <a:xfrm>
            <a:off x="4133088" y="3163824"/>
            <a:ext cx="11978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spc="48" kern="0" dirty="0">
                <a:solidFill>
                  <a:srgbClr val="72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ROUTING</a:t>
            </a:r>
            <a:endParaRPr lang="en-US" sz="760" dirty="0"/>
          </a:p>
        </p:txBody>
      </p:sp>
      <p:sp>
        <p:nvSpPr>
          <p:cNvPr id="64" name="Shape 51"/>
          <p:cNvSpPr/>
          <p:nvPr/>
        </p:nvSpPr>
        <p:spPr>
          <a:xfrm>
            <a:off x="9052560" y="3547872"/>
            <a:ext cx="2304288" cy="1554480"/>
          </a:xfrm>
          <a:prstGeom prst="roundRect">
            <a:avLst>
              <a:gd name="adj" fmla="val 5882"/>
            </a:avLst>
          </a:prstGeom>
          <a:solidFill>
            <a:srgbClr val="182019"/>
          </a:solidFill>
          <a:ln w="12700">
            <a:solidFill>
              <a:srgbClr val="445241"/>
            </a:solidFill>
            <a:prstDash val="solid"/>
          </a:ln>
        </p:spPr>
      </p:sp>
      <p:sp>
        <p:nvSpPr>
          <p:cNvPr id="65" name="Shape 52"/>
          <p:cNvSpPr/>
          <p:nvPr/>
        </p:nvSpPr>
        <p:spPr>
          <a:xfrm>
            <a:off x="9180576" y="3657600"/>
            <a:ext cx="36576" cy="1325880"/>
          </a:xfrm>
          <a:prstGeom prst="rect">
            <a:avLst/>
          </a:prstGeom>
          <a:solidFill>
            <a:srgbClr val="D65438"/>
          </a:solidFill>
          <a:ln w="12700">
            <a:solidFill>
              <a:srgbClr val="D65438">
                <a:alpha val="0"/>
              </a:srgbClr>
            </a:solidFill>
            <a:prstDash val="solid"/>
          </a:ln>
        </p:spPr>
      </p:sp>
      <p:sp>
        <p:nvSpPr>
          <p:cNvPr id="66" name="Text 53"/>
          <p:cNvSpPr/>
          <p:nvPr/>
        </p:nvSpPr>
        <p:spPr>
          <a:xfrm>
            <a:off x="9336024" y="3639312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spc="80" kern="0" dirty="0">
                <a:solidFill>
                  <a:srgbClr val="D6543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 CONNECTION</a:t>
            </a:r>
            <a:endParaRPr lang="en-US" sz="900" dirty="0"/>
          </a:p>
        </p:txBody>
      </p:sp>
      <p:sp>
        <p:nvSpPr>
          <p:cNvPr id="67" name="Shape 54"/>
          <p:cNvSpPr/>
          <p:nvPr/>
        </p:nvSpPr>
        <p:spPr>
          <a:xfrm>
            <a:off x="9354312" y="3913632"/>
            <a:ext cx="1828800" cy="402336"/>
          </a:xfrm>
          <a:prstGeom prst="roundRect">
            <a:avLst>
              <a:gd name="adj" fmla="val 13636"/>
            </a:avLst>
          </a:prstGeom>
          <a:solidFill>
            <a:srgbClr val="202921"/>
          </a:solidFill>
          <a:ln w="10160">
            <a:solidFill>
              <a:srgbClr val="415340"/>
            </a:solidFill>
            <a:prstDash val="solid"/>
          </a:ln>
        </p:spPr>
      </p:sp>
      <p:pic>
        <p:nvPicPr>
          <p:cNvPr id="68" name="Image 11" descr="/mnt/data/rust_architecture_icons/rcon_9CBC6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73184" y="4014216"/>
            <a:ext cx="219456" cy="210312"/>
          </a:xfrm>
          <a:prstGeom prst="rect">
            <a:avLst/>
          </a:prstGeom>
        </p:spPr>
      </p:pic>
      <p:sp>
        <p:nvSpPr>
          <p:cNvPr id="69" name="Text 55"/>
          <p:cNvSpPr/>
          <p:nvPr/>
        </p:nvSpPr>
        <p:spPr>
          <a:xfrm>
            <a:off x="9811512" y="396849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RCON</a:t>
            </a:r>
            <a:endParaRPr lang="en-US" sz="1120" dirty="0"/>
          </a:p>
        </p:txBody>
      </p:sp>
      <p:sp>
        <p:nvSpPr>
          <p:cNvPr id="70" name="Text 56"/>
          <p:cNvSpPr/>
          <p:nvPr/>
        </p:nvSpPr>
        <p:spPr>
          <a:xfrm>
            <a:off x="9811512" y="4178808"/>
            <a:ext cx="10332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2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gRPC service</a:t>
            </a:r>
            <a:endParaRPr lang="en-US" sz="720" dirty="0"/>
          </a:p>
        </p:txBody>
      </p:sp>
      <p:sp>
        <p:nvSpPr>
          <p:cNvPr id="71" name="Shape 57"/>
          <p:cNvSpPr/>
          <p:nvPr/>
        </p:nvSpPr>
        <p:spPr>
          <a:xfrm>
            <a:off x="10259568" y="4325112"/>
            <a:ext cx="0" cy="73152"/>
          </a:xfrm>
          <a:prstGeom prst="line">
            <a:avLst/>
          </a:prstGeom>
          <a:noFill/>
          <a:ln w="14605">
            <a:solidFill>
              <a:srgbClr val="9CBC64"/>
            </a:solidFill>
            <a:prstDash val="solid"/>
            <a:tailEnd type="triangle"/>
          </a:ln>
        </p:spPr>
      </p:sp>
      <p:sp>
        <p:nvSpPr>
          <p:cNvPr id="72" name="Shape 58"/>
          <p:cNvSpPr/>
          <p:nvPr/>
        </p:nvSpPr>
        <p:spPr>
          <a:xfrm>
            <a:off x="9354312" y="4462272"/>
            <a:ext cx="1828800" cy="466344"/>
          </a:xfrm>
          <a:prstGeom prst="roundRect">
            <a:avLst>
              <a:gd name="adj" fmla="val 11765"/>
            </a:avLst>
          </a:prstGeom>
          <a:solidFill>
            <a:srgbClr val="29251F"/>
          </a:solidFill>
          <a:ln w="11430">
            <a:solidFill>
              <a:srgbClr val="815445"/>
            </a:solidFill>
            <a:prstDash val="solid"/>
          </a:ln>
        </p:spPr>
      </p:sp>
      <p:pic>
        <p:nvPicPr>
          <p:cNvPr id="73" name="Image 12" descr="/mnt/data/rust_architecture_icons/rustRed_D65438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473184" y="4581144"/>
            <a:ext cx="228600" cy="219456"/>
          </a:xfrm>
          <a:prstGeom prst="rect">
            <a:avLst/>
          </a:prstGeom>
        </p:spPr>
      </p:pic>
      <p:sp>
        <p:nvSpPr>
          <p:cNvPr id="74" name="Text 59"/>
          <p:cNvSpPr/>
          <p:nvPr/>
        </p:nvSpPr>
        <p:spPr>
          <a:xfrm>
            <a:off x="9802368" y="4544568"/>
            <a:ext cx="1234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SERVER</a:t>
            </a:r>
            <a:endParaRPr lang="en-US" sz="1040" dirty="0"/>
          </a:p>
        </p:txBody>
      </p:sp>
      <p:sp>
        <p:nvSpPr>
          <p:cNvPr id="75" name="Text 60"/>
          <p:cNvSpPr/>
          <p:nvPr/>
        </p:nvSpPr>
        <p:spPr>
          <a:xfrm>
            <a:off x="9811512" y="4800600"/>
            <a:ext cx="1234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4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Docker container</a:t>
            </a:r>
            <a:endParaRPr lang="en-US" sz="740" dirty="0"/>
          </a:p>
        </p:txBody>
      </p:sp>
      <p:sp>
        <p:nvSpPr>
          <p:cNvPr id="76" name="Shape 61"/>
          <p:cNvSpPr/>
          <p:nvPr/>
        </p:nvSpPr>
        <p:spPr>
          <a:xfrm>
            <a:off x="841248" y="4882896"/>
            <a:ext cx="1865376" cy="329184"/>
          </a:xfrm>
          <a:prstGeom prst="roundRect">
            <a:avLst>
              <a:gd name="adj" fmla="val 15278"/>
            </a:avLst>
          </a:prstGeom>
          <a:solidFill>
            <a:srgbClr val="171E18"/>
          </a:solidFill>
          <a:ln w="8255">
            <a:solidFill>
              <a:srgbClr val="354032"/>
            </a:solidFill>
            <a:prstDash val="solid"/>
          </a:ln>
        </p:spPr>
      </p:sp>
      <p:pic>
        <p:nvPicPr>
          <p:cNvPr id="77" name="Image 13" descr="/mnt/data/rust_architecture_icons/linkGray_AEB4AA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0976" y="4958791"/>
            <a:ext cx="164592" cy="164592"/>
          </a:xfrm>
          <a:prstGeom prst="rect">
            <a:avLst/>
          </a:prstGeom>
        </p:spPr>
      </p:pic>
      <p:sp>
        <p:nvSpPr>
          <p:cNvPr id="78" name="Text 62"/>
          <p:cNvSpPr/>
          <p:nvPr/>
        </p:nvSpPr>
        <p:spPr>
          <a:xfrm>
            <a:off x="1170432" y="4935017"/>
            <a:ext cx="1472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gRPC  →  RCON</a:t>
            </a:r>
            <a:endParaRPr lang="en-US" sz="840" dirty="0"/>
          </a:p>
        </p:txBody>
      </p:sp>
      <p:sp>
        <p:nvSpPr>
          <p:cNvPr id="79" name="Shape 63"/>
          <p:cNvSpPr/>
          <p:nvPr/>
        </p:nvSpPr>
        <p:spPr>
          <a:xfrm>
            <a:off x="2852928" y="4882896"/>
            <a:ext cx="1801368" cy="329184"/>
          </a:xfrm>
          <a:prstGeom prst="roundRect">
            <a:avLst>
              <a:gd name="adj" fmla="val 15278"/>
            </a:avLst>
          </a:prstGeom>
          <a:solidFill>
            <a:srgbClr val="171E18"/>
          </a:solidFill>
          <a:ln w="8255">
            <a:solidFill>
              <a:srgbClr val="354032"/>
            </a:solidFill>
            <a:prstDash val="solid"/>
          </a:ln>
        </p:spPr>
      </p:sp>
      <p:pic>
        <p:nvPicPr>
          <p:cNvPr id="80" name="Image 14" descr="/mnt/data/rust_architecture_icons/githubGray_AEB4AA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2962656" y="4958791"/>
            <a:ext cx="164592" cy="164592"/>
          </a:xfrm>
          <a:prstGeom prst="rect">
            <a:avLst/>
          </a:prstGeom>
        </p:spPr>
      </p:pic>
      <p:sp>
        <p:nvSpPr>
          <p:cNvPr id="81" name="Text 64"/>
          <p:cNvSpPr/>
          <p:nvPr/>
        </p:nvSpPr>
        <p:spPr>
          <a:xfrm>
            <a:off x="3182112" y="4935017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 repositories</a:t>
            </a:r>
            <a:endParaRPr lang="en-US" sz="840" dirty="0"/>
          </a:p>
        </p:txBody>
      </p:sp>
      <p:sp>
        <p:nvSpPr>
          <p:cNvPr id="82" name="Shape 65"/>
          <p:cNvSpPr/>
          <p:nvPr/>
        </p:nvSpPr>
        <p:spPr>
          <a:xfrm>
            <a:off x="4791456" y="4882896"/>
            <a:ext cx="1773936" cy="329184"/>
          </a:xfrm>
          <a:prstGeom prst="roundRect">
            <a:avLst>
              <a:gd name="adj" fmla="val 15278"/>
            </a:avLst>
          </a:prstGeom>
          <a:solidFill>
            <a:srgbClr val="171E18"/>
          </a:solidFill>
          <a:ln w="8255">
            <a:solidFill>
              <a:srgbClr val="354032"/>
            </a:solidFill>
            <a:prstDash val="solid"/>
          </a:ln>
        </p:spPr>
      </p:sp>
      <p:pic>
        <p:nvPicPr>
          <p:cNvPr id="83" name="Image 15" descr="/mnt/data/rust_architecture_icons/dbGray_AEB4AA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901184" y="4958791"/>
            <a:ext cx="164592" cy="164592"/>
          </a:xfrm>
          <a:prstGeom prst="rect">
            <a:avLst/>
          </a:prstGeom>
        </p:spPr>
      </p:pic>
      <p:sp>
        <p:nvSpPr>
          <p:cNvPr id="84" name="Text 66"/>
          <p:cNvSpPr/>
          <p:nvPr/>
        </p:nvSpPr>
        <p:spPr>
          <a:xfrm>
            <a:off x="5120640" y="4935017"/>
            <a:ext cx="1380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PostgreSQL</a:t>
            </a:r>
            <a:endParaRPr lang="en-US" sz="840" dirty="0"/>
          </a:p>
        </p:txBody>
      </p:sp>
      <p:sp>
        <p:nvSpPr>
          <p:cNvPr id="85" name="Shape 67"/>
          <p:cNvSpPr/>
          <p:nvPr/>
        </p:nvSpPr>
        <p:spPr>
          <a:xfrm>
            <a:off x="6711696" y="4882896"/>
            <a:ext cx="2093976" cy="329184"/>
          </a:xfrm>
          <a:prstGeom prst="roundRect">
            <a:avLst>
              <a:gd name="adj" fmla="val 15278"/>
            </a:avLst>
          </a:prstGeom>
          <a:solidFill>
            <a:srgbClr val="171E18"/>
          </a:solidFill>
          <a:ln w="8255">
            <a:solidFill>
              <a:srgbClr val="354032"/>
            </a:solidFill>
            <a:prstDash val="solid"/>
          </a:ln>
        </p:spPr>
      </p:sp>
      <p:pic>
        <p:nvPicPr>
          <p:cNvPr id="86" name="Image 16" descr="/mnt/data/rust_architecture_icons/zipGray_AEB4AA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821424" y="4958791"/>
            <a:ext cx="164592" cy="164592"/>
          </a:xfrm>
          <a:prstGeom prst="rect">
            <a:avLst/>
          </a:prstGeom>
        </p:spPr>
      </p:pic>
      <p:sp>
        <p:nvSpPr>
          <p:cNvPr id="87" name="Text 68"/>
          <p:cNvSpPr/>
          <p:nvPr/>
        </p:nvSpPr>
        <p:spPr>
          <a:xfrm>
            <a:off x="7040880" y="4935017"/>
            <a:ext cx="1700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ZIP snapshots</a:t>
            </a:r>
            <a:endParaRPr lang="en-US" sz="840" dirty="0"/>
          </a:p>
        </p:txBody>
      </p:sp>
      <p:sp>
        <p:nvSpPr>
          <p:cNvPr id="88" name="Shape 69"/>
          <p:cNvSpPr/>
          <p:nvPr/>
        </p:nvSpPr>
        <p:spPr>
          <a:xfrm>
            <a:off x="4764024" y="4736592"/>
            <a:ext cx="0" cy="73152"/>
          </a:xfrm>
          <a:prstGeom prst="line">
            <a:avLst/>
          </a:prstGeom>
          <a:noFill/>
          <a:ln w="10414">
            <a:solidFill>
              <a:srgbClr val="627C58"/>
            </a:solidFill>
            <a:prstDash val="solid"/>
          </a:ln>
        </p:spPr>
      </p:sp>
      <p:sp>
        <p:nvSpPr>
          <p:cNvPr id="89" name="Shape 70"/>
          <p:cNvSpPr/>
          <p:nvPr/>
        </p:nvSpPr>
        <p:spPr>
          <a:xfrm>
            <a:off x="4764024" y="4809744"/>
            <a:ext cx="-1014984" cy="0"/>
          </a:xfrm>
          <a:prstGeom prst="line">
            <a:avLst/>
          </a:prstGeom>
          <a:noFill/>
          <a:ln w="10414">
            <a:solidFill>
              <a:srgbClr val="627C58"/>
            </a:solidFill>
            <a:prstDash val="solid"/>
          </a:ln>
        </p:spPr>
      </p:sp>
      <p:sp>
        <p:nvSpPr>
          <p:cNvPr id="90" name="Shape 71"/>
          <p:cNvSpPr/>
          <p:nvPr/>
        </p:nvSpPr>
        <p:spPr>
          <a:xfrm>
            <a:off x="3749040" y="4809744"/>
            <a:ext cx="0" cy="64008"/>
          </a:xfrm>
          <a:prstGeom prst="line">
            <a:avLst/>
          </a:prstGeom>
          <a:noFill/>
          <a:ln w="10414">
            <a:solidFill>
              <a:srgbClr val="627C58"/>
            </a:solidFill>
            <a:prstDash val="solid"/>
            <a:tailEnd type="triangle"/>
          </a:ln>
        </p:spPr>
      </p:sp>
      <p:sp>
        <p:nvSpPr>
          <p:cNvPr id="91" name="Shape 72"/>
          <p:cNvSpPr/>
          <p:nvPr/>
        </p:nvSpPr>
        <p:spPr>
          <a:xfrm>
            <a:off x="6373368" y="4736592"/>
            <a:ext cx="0" cy="73152"/>
          </a:xfrm>
          <a:prstGeom prst="line">
            <a:avLst/>
          </a:prstGeom>
          <a:noFill/>
          <a:ln w="10414">
            <a:solidFill>
              <a:srgbClr val="627C58"/>
            </a:solidFill>
            <a:prstDash val="solid"/>
          </a:ln>
        </p:spPr>
      </p:sp>
      <p:sp>
        <p:nvSpPr>
          <p:cNvPr id="92" name="Shape 73"/>
          <p:cNvSpPr/>
          <p:nvPr/>
        </p:nvSpPr>
        <p:spPr>
          <a:xfrm>
            <a:off x="6373368" y="4809744"/>
            <a:ext cx="-704088" cy="0"/>
          </a:xfrm>
          <a:prstGeom prst="line">
            <a:avLst/>
          </a:prstGeom>
          <a:noFill/>
          <a:ln w="10414">
            <a:solidFill>
              <a:srgbClr val="627C58"/>
            </a:solidFill>
            <a:prstDash val="solid"/>
          </a:ln>
        </p:spPr>
      </p:sp>
      <p:sp>
        <p:nvSpPr>
          <p:cNvPr id="93" name="Shape 74"/>
          <p:cNvSpPr/>
          <p:nvPr/>
        </p:nvSpPr>
        <p:spPr>
          <a:xfrm>
            <a:off x="5669280" y="4809744"/>
            <a:ext cx="0" cy="64008"/>
          </a:xfrm>
          <a:prstGeom prst="line">
            <a:avLst/>
          </a:prstGeom>
          <a:noFill/>
          <a:ln w="10414">
            <a:solidFill>
              <a:srgbClr val="627C58"/>
            </a:solidFill>
            <a:prstDash val="solid"/>
            <a:tailEnd type="triangle"/>
          </a:ln>
        </p:spPr>
      </p:sp>
      <p:sp>
        <p:nvSpPr>
          <p:cNvPr id="94" name="Shape 75"/>
          <p:cNvSpPr/>
          <p:nvPr/>
        </p:nvSpPr>
        <p:spPr>
          <a:xfrm>
            <a:off x="7982712" y="4736592"/>
            <a:ext cx="0" cy="137160"/>
          </a:xfrm>
          <a:prstGeom prst="line">
            <a:avLst/>
          </a:prstGeom>
          <a:noFill/>
          <a:ln w="10414">
            <a:solidFill>
              <a:srgbClr val="627C58"/>
            </a:solidFill>
            <a:prstDash val="solid"/>
            <a:tailEnd type="triangle"/>
          </a:ln>
        </p:spPr>
      </p:sp>
      <p:sp>
        <p:nvSpPr>
          <p:cNvPr id="95" name="Text 76"/>
          <p:cNvSpPr/>
          <p:nvPr/>
        </p:nvSpPr>
        <p:spPr>
          <a:xfrm>
            <a:off x="9134856" y="5166360"/>
            <a:ext cx="23500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8290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+ Versions  →  RCON  →  Rust</a:t>
            </a:r>
            <a:endParaRPr lang="en-US" sz="720" dirty="0"/>
          </a:p>
        </p:txBody>
      </p:sp>
      <p:sp>
        <p:nvSpPr>
          <p:cNvPr id="96" name="Text 77"/>
          <p:cNvSpPr/>
          <p:nvPr/>
        </p:nvSpPr>
        <p:spPr>
          <a:xfrm>
            <a:off x="603504" y="5468112"/>
            <a:ext cx="41605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10" b="1" spc="120" kern="0" dirty="0">
                <a:solidFill>
                  <a:srgbClr val="9CBC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DEPLOYMENT PATH</a:t>
            </a:r>
            <a:endParaRPr lang="en-US" sz="910" dirty="0"/>
          </a:p>
        </p:txBody>
      </p:sp>
      <p:sp>
        <p:nvSpPr>
          <p:cNvPr id="97" name="Shape 78"/>
          <p:cNvSpPr/>
          <p:nvPr/>
        </p:nvSpPr>
        <p:spPr>
          <a:xfrm>
            <a:off x="777240" y="5724144"/>
            <a:ext cx="2441448" cy="512064"/>
          </a:xfrm>
          <a:prstGeom prst="roundRect">
            <a:avLst>
              <a:gd name="adj" fmla="val 12500"/>
            </a:avLst>
          </a:prstGeom>
          <a:solidFill>
            <a:srgbClr val="1B231C"/>
          </a:solidFill>
          <a:ln w="10795">
            <a:solidFill>
              <a:srgbClr val="485542"/>
            </a:solidFill>
            <a:prstDash val="solid"/>
          </a:ln>
        </p:spPr>
      </p:sp>
      <p:sp>
        <p:nvSpPr>
          <p:cNvPr id="98" name="Shape 79"/>
          <p:cNvSpPr/>
          <p:nvPr/>
        </p:nvSpPr>
        <p:spPr>
          <a:xfrm>
            <a:off x="877824" y="5815584"/>
            <a:ext cx="36576" cy="329184"/>
          </a:xfrm>
          <a:prstGeom prst="rect">
            <a:avLst/>
          </a:prstGeom>
          <a:solidFill>
            <a:srgbClr val="9CBC64"/>
          </a:solidFill>
          <a:ln w="12700">
            <a:solidFill>
              <a:srgbClr val="9CBC64">
                <a:alpha val="0"/>
              </a:srgbClr>
            </a:solidFill>
            <a:prstDash val="solid"/>
          </a:ln>
        </p:spPr>
      </p:sp>
      <p:pic>
        <p:nvPicPr>
          <p:cNvPr id="99" name="Image 17" descr="/mnt/data/rust_architecture_icons/bootstrap_9CBC64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96696" y="5870448"/>
            <a:ext cx="228600" cy="219456"/>
          </a:xfrm>
          <a:prstGeom prst="rect">
            <a:avLst/>
          </a:prstGeom>
        </p:spPr>
      </p:pic>
      <p:sp>
        <p:nvSpPr>
          <p:cNvPr id="100" name="Text 80"/>
          <p:cNvSpPr/>
          <p:nvPr/>
        </p:nvSpPr>
        <p:spPr>
          <a:xfrm>
            <a:off x="1298448" y="5800039"/>
            <a:ext cx="18105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BOOTSTRAP</a:t>
            </a:r>
            <a:endParaRPr lang="en-US" sz="1160" dirty="0"/>
          </a:p>
        </p:txBody>
      </p:sp>
      <p:sp>
        <p:nvSpPr>
          <p:cNvPr id="101" name="Text 81"/>
          <p:cNvSpPr/>
          <p:nvPr/>
        </p:nvSpPr>
        <p:spPr>
          <a:xfrm>
            <a:off x="1298448" y="6007608"/>
            <a:ext cx="18013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Provisioning</a:t>
            </a:r>
            <a:endParaRPr lang="en-US" sz="800" dirty="0"/>
          </a:p>
        </p:txBody>
      </p:sp>
      <p:sp>
        <p:nvSpPr>
          <p:cNvPr id="102" name="Shape 82"/>
          <p:cNvSpPr/>
          <p:nvPr/>
        </p:nvSpPr>
        <p:spPr>
          <a:xfrm>
            <a:off x="3657600" y="5724144"/>
            <a:ext cx="2779776" cy="512064"/>
          </a:xfrm>
          <a:prstGeom prst="roundRect">
            <a:avLst>
              <a:gd name="adj" fmla="val 12500"/>
            </a:avLst>
          </a:prstGeom>
          <a:solidFill>
            <a:srgbClr val="1B231C"/>
          </a:solidFill>
          <a:ln w="10795">
            <a:solidFill>
              <a:srgbClr val="485542"/>
            </a:solidFill>
            <a:prstDash val="solid"/>
          </a:ln>
        </p:spPr>
      </p:sp>
      <p:sp>
        <p:nvSpPr>
          <p:cNvPr id="103" name="Shape 83"/>
          <p:cNvSpPr/>
          <p:nvPr/>
        </p:nvSpPr>
        <p:spPr>
          <a:xfrm>
            <a:off x="3758184" y="5815584"/>
            <a:ext cx="36576" cy="329184"/>
          </a:xfrm>
          <a:prstGeom prst="rect">
            <a:avLst/>
          </a:prstGeom>
          <a:solidFill>
            <a:srgbClr val="9CBC64"/>
          </a:solidFill>
          <a:ln w="12700">
            <a:solidFill>
              <a:srgbClr val="9CBC64">
                <a:alpha val="0"/>
              </a:srgbClr>
            </a:solidFill>
            <a:prstDash val="solid"/>
          </a:ln>
        </p:spPr>
      </p:sp>
      <p:pic>
        <p:nvPicPr>
          <p:cNvPr id="104" name="Image 18" descr="/mnt/data/rust_architecture_icons/updater_9CBC64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77056" y="5870448"/>
            <a:ext cx="228600" cy="219456"/>
          </a:xfrm>
          <a:prstGeom prst="rect">
            <a:avLst/>
          </a:prstGeom>
        </p:spPr>
      </p:pic>
      <p:sp>
        <p:nvSpPr>
          <p:cNvPr id="105" name="Text 84"/>
          <p:cNvSpPr/>
          <p:nvPr/>
        </p:nvSpPr>
        <p:spPr>
          <a:xfrm>
            <a:off x="4178808" y="5800039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UPDATER</a:t>
            </a:r>
            <a:endParaRPr lang="en-US" sz="1160" dirty="0"/>
          </a:p>
        </p:txBody>
      </p:sp>
      <p:sp>
        <p:nvSpPr>
          <p:cNvPr id="106" name="Text 85"/>
          <p:cNvSpPr/>
          <p:nvPr/>
        </p:nvSpPr>
        <p:spPr>
          <a:xfrm>
            <a:off x="4178808" y="6007608"/>
            <a:ext cx="21396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/ rollback</a:t>
            </a:r>
            <a:endParaRPr lang="en-US" sz="800" dirty="0"/>
          </a:p>
        </p:txBody>
      </p:sp>
      <p:sp>
        <p:nvSpPr>
          <p:cNvPr id="107" name="Shape 86"/>
          <p:cNvSpPr/>
          <p:nvPr/>
        </p:nvSpPr>
        <p:spPr>
          <a:xfrm>
            <a:off x="8540496" y="5724144"/>
            <a:ext cx="2889504" cy="512064"/>
          </a:xfrm>
          <a:prstGeom prst="roundRect">
            <a:avLst>
              <a:gd name="adj" fmla="val 12500"/>
            </a:avLst>
          </a:prstGeom>
          <a:solidFill>
            <a:srgbClr val="1B231C"/>
          </a:solidFill>
          <a:ln w="10795">
            <a:solidFill>
              <a:srgbClr val="485542"/>
            </a:solidFill>
            <a:prstDash val="solid"/>
          </a:ln>
        </p:spPr>
      </p:sp>
      <p:sp>
        <p:nvSpPr>
          <p:cNvPr id="108" name="Shape 87"/>
          <p:cNvSpPr/>
          <p:nvPr/>
        </p:nvSpPr>
        <p:spPr>
          <a:xfrm>
            <a:off x="8641080" y="5815584"/>
            <a:ext cx="36576" cy="329184"/>
          </a:xfrm>
          <a:prstGeom prst="rect">
            <a:avLst/>
          </a:prstGeom>
          <a:solidFill>
            <a:srgbClr val="9CBC64"/>
          </a:solidFill>
          <a:ln w="12700">
            <a:solidFill>
              <a:srgbClr val="9CBC64">
                <a:alpha val="0"/>
              </a:srgbClr>
            </a:solidFill>
            <a:prstDash val="solid"/>
          </a:ln>
        </p:spPr>
      </p:sp>
      <p:pic>
        <p:nvPicPr>
          <p:cNvPr id="109" name="Image 19" descr="/mnt/data/rust_architecture_icons/services_9CBC64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759952" y="5870448"/>
            <a:ext cx="228600" cy="219456"/>
          </a:xfrm>
          <a:prstGeom prst="rect">
            <a:avLst/>
          </a:prstGeom>
        </p:spPr>
      </p:pic>
      <p:sp>
        <p:nvSpPr>
          <p:cNvPr id="110" name="Text 88"/>
          <p:cNvSpPr/>
          <p:nvPr/>
        </p:nvSpPr>
        <p:spPr>
          <a:xfrm>
            <a:off x="9061704" y="5800039"/>
            <a:ext cx="22585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APPS</a:t>
            </a:r>
            <a:endParaRPr lang="en-US" sz="1160" dirty="0"/>
          </a:p>
        </p:txBody>
      </p:sp>
      <p:sp>
        <p:nvSpPr>
          <p:cNvPr id="111" name="Text 89"/>
          <p:cNvSpPr/>
          <p:nvPr/>
        </p:nvSpPr>
        <p:spPr>
          <a:xfrm>
            <a:off x="9061704" y="6007608"/>
            <a:ext cx="224942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Installed with systemd</a:t>
            </a:r>
            <a:endParaRPr lang="en-US" sz="800" dirty="0"/>
          </a:p>
        </p:txBody>
      </p:sp>
      <p:sp>
        <p:nvSpPr>
          <p:cNvPr id="112" name="Shape 90"/>
          <p:cNvSpPr/>
          <p:nvPr/>
        </p:nvSpPr>
        <p:spPr>
          <a:xfrm>
            <a:off x="3218688" y="5980176"/>
            <a:ext cx="429768" cy="0"/>
          </a:xfrm>
          <a:prstGeom prst="line">
            <a:avLst/>
          </a:prstGeom>
          <a:noFill/>
          <a:ln w="18415">
            <a:solidFill>
              <a:srgbClr val="9CBC64"/>
            </a:solidFill>
            <a:prstDash val="solid"/>
            <a:tailEnd type="triangle"/>
          </a:ln>
        </p:spPr>
      </p:sp>
      <p:sp>
        <p:nvSpPr>
          <p:cNvPr id="113" name="Shape 91"/>
          <p:cNvSpPr/>
          <p:nvPr/>
        </p:nvSpPr>
        <p:spPr>
          <a:xfrm>
            <a:off x="6437376" y="5980176"/>
            <a:ext cx="2084832" cy="0"/>
          </a:xfrm>
          <a:prstGeom prst="line">
            <a:avLst/>
          </a:prstGeom>
          <a:noFill/>
          <a:ln w="18415">
            <a:solidFill>
              <a:srgbClr val="9CBC64"/>
            </a:solidFill>
            <a:prstDash val="solid"/>
            <a:tailEnd type="triangle"/>
          </a:ln>
        </p:spPr>
      </p:sp>
      <p:pic>
        <p:nvPicPr>
          <p:cNvPr id="114" name="Image 20" descr="/mnt/data/rust_architecture_icons/github_9CBC6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84848" y="5559552"/>
            <a:ext cx="219456" cy="210312"/>
          </a:xfrm>
          <a:prstGeom prst="rect">
            <a:avLst/>
          </a:prstGeom>
        </p:spPr>
      </p:pic>
      <p:sp>
        <p:nvSpPr>
          <p:cNvPr id="115" name="Text 92"/>
          <p:cNvSpPr/>
          <p:nvPr/>
        </p:nvSpPr>
        <p:spPr>
          <a:xfrm>
            <a:off x="7095744" y="5577840"/>
            <a:ext cx="138074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40" b="1" spc="40" kern="0" dirty="0">
                <a:solidFill>
                  <a:srgbClr val="B8DA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RELEASES</a:t>
            </a:r>
            <a:endParaRPr lang="en-US" sz="840" dirty="0"/>
          </a:p>
        </p:txBody>
      </p:sp>
      <p:sp>
        <p:nvSpPr>
          <p:cNvPr id="116" name="Shape 93"/>
          <p:cNvSpPr/>
          <p:nvPr/>
        </p:nvSpPr>
        <p:spPr>
          <a:xfrm>
            <a:off x="7351776" y="5760720"/>
            <a:ext cx="0" cy="64008"/>
          </a:xfrm>
          <a:prstGeom prst="line">
            <a:avLst/>
          </a:prstGeom>
          <a:noFill/>
          <a:ln w="12700">
            <a:solidFill>
              <a:srgbClr val="66865E"/>
            </a:solidFill>
            <a:prstDash val="solid"/>
          </a:ln>
        </p:spPr>
      </p:sp>
      <p:sp>
        <p:nvSpPr>
          <p:cNvPr id="117" name="Shape 94"/>
          <p:cNvSpPr/>
          <p:nvPr/>
        </p:nvSpPr>
        <p:spPr>
          <a:xfrm>
            <a:off x="7351776" y="5824728"/>
            <a:ext cx="-914400" cy="0"/>
          </a:xfrm>
          <a:prstGeom prst="line">
            <a:avLst/>
          </a:prstGeom>
          <a:noFill/>
          <a:ln w="12700">
            <a:solidFill>
              <a:srgbClr val="66865E"/>
            </a:solidFill>
            <a:prstDash val="solid"/>
            <a:tailEnd type="triangle"/>
          </a:ln>
        </p:spPr>
      </p:sp>
      <p:sp>
        <p:nvSpPr>
          <p:cNvPr id="118" name="Shape 95"/>
          <p:cNvSpPr/>
          <p:nvPr/>
        </p:nvSpPr>
        <p:spPr>
          <a:xfrm>
            <a:off x="594360" y="6501384"/>
            <a:ext cx="11018520" cy="0"/>
          </a:xfrm>
          <a:prstGeom prst="line">
            <a:avLst/>
          </a:prstGeom>
          <a:noFill/>
          <a:ln w="12700">
            <a:solidFill>
              <a:srgbClr val="334035"/>
            </a:solidFill>
            <a:prstDash val="solid"/>
          </a:ln>
        </p:spPr>
      </p:sp>
      <p:sp>
        <p:nvSpPr>
          <p:cNvPr id="119" name="Text 96"/>
          <p:cNvSpPr/>
          <p:nvPr/>
        </p:nvSpPr>
        <p:spPr>
          <a:xfrm>
            <a:off x="594360" y="6556248"/>
            <a:ext cx="877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130" kern="0" dirty="0">
                <a:solidFill>
                  <a:srgbClr val="819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RUSTSERVER PLATFORM  /  ENGINEERING PROJECT</a:t>
            </a:r>
            <a:endParaRPr lang="en-US" sz="870" dirty="0"/>
          </a:p>
        </p:txBody>
      </p:sp>
      <p:sp>
        <p:nvSpPr>
          <p:cNvPr id="120" name="Text 97"/>
          <p:cNvSpPr/>
          <p:nvPr/>
        </p:nvSpPr>
        <p:spPr>
          <a:xfrm>
            <a:off x="10378440" y="6556248"/>
            <a:ext cx="12252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spc="70" kern="0" dirty="0">
                <a:solidFill>
                  <a:srgbClr val="9CBC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9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0D100E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/mnt/data/rustserver_platform_feature_overvie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">
    <p:bg>
      <p:bgPr>
        <a:solidFill>
          <a:srgbClr val="0D100E"/>
        </a:solidFill>
      </p:bgPr>
    </p:bg>
    <p:spTree>
      <p:nvGrpSpPr>
        <p:cNvPr id="1" name=""/>
        <p:cNvGrpSpPr/>
        <p:nvPr/>
      </p:nvGrpSpPr>
      <p:grpSpPr/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100E"/>
          </a:solidFill>
          <a:ln w="12700">
            <a:solidFill>
              <a:srgbClr val="0D100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5216" y="402336"/>
            <a:ext cx="47549" cy="246888"/>
          </a:xfrm>
          <a:prstGeom prst="rect">
            <a:avLst/>
          </a:prstGeom>
          <a:solidFill>
            <a:srgbClr val="9CBC64"/>
          </a:solidFill>
          <a:ln w="12700">
            <a:solidFill>
              <a:srgbClr val="9CBC64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394106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spc="180" kern="0" dirty="0">
                <a:solidFill>
                  <a:srgbClr val="9CBC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 /  USER SCENARIOS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94360" y="784555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60" b="1" spc="70" kern="0" dirty="0">
                <a:solidFill>
                  <a:srgbClr val="F4F1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OPERATIONAL SCENARIOS</a:t>
            </a:r>
            <a:endParaRPr lang="en-US" sz="2660" dirty="0"/>
          </a:p>
        </p:txBody>
      </p:sp>
      <p:sp>
        <p:nvSpPr>
          <p:cNvPr id="6" name="Text 4"/>
          <p:cNvSpPr/>
          <p:nvPr/>
        </p:nvSpPr>
        <p:spPr>
          <a:xfrm>
            <a:off x="603504" y="1335024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real-world workflows, from preparation to verified results.</a:t>
            </a:r>
            <a:endParaRPr lang="en-US" sz="1160" dirty="0"/>
          </a:p>
        </p:txBody>
      </p:sp>
      <p:sp>
        <p:nvSpPr>
          <p:cNvPr id="7" name="Shape 5"/>
          <p:cNvSpPr/>
          <p:nvPr/>
        </p:nvSpPr>
        <p:spPr>
          <a:xfrm>
            <a:off x="594360" y="1679753"/>
            <a:ext cx="11018520" cy="0"/>
          </a:xfrm>
          <a:prstGeom prst="line">
            <a:avLst/>
          </a:prstGeom>
          <a:noFill/>
          <a:ln w="12700">
            <a:solidFill>
              <a:srgbClr val="3340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12648" y="1860804"/>
            <a:ext cx="5376672" cy="1924812"/>
          </a:xfrm>
          <a:prstGeom prst="roundRect">
            <a:avLst>
              <a:gd name="adj" fmla="val 4751"/>
            </a:avLst>
          </a:prstGeom>
          <a:solidFill>
            <a:srgbClr val="151A16"/>
          </a:solidFill>
          <a:ln w="10795">
            <a:solidFill>
              <a:srgbClr val="3B493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68096" y="2025396"/>
            <a:ext cx="39319" cy="374904"/>
          </a:xfrm>
          <a:prstGeom prst="rect">
            <a:avLst/>
          </a:prstGeom>
          <a:solidFill>
            <a:srgbClr val="9CBC64"/>
          </a:solidFill>
          <a:ln w="12700">
            <a:solidFill>
              <a:srgbClr val="9CBC64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" y="1993392"/>
            <a:ext cx="4882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30" kern="0" dirty="0">
                <a:solidFill>
                  <a:srgbClr val="F4F1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  /  SAFE SERVER MAINTENANCE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96112" y="2290572"/>
            <a:ext cx="4882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 Rust / Oxide while public access stays controlled.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877824" y="2519172"/>
            <a:ext cx="4855464" cy="0"/>
          </a:xfrm>
          <a:prstGeom prst="line">
            <a:avLst/>
          </a:prstGeom>
          <a:noFill/>
          <a:ln w="10160">
            <a:solidFill>
              <a:srgbClr val="313F3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9536" y="2665476"/>
            <a:ext cx="1051560" cy="722376"/>
          </a:xfrm>
          <a:prstGeom prst="roundRect">
            <a:avLst>
              <a:gd name="adj" fmla="val 8228"/>
            </a:avLst>
          </a:prstGeom>
          <a:solidFill>
            <a:srgbClr val="101511"/>
          </a:solidFill>
          <a:ln w="10795">
            <a:solidFill>
              <a:srgbClr val="354333"/>
            </a:solidFill>
            <a:prstDash val="solid"/>
          </a:ln>
        </p:spPr>
      </p:sp>
      <p:pic>
        <p:nvPicPr>
          <p:cNvPr id="14" name="Image 0" descr="/mnt/data/rustserver_demo_scenarios_final_assets/shield_9CBC6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444" y="2758745"/>
            <a:ext cx="237744" cy="219456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923544" y="2998318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" kern="0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OFF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886968" y="3200400"/>
            <a:ext cx="99669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 mode</a:t>
            </a:r>
            <a:endParaRPr lang="en-US" sz="700" dirty="0"/>
          </a:p>
        </p:txBody>
      </p:sp>
      <p:sp>
        <p:nvSpPr>
          <p:cNvPr id="17" name="Shape 14"/>
          <p:cNvSpPr/>
          <p:nvPr/>
        </p:nvSpPr>
        <p:spPr>
          <a:xfrm>
            <a:off x="1932127" y="3024835"/>
            <a:ext cx="172822" cy="0"/>
          </a:xfrm>
          <a:prstGeom prst="line">
            <a:avLst/>
          </a:prstGeom>
          <a:noFill/>
          <a:ln w="17145">
            <a:solidFill>
              <a:srgbClr val="9CBC64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2139696" y="2665476"/>
            <a:ext cx="1051560" cy="722376"/>
          </a:xfrm>
          <a:prstGeom prst="roundRect">
            <a:avLst>
              <a:gd name="adj" fmla="val 8228"/>
            </a:avLst>
          </a:prstGeom>
          <a:solidFill>
            <a:srgbClr val="101511"/>
          </a:solidFill>
          <a:ln w="10795">
            <a:solidFill>
              <a:srgbClr val="354333"/>
            </a:solidFill>
            <a:prstDash val="solid"/>
          </a:ln>
        </p:spPr>
      </p:sp>
      <p:pic>
        <p:nvPicPr>
          <p:cNvPr id="19" name="Image 1" descr="/mnt/data/rustserver_demo_scenarios_final_assets/update_9CBC6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6604" y="2758745"/>
            <a:ext cx="237744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2203704" y="2998318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" kern="0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2167128" y="3200400"/>
            <a:ext cx="99669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Oxide</a:t>
            </a:r>
            <a:endParaRPr lang="en-US" sz="700" dirty="0"/>
          </a:p>
        </p:txBody>
      </p:sp>
      <p:sp>
        <p:nvSpPr>
          <p:cNvPr id="22" name="Shape 18"/>
          <p:cNvSpPr/>
          <p:nvPr/>
        </p:nvSpPr>
        <p:spPr>
          <a:xfrm>
            <a:off x="3212287" y="3024835"/>
            <a:ext cx="172822" cy="0"/>
          </a:xfrm>
          <a:prstGeom prst="line">
            <a:avLst/>
          </a:prstGeom>
          <a:noFill/>
          <a:ln w="17145">
            <a:solidFill>
              <a:srgbClr val="9CBC64"/>
            </a:solidFill>
            <a:prstDash val="solid"/>
            <a:tailEnd type="triangle"/>
          </a:ln>
        </p:spPr>
      </p:sp>
      <p:sp>
        <p:nvSpPr>
          <p:cNvPr id="23" name="Shape 19"/>
          <p:cNvSpPr/>
          <p:nvPr/>
        </p:nvSpPr>
        <p:spPr>
          <a:xfrm>
            <a:off x="3419856" y="2665476"/>
            <a:ext cx="1051560" cy="722376"/>
          </a:xfrm>
          <a:prstGeom prst="roundRect">
            <a:avLst>
              <a:gd name="adj" fmla="val 8228"/>
            </a:avLst>
          </a:prstGeom>
          <a:solidFill>
            <a:srgbClr val="101511"/>
          </a:solidFill>
          <a:ln w="10795">
            <a:solidFill>
              <a:srgbClr val="354333"/>
            </a:solidFill>
            <a:prstDash val="solid"/>
          </a:ln>
        </p:spPr>
      </p:sp>
      <p:pic>
        <p:nvPicPr>
          <p:cNvPr id="24" name="Image 2" descr="/mnt/data/rustserver_demo_scenarios_final_assets/start_9CBC6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6764" y="2758745"/>
            <a:ext cx="237744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3483864" y="2998318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" kern="0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3447288" y="3200400"/>
            <a:ext cx="99669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9 stages</a:t>
            </a:r>
            <a:endParaRPr lang="en-US" sz="700" dirty="0"/>
          </a:p>
        </p:txBody>
      </p:sp>
      <p:sp>
        <p:nvSpPr>
          <p:cNvPr id="27" name="Shape 22"/>
          <p:cNvSpPr/>
          <p:nvPr/>
        </p:nvSpPr>
        <p:spPr>
          <a:xfrm>
            <a:off x="4492447" y="3024835"/>
            <a:ext cx="172822" cy="0"/>
          </a:xfrm>
          <a:prstGeom prst="line">
            <a:avLst/>
          </a:prstGeom>
          <a:noFill/>
          <a:ln w="17145">
            <a:solidFill>
              <a:srgbClr val="9CBC64"/>
            </a:solidFill>
            <a:prstDash val="solid"/>
            <a:tailEnd type="triangle"/>
          </a:ln>
        </p:spPr>
      </p:sp>
      <p:sp>
        <p:nvSpPr>
          <p:cNvPr id="28" name="Shape 23"/>
          <p:cNvSpPr/>
          <p:nvPr/>
        </p:nvSpPr>
        <p:spPr>
          <a:xfrm>
            <a:off x="4700016" y="2665476"/>
            <a:ext cx="1051560" cy="722376"/>
          </a:xfrm>
          <a:prstGeom prst="roundRect">
            <a:avLst>
              <a:gd name="adj" fmla="val 8228"/>
            </a:avLst>
          </a:prstGeom>
          <a:solidFill>
            <a:srgbClr val="223521"/>
          </a:solidFill>
          <a:ln w="10795">
            <a:solidFill>
              <a:srgbClr val="608651"/>
            </a:solidFill>
            <a:prstDash val="solid"/>
          </a:ln>
        </p:spPr>
      </p:sp>
      <p:pic>
        <p:nvPicPr>
          <p:cNvPr id="29" name="Image 3" descr="/mnt/data/rustserver_demo_scenarios_final_assets/readyBright_B8DA7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6924" y="2758745"/>
            <a:ext cx="237744" cy="219456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4764024" y="2998318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" kern="0" dirty="0">
                <a:solidFill>
                  <a:srgbClr val="B8DA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READY</a:t>
            </a:r>
            <a:endParaRPr lang="en-US" sz="900" dirty="0"/>
          </a:p>
        </p:txBody>
      </p:sp>
      <p:sp>
        <p:nvSpPr>
          <p:cNvPr id="31" name="Text 25"/>
          <p:cNvSpPr/>
          <p:nvPr/>
        </p:nvSpPr>
        <p:spPr>
          <a:xfrm>
            <a:off x="4727448" y="3200400"/>
            <a:ext cx="99669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Access restored</a:t>
            </a:r>
            <a:endParaRPr lang="en-US" sz="700" dirty="0"/>
          </a:p>
        </p:txBody>
      </p:sp>
      <p:pic>
        <p:nvPicPr>
          <p:cNvPr id="32" name="Image 4" descr="/mnt/data/rustserver_demo_scenarios_final_assets/lock_9CBC64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824" y="3530498"/>
            <a:ext cx="128016" cy="128016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88136" y="3493008"/>
            <a:ext cx="4608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spc="28" kern="0" dirty="0">
                <a:solidFill>
                  <a:srgbClr val="B8DA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 ENTRY POINT STAYS SEPARATE</a:t>
            </a:r>
            <a:endParaRPr lang="en-US" sz="890" dirty="0"/>
          </a:p>
        </p:txBody>
      </p:sp>
      <p:sp>
        <p:nvSpPr>
          <p:cNvPr id="34" name="Shape 27"/>
          <p:cNvSpPr/>
          <p:nvPr/>
        </p:nvSpPr>
        <p:spPr>
          <a:xfrm>
            <a:off x="6208776" y="1860804"/>
            <a:ext cx="5376672" cy="1924812"/>
          </a:xfrm>
          <a:prstGeom prst="roundRect">
            <a:avLst>
              <a:gd name="adj" fmla="val 4751"/>
            </a:avLst>
          </a:prstGeom>
          <a:solidFill>
            <a:srgbClr val="151A16"/>
          </a:solidFill>
          <a:ln w="10795">
            <a:solidFill>
              <a:srgbClr val="3B4939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6364224" y="2025396"/>
            <a:ext cx="39319" cy="374904"/>
          </a:xfrm>
          <a:prstGeom prst="rect">
            <a:avLst/>
          </a:prstGeom>
          <a:solidFill>
            <a:srgbClr val="9CBC64"/>
          </a:solidFill>
          <a:ln w="12700">
            <a:solidFill>
              <a:srgbClr val="9CBC64">
                <a:alpha val="0"/>
              </a:srgbClr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6492240" y="1993392"/>
            <a:ext cx="48828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spc="30" kern="0" dirty="0">
                <a:solidFill>
                  <a:srgbClr val="F4F1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  /  WORLD RESET &amp; RECOVERY</a:t>
            </a:r>
            <a:endParaRPr lang="en-US" sz="1400" dirty="0"/>
          </a:p>
        </p:txBody>
      </p:sp>
      <p:sp>
        <p:nvSpPr>
          <p:cNvPr id="37" name="Text 30"/>
          <p:cNvSpPr/>
          <p:nvPr/>
        </p:nvSpPr>
        <p:spPr>
          <a:xfrm>
            <a:off x="6492240" y="2290572"/>
            <a:ext cx="488289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backup before starting a new game world.</a:t>
            </a:r>
            <a:endParaRPr lang="en-US" sz="960" dirty="0"/>
          </a:p>
        </p:txBody>
      </p:sp>
      <p:sp>
        <p:nvSpPr>
          <p:cNvPr id="38" name="Shape 31"/>
          <p:cNvSpPr/>
          <p:nvPr/>
        </p:nvSpPr>
        <p:spPr>
          <a:xfrm>
            <a:off x="6473952" y="2519172"/>
            <a:ext cx="4855464" cy="0"/>
          </a:xfrm>
          <a:prstGeom prst="line">
            <a:avLst/>
          </a:prstGeom>
          <a:noFill/>
          <a:ln w="10160">
            <a:solidFill>
              <a:srgbClr val="313F31"/>
            </a:solidFill>
            <a:prstDash val="solid"/>
          </a:ln>
        </p:spPr>
      </p:sp>
      <p:sp>
        <p:nvSpPr>
          <p:cNvPr id="39" name="Shape 32"/>
          <p:cNvSpPr/>
          <p:nvPr/>
        </p:nvSpPr>
        <p:spPr>
          <a:xfrm>
            <a:off x="6455664" y="2665476"/>
            <a:ext cx="1051560" cy="722376"/>
          </a:xfrm>
          <a:prstGeom prst="roundRect">
            <a:avLst>
              <a:gd name="adj" fmla="val 8228"/>
            </a:avLst>
          </a:prstGeom>
          <a:solidFill>
            <a:srgbClr val="101511"/>
          </a:solidFill>
          <a:ln w="10795">
            <a:solidFill>
              <a:srgbClr val="354333"/>
            </a:solidFill>
            <a:prstDash val="solid"/>
          </a:ln>
        </p:spPr>
      </p:sp>
      <p:pic>
        <p:nvPicPr>
          <p:cNvPr id="40" name="Image 5" descr="/mnt/data/rustserver_demo_scenarios_final_assets/stop_9CBC64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62572" y="2758745"/>
            <a:ext cx="237744" cy="219456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6519672" y="2998318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" kern="0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STOP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6483096" y="3200400"/>
            <a:ext cx="99669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first</a:t>
            </a:r>
            <a:endParaRPr lang="en-US" sz="700" dirty="0"/>
          </a:p>
        </p:txBody>
      </p:sp>
      <p:sp>
        <p:nvSpPr>
          <p:cNvPr id="43" name="Shape 35"/>
          <p:cNvSpPr/>
          <p:nvPr/>
        </p:nvSpPr>
        <p:spPr>
          <a:xfrm>
            <a:off x="7528255" y="3024835"/>
            <a:ext cx="172822" cy="0"/>
          </a:xfrm>
          <a:prstGeom prst="line">
            <a:avLst/>
          </a:prstGeom>
          <a:noFill/>
          <a:ln w="17145">
            <a:solidFill>
              <a:srgbClr val="9CBC64"/>
            </a:solidFill>
            <a:prstDash val="solid"/>
            <a:tailEnd type="triangle"/>
          </a:ln>
        </p:spPr>
      </p:sp>
      <p:sp>
        <p:nvSpPr>
          <p:cNvPr id="44" name="Shape 36"/>
          <p:cNvSpPr/>
          <p:nvPr/>
        </p:nvSpPr>
        <p:spPr>
          <a:xfrm>
            <a:off x="7735824" y="2665476"/>
            <a:ext cx="1051560" cy="722376"/>
          </a:xfrm>
          <a:prstGeom prst="roundRect">
            <a:avLst>
              <a:gd name="adj" fmla="val 8228"/>
            </a:avLst>
          </a:prstGeom>
          <a:solidFill>
            <a:srgbClr val="101511"/>
          </a:solidFill>
          <a:ln w="10795">
            <a:solidFill>
              <a:srgbClr val="354333"/>
            </a:solidFill>
            <a:prstDash val="solid"/>
          </a:ln>
        </p:spPr>
      </p:sp>
      <p:pic>
        <p:nvPicPr>
          <p:cNvPr id="45" name="Image 6" descr="/mnt/data/rustserver_demo_scenarios_final_assets/backup_9CBC6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42732" y="2758745"/>
            <a:ext cx="237744" cy="219456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7799832" y="2998318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" kern="0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SNAPSHOT</a:t>
            </a:r>
            <a:endParaRPr lang="en-US" sz="900" dirty="0"/>
          </a:p>
        </p:txBody>
      </p:sp>
      <p:sp>
        <p:nvSpPr>
          <p:cNvPr id="47" name="Text 38"/>
          <p:cNvSpPr/>
          <p:nvPr/>
        </p:nvSpPr>
        <p:spPr>
          <a:xfrm>
            <a:off x="7763256" y="3200400"/>
            <a:ext cx="99669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 ZIP</a:t>
            </a:r>
            <a:endParaRPr lang="en-US" sz="700" dirty="0"/>
          </a:p>
        </p:txBody>
      </p:sp>
      <p:sp>
        <p:nvSpPr>
          <p:cNvPr id="48" name="Shape 39"/>
          <p:cNvSpPr/>
          <p:nvPr/>
        </p:nvSpPr>
        <p:spPr>
          <a:xfrm>
            <a:off x="8808415" y="3024835"/>
            <a:ext cx="172822" cy="0"/>
          </a:xfrm>
          <a:prstGeom prst="line">
            <a:avLst/>
          </a:prstGeom>
          <a:noFill/>
          <a:ln w="17145">
            <a:solidFill>
              <a:srgbClr val="9CBC64"/>
            </a:solidFill>
            <a:prstDash val="solid"/>
            <a:tailEnd type="triangle"/>
          </a:ln>
        </p:spPr>
      </p:sp>
      <p:sp>
        <p:nvSpPr>
          <p:cNvPr id="49" name="Shape 40"/>
          <p:cNvSpPr/>
          <p:nvPr/>
        </p:nvSpPr>
        <p:spPr>
          <a:xfrm>
            <a:off x="9015984" y="2665476"/>
            <a:ext cx="1051560" cy="722376"/>
          </a:xfrm>
          <a:prstGeom prst="roundRect">
            <a:avLst>
              <a:gd name="adj" fmla="val 8228"/>
            </a:avLst>
          </a:prstGeom>
          <a:solidFill>
            <a:srgbClr val="101511"/>
          </a:solidFill>
          <a:ln w="10795">
            <a:solidFill>
              <a:srgbClr val="354333"/>
            </a:solidFill>
            <a:prstDash val="solid"/>
          </a:ln>
        </p:spPr>
      </p:sp>
      <p:pic>
        <p:nvPicPr>
          <p:cNvPr id="50" name="Image 7" descr="/mnt/data/rustserver_demo_scenarios_final_assets/wipe_9CBC64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22892" y="2758745"/>
            <a:ext cx="237744" cy="219456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9079992" y="2998318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" kern="0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WIPE</a:t>
            </a:r>
            <a:endParaRPr lang="en-US" sz="900" dirty="0"/>
          </a:p>
        </p:txBody>
      </p:sp>
      <p:sp>
        <p:nvSpPr>
          <p:cNvPr id="52" name="Text 42"/>
          <p:cNvSpPr/>
          <p:nvPr/>
        </p:nvSpPr>
        <p:spPr>
          <a:xfrm>
            <a:off x="9043416" y="3200400"/>
            <a:ext cx="99669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World only</a:t>
            </a:r>
            <a:endParaRPr lang="en-US" sz="700" dirty="0"/>
          </a:p>
        </p:txBody>
      </p:sp>
      <p:sp>
        <p:nvSpPr>
          <p:cNvPr id="53" name="Shape 43"/>
          <p:cNvSpPr/>
          <p:nvPr/>
        </p:nvSpPr>
        <p:spPr>
          <a:xfrm>
            <a:off x="10088575" y="3024835"/>
            <a:ext cx="172822" cy="0"/>
          </a:xfrm>
          <a:prstGeom prst="line">
            <a:avLst/>
          </a:prstGeom>
          <a:noFill/>
          <a:ln w="17145">
            <a:solidFill>
              <a:srgbClr val="9CBC64"/>
            </a:solidFill>
            <a:prstDash val="solid"/>
            <a:tailEnd type="triangle"/>
          </a:ln>
        </p:spPr>
      </p:sp>
      <p:sp>
        <p:nvSpPr>
          <p:cNvPr id="54" name="Shape 44"/>
          <p:cNvSpPr/>
          <p:nvPr/>
        </p:nvSpPr>
        <p:spPr>
          <a:xfrm>
            <a:off x="10296144" y="2665476"/>
            <a:ext cx="1051560" cy="722376"/>
          </a:xfrm>
          <a:prstGeom prst="roundRect">
            <a:avLst>
              <a:gd name="adj" fmla="val 8228"/>
            </a:avLst>
          </a:prstGeom>
          <a:solidFill>
            <a:srgbClr val="223521"/>
          </a:solidFill>
          <a:ln w="10795">
            <a:solidFill>
              <a:srgbClr val="608651"/>
            </a:solidFill>
            <a:prstDash val="solid"/>
          </a:ln>
        </p:spPr>
      </p:sp>
      <p:pic>
        <p:nvPicPr>
          <p:cNvPr id="55" name="Image 8" descr="/mnt/data/rustserver_demo_scenarios_final_assets/readyBright_B8DA7F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3052" y="2758745"/>
            <a:ext cx="237744" cy="219456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10360152" y="2998318"/>
            <a:ext cx="923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spc="10" kern="0" dirty="0">
                <a:solidFill>
                  <a:srgbClr val="B8DA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900" dirty="0"/>
          </a:p>
        </p:txBody>
      </p:sp>
      <p:sp>
        <p:nvSpPr>
          <p:cNvPr id="57" name="Text 46"/>
          <p:cNvSpPr/>
          <p:nvPr/>
        </p:nvSpPr>
        <p:spPr>
          <a:xfrm>
            <a:off x="10323576" y="3200400"/>
            <a:ext cx="996696" cy="1234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0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world</a:t>
            </a:r>
            <a:endParaRPr lang="en-US" sz="700" dirty="0"/>
          </a:p>
        </p:txBody>
      </p:sp>
      <p:pic>
        <p:nvPicPr>
          <p:cNvPr id="58" name="Image 9" descr="/mnt/data/rustserver_demo_scenarios_final_assets/backup_9CBC6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3530498"/>
            <a:ext cx="128016" cy="128016"/>
          </a:xfrm>
          <a:prstGeom prst="rect">
            <a:avLst/>
          </a:prstGeom>
        </p:spPr>
      </p:pic>
      <p:sp>
        <p:nvSpPr>
          <p:cNvPr id="59" name="Text 47"/>
          <p:cNvSpPr/>
          <p:nvPr/>
        </p:nvSpPr>
        <p:spPr>
          <a:xfrm>
            <a:off x="6684264" y="3493008"/>
            <a:ext cx="460857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90" b="1" spc="28" kern="0" dirty="0">
                <a:solidFill>
                  <a:srgbClr val="B8DA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BLUEPRINTS PRESERVED  ·  RESTORE POINT AVAILABLE</a:t>
            </a:r>
            <a:endParaRPr lang="en-US" sz="890" dirty="0"/>
          </a:p>
        </p:txBody>
      </p:sp>
      <p:sp>
        <p:nvSpPr>
          <p:cNvPr id="60" name="Shape 48"/>
          <p:cNvSpPr/>
          <p:nvPr/>
        </p:nvSpPr>
        <p:spPr>
          <a:xfrm>
            <a:off x="612648" y="4005072"/>
            <a:ext cx="10972800" cy="2276856"/>
          </a:xfrm>
          <a:prstGeom prst="roundRect">
            <a:avLst>
              <a:gd name="adj" fmla="val 4418"/>
            </a:avLst>
          </a:prstGeom>
          <a:solidFill>
            <a:srgbClr val="141A15"/>
          </a:solidFill>
          <a:ln w="13970">
            <a:solidFill>
              <a:srgbClr val="3D503C"/>
            </a:solidFill>
            <a:prstDash val="solid"/>
          </a:ln>
        </p:spPr>
      </p:sp>
      <p:sp>
        <p:nvSpPr>
          <p:cNvPr id="61" name="Shape 49"/>
          <p:cNvSpPr/>
          <p:nvPr/>
        </p:nvSpPr>
        <p:spPr>
          <a:xfrm>
            <a:off x="777240" y="4169664"/>
            <a:ext cx="41148" cy="374904"/>
          </a:xfrm>
          <a:prstGeom prst="rect">
            <a:avLst/>
          </a:prstGeom>
          <a:solidFill>
            <a:srgbClr val="9CBC64"/>
          </a:solidFill>
          <a:ln w="12700">
            <a:solidFill>
              <a:srgbClr val="9CBC64">
                <a:alpha val="0"/>
              </a:srgbClr>
            </a:solidFill>
            <a:prstDash val="solid"/>
          </a:ln>
        </p:spPr>
      </p:sp>
      <p:sp>
        <p:nvSpPr>
          <p:cNvPr id="62" name="Text 50"/>
          <p:cNvSpPr/>
          <p:nvPr/>
        </p:nvSpPr>
        <p:spPr>
          <a:xfrm>
            <a:off x="905256" y="414589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10" b="1" spc="40" kern="0" dirty="0">
                <a:solidFill>
                  <a:srgbClr val="F4F1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  /  FULL PLATFORM ROLLOUT</a:t>
            </a:r>
            <a:endParaRPr lang="en-US" sz="1510" dirty="0"/>
          </a:p>
        </p:txBody>
      </p:sp>
      <p:sp>
        <p:nvSpPr>
          <p:cNvPr id="63" name="Text 51"/>
          <p:cNvSpPr/>
          <p:nvPr/>
        </p:nvSpPr>
        <p:spPr>
          <a:xfrm>
            <a:off x="6373368" y="4174236"/>
            <a:ext cx="492861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6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one operator entry point to an operational Rust server.</a:t>
            </a:r>
            <a:endParaRPr lang="en-US" sz="960" dirty="0"/>
          </a:p>
        </p:txBody>
      </p:sp>
      <p:sp>
        <p:nvSpPr>
          <p:cNvPr id="64" name="Shape 52"/>
          <p:cNvSpPr/>
          <p:nvPr/>
        </p:nvSpPr>
        <p:spPr>
          <a:xfrm>
            <a:off x="886968" y="4645152"/>
            <a:ext cx="10424160" cy="0"/>
          </a:xfrm>
          <a:prstGeom prst="line">
            <a:avLst/>
          </a:prstGeom>
          <a:noFill/>
          <a:ln w="10160">
            <a:solidFill>
              <a:srgbClr val="344334"/>
            </a:solidFill>
            <a:prstDash val="solid"/>
          </a:ln>
        </p:spPr>
      </p:sp>
      <p:sp>
        <p:nvSpPr>
          <p:cNvPr id="65" name="Text 53"/>
          <p:cNvSpPr/>
          <p:nvPr/>
        </p:nvSpPr>
        <p:spPr>
          <a:xfrm>
            <a:off x="841248" y="4727448"/>
            <a:ext cx="5120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10" b="1" spc="100" kern="0" dirty="0">
                <a:solidFill>
                  <a:srgbClr val="9CBC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SETUP</a:t>
            </a:r>
            <a:endParaRPr lang="en-US" sz="810" dirty="0"/>
          </a:p>
        </p:txBody>
      </p:sp>
      <p:sp>
        <p:nvSpPr>
          <p:cNvPr id="66" name="Text 54"/>
          <p:cNvSpPr/>
          <p:nvPr/>
        </p:nvSpPr>
        <p:spPr>
          <a:xfrm>
            <a:off x="7159752" y="4727448"/>
            <a:ext cx="417880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10" b="1" spc="90" kern="0" dirty="0">
                <a:solidFill>
                  <a:srgbClr val="9CBC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GAME PROVISIONING  /  VIA WEB</a:t>
            </a:r>
            <a:endParaRPr lang="en-US" sz="810" dirty="0"/>
          </a:p>
        </p:txBody>
      </p:sp>
      <p:sp>
        <p:nvSpPr>
          <p:cNvPr id="67" name="Shape 55"/>
          <p:cNvSpPr/>
          <p:nvPr/>
        </p:nvSpPr>
        <p:spPr>
          <a:xfrm>
            <a:off x="841248" y="4988052"/>
            <a:ext cx="1325880" cy="909828"/>
          </a:xfrm>
          <a:prstGeom prst="roundRect">
            <a:avLst>
              <a:gd name="adj" fmla="val 6533"/>
            </a:avLst>
          </a:prstGeom>
          <a:solidFill>
            <a:srgbClr val="1A231B"/>
          </a:solidFill>
          <a:ln w="10668">
            <a:solidFill>
              <a:srgbClr val="3C4D39"/>
            </a:solidFill>
            <a:prstDash val="solid"/>
          </a:ln>
        </p:spPr>
      </p:sp>
      <p:pic>
        <p:nvPicPr>
          <p:cNvPr id="68" name="Image 10" descr="/mnt/data/rustserver_demo_scenarios_final_assets/operator_9CBC64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53312" y="5102352"/>
            <a:ext cx="301752" cy="274320"/>
          </a:xfrm>
          <a:prstGeom prst="rect">
            <a:avLst/>
          </a:prstGeom>
        </p:spPr>
      </p:pic>
      <p:sp>
        <p:nvSpPr>
          <p:cNvPr id="69" name="Text 56"/>
          <p:cNvSpPr/>
          <p:nvPr/>
        </p:nvSpPr>
        <p:spPr>
          <a:xfrm>
            <a:off x="886968" y="5458968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OPERATOR</a:t>
            </a:r>
            <a:endParaRPr lang="en-US" sz="975" dirty="0"/>
          </a:p>
        </p:txBody>
      </p:sp>
      <p:sp>
        <p:nvSpPr>
          <p:cNvPr id="70" name="Text 57"/>
          <p:cNvSpPr/>
          <p:nvPr/>
        </p:nvSpPr>
        <p:spPr>
          <a:xfrm>
            <a:off x="873252" y="5678424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5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PowerShell / SSH</a:t>
            </a:r>
            <a:endParaRPr lang="en-US" sz="755" dirty="0"/>
          </a:p>
        </p:txBody>
      </p:sp>
      <p:sp>
        <p:nvSpPr>
          <p:cNvPr id="71" name="Shape 58"/>
          <p:cNvSpPr/>
          <p:nvPr/>
        </p:nvSpPr>
        <p:spPr>
          <a:xfrm>
            <a:off x="2174443" y="5449824"/>
            <a:ext cx="128016" cy="0"/>
          </a:xfrm>
          <a:prstGeom prst="line">
            <a:avLst/>
          </a:prstGeom>
          <a:noFill/>
          <a:ln w="16510">
            <a:solidFill>
              <a:srgbClr val="9CBC64"/>
            </a:solidFill>
            <a:prstDash val="solid"/>
            <a:tailEnd type="triangle"/>
          </a:ln>
        </p:spPr>
      </p:sp>
      <p:sp>
        <p:nvSpPr>
          <p:cNvPr id="72" name="Shape 59"/>
          <p:cNvSpPr/>
          <p:nvPr/>
        </p:nvSpPr>
        <p:spPr>
          <a:xfrm>
            <a:off x="2331720" y="4988052"/>
            <a:ext cx="1325880" cy="909828"/>
          </a:xfrm>
          <a:prstGeom prst="roundRect">
            <a:avLst>
              <a:gd name="adj" fmla="val 6533"/>
            </a:avLst>
          </a:prstGeom>
          <a:solidFill>
            <a:srgbClr val="1A231B"/>
          </a:solidFill>
          <a:ln w="10668">
            <a:solidFill>
              <a:srgbClr val="3C4D39"/>
            </a:solidFill>
            <a:prstDash val="solid"/>
          </a:ln>
        </p:spPr>
      </p:sp>
      <p:pic>
        <p:nvPicPr>
          <p:cNvPr id="73" name="Image 11" descr="/mnt/data/rustserver_demo_scenarios_final_assets/bootstrap_9CBC64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843784" y="5102352"/>
            <a:ext cx="301752" cy="274320"/>
          </a:xfrm>
          <a:prstGeom prst="rect">
            <a:avLst/>
          </a:prstGeom>
        </p:spPr>
      </p:pic>
      <p:sp>
        <p:nvSpPr>
          <p:cNvPr id="74" name="Text 60"/>
          <p:cNvSpPr/>
          <p:nvPr/>
        </p:nvSpPr>
        <p:spPr>
          <a:xfrm>
            <a:off x="2377440" y="5458968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BOOTSTRAP</a:t>
            </a:r>
            <a:endParaRPr lang="en-US" sz="975" dirty="0"/>
          </a:p>
        </p:txBody>
      </p:sp>
      <p:sp>
        <p:nvSpPr>
          <p:cNvPr id="75" name="Text 61"/>
          <p:cNvSpPr/>
          <p:nvPr/>
        </p:nvSpPr>
        <p:spPr>
          <a:xfrm>
            <a:off x="2363724" y="5678424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5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Ubuntu setup</a:t>
            </a:r>
            <a:endParaRPr lang="en-US" sz="755" dirty="0"/>
          </a:p>
        </p:txBody>
      </p:sp>
      <p:sp>
        <p:nvSpPr>
          <p:cNvPr id="76" name="Shape 62"/>
          <p:cNvSpPr/>
          <p:nvPr/>
        </p:nvSpPr>
        <p:spPr>
          <a:xfrm>
            <a:off x="3664915" y="5449824"/>
            <a:ext cx="128016" cy="0"/>
          </a:xfrm>
          <a:prstGeom prst="line">
            <a:avLst/>
          </a:prstGeom>
          <a:noFill/>
          <a:ln w="16510">
            <a:solidFill>
              <a:srgbClr val="9CBC64"/>
            </a:solidFill>
            <a:prstDash val="solid"/>
            <a:tailEnd type="triangle"/>
          </a:ln>
        </p:spPr>
      </p:sp>
      <p:sp>
        <p:nvSpPr>
          <p:cNvPr id="77" name="Shape 63"/>
          <p:cNvSpPr/>
          <p:nvPr/>
        </p:nvSpPr>
        <p:spPr>
          <a:xfrm>
            <a:off x="3822192" y="4988052"/>
            <a:ext cx="1325880" cy="909828"/>
          </a:xfrm>
          <a:prstGeom prst="roundRect">
            <a:avLst>
              <a:gd name="adj" fmla="val 6533"/>
            </a:avLst>
          </a:prstGeom>
          <a:solidFill>
            <a:srgbClr val="1A231B"/>
          </a:solidFill>
          <a:ln w="10668">
            <a:solidFill>
              <a:srgbClr val="3C4D39"/>
            </a:solidFill>
            <a:prstDash val="solid"/>
          </a:ln>
        </p:spPr>
      </p:sp>
      <p:pic>
        <p:nvPicPr>
          <p:cNvPr id="78" name="Image 12" descr="/mnt/data/rustserver_demo_scenarios_final_assets/updater_9CBC64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34256" y="5102352"/>
            <a:ext cx="301752" cy="274320"/>
          </a:xfrm>
          <a:prstGeom prst="rect">
            <a:avLst/>
          </a:prstGeom>
        </p:spPr>
      </p:pic>
      <p:sp>
        <p:nvSpPr>
          <p:cNvPr id="79" name="Text 64"/>
          <p:cNvSpPr/>
          <p:nvPr/>
        </p:nvSpPr>
        <p:spPr>
          <a:xfrm>
            <a:off x="3867912" y="5458968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UPDATER</a:t>
            </a:r>
            <a:endParaRPr lang="en-US" sz="975" dirty="0"/>
          </a:p>
        </p:txBody>
      </p:sp>
      <p:sp>
        <p:nvSpPr>
          <p:cNvPr id="80" name="Text 65"/>
          <p:cNvSpPr/>
          <p:nvPr/>
        </p:nvSpPr>
        <p:spPr>
          <a:xfrm>
            <a:off x="3854196" y="5678424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5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Install releases</a:t>
            </a:r>
            <a:endParaRPr lang="en-US" sz="755" dirty="0"/>
          </a:p>
        </p:txBody>
      </p:sp>
      <p:sp>
        <p:nvSpPr>
          <p:cNvPr id="81" name="Shape 66"/>
          <p:cNvSpPr/>
          <p:nvPr/>
        </p:nvSpPr>
        <p:spPr>
          <a:xfrm>
            <a:off x="5155387" y="5449824"/>
            <a:ext cx="128016" cy="0"/>
          </a:xfrm>
          <a:prstGeom prst="line">
            <a:avLst/>
          </a:prstGeom>
          <a:noFill/>
          <a:ln w="16510">
            <a:solidFill>
              <a:srgbClr val="9CBC64"/>
            </a:solidFill>
            <a:prstDash val="solid"/>
            <a:tailEnd type="triangle"/>
          </a:ln>
        </p:spPr>
      </p:sp>
      <p:sp>
        <p:nvSpPr>
          <p:cNvPr id="82" name="Shape 67"/>
          <p:cNvSpPr/>
          <p:nvPr/>
        </p:nvSpPr>
        <p:spPr>
          <a:xfrm>
            <a:off x="5312664" y="4988052"/>
            <a:ext cx="1389888" cy="909828"/>
          </a:xfrm>
          <a:prstGeom prst="roundRect">
            <a:avLst>
              <a:gd name="adj" fmla="val 6533"/>
            </a:avLst>
          </a:prstGeom>
          <a:solidFill>
            <a:srgbClr val="1A231B"/>
          </a:solidFill>
          <a:ln w="10668">
            <a:solidFill>
              <a:srgbClr val="3C4D39"/>
            </a:solidFill>
            <a:prstDash val="solid"/>
          </a:ln>
        </p:spPr>
      </p:sp>
      <p:pic>
        <p:nvPicPr>
          <p:cNvPr id="83" name="Image 13" descr="/mnt/data/rustserver_demo_scenarios_final_assets/apps_9CBC64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56732" y="5102352"/>
            <a:ext cx="301752" cy="274320"/>
          </a:xfrm>
          <a:prstGeom prst="rect">
            <a:avLst/>
          </a:prstGeom>
        </p:spPr>
      </p:pic>
      <p:sp>
        <p:nvSpPr>
          <p:cNvPr id="84" name="Text 68"/>
          <p:cNvSpPr/>
          <p:nvPr/>
        </p:nvSpPr>
        <p:spPr>
          <a:xfrm>
            <a:off x="5358384" y="5458968"/>
            <a:ext cx="129844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+ APIS</a:t>
            </a:r>
            <a:endParaRPr lang="en-US" sz="975" dirty="0"/>
          </a:p>
        </p:txBody>
      </p:sp>
      <p:sp>
        <p:nvSpPr>
          <p:cNvPr id="85" name="Text 69"/>
          <p:cNvSpPr/>
          <p:nvPr/>
        </p:nvSpPr>
        <p:spPr>
          <a:xfrm>
            <a:off x="5344668" y="5678424"/>
            <a:ext cx="13258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5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online</a:t>
            </a:r>
            <a:endParaRPr lang="en-US" sz="755" dirty="0"/>
          </a:p>
        </p:txBody>
      </p:sp>
      <p:sp>
        <p:nvSpPr>
          <p:cNvPr id="86" name="Shape 70"/>
          <p:cNvSpPr/>
          <p:nvPr/>
        </p:nvSpPr>
        <p:spPr>
          <a:xfrm>
            <a:off x="6709867" y="5449824"/>
            <a:ext cx="128016" cy="0"/>
          </a:xfrm>
          <a:prstGeom prst="line">
            <a:avLst/>
          </a:prstGeom>
          <a:noFill/>
          <a:ln w="16510">
            <a:solidFill>
              <a:srgbClr val="9CBC64"/>
            </a:solidFill>
            <a:prstDash val="solid"/>
            <a:tailEnd type="triangle"/>
          </a:ln>
        </p:spPr>
      </p:sp>
      <p:sp>
        <p:nvSpPr>
          <p:cNvPr id="87" name="Shape 71"/>
          <p:cNvSpPr/>
          <p:nvPr/>
        </p:nvSpPr>
        <p:spPr>
          <a:xfrm>
            <a:off x="6867144" y="4988052"/>
            <a:ext cx="1472184" cy="909828"/>
          </a:xfrm>
          <a:prstGeom prst="roundRect">
            <a:avLst>
              <a:gd name="adj" fmla="val 6533"/>
            </a:avLst>
          </a:prstGeom>
          <a:solidFill>
            <a:srgbClr val="1A231B"/>
          </a:solidFill>
          <a:ln w="10668">
            <a:solidFill>
              <a:srgbClr val="3C4D39"/>
            </a:solidFill>
            <a:prstDash val="solid"/>
          </a:ln>
        </p:spPr>
      </p:sp>
      <p:pic>
        <p:nvPicPr>
          <p:cNvPr id="88" name="Image 14" descr="/mnt/data/rustserver_demo_scenarios_final_assets/game_9CBC64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452360" y="5102352"/>
            <a:ext cx="301752" cy="274320"/>
          </a:xfrm>
          <a:prstGeom prst="rect">
            <a:avLst/>
          </a:prstGeom>
        </p:spPr>
      </p:pic>
      <p:sp>
        <p:nvSpPr>
          <p:cNvPr id="89" name="Text 72"/>
          <p:cNvSpPr/>
          <p:nvPr/>
        </p:nvSpPr>
        <p:spPr>
          <a:xfrm>
            <a:off x="6912864" y="5458968"/>
            <a:ext cx="1380744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 + OXIDE</a:t>
            </a:r>
            <a:endParaRPr lang="en-US" sz="975" dirty="0"/>
          </a:p>
        </p:txBody>
      </p:sp>
      <p:sp>
        <p:nvSpPr>
          <p:cNvPr id="90" name="Text 73"/>
          <p:cNvSpPr/>
          <p:nvPr/>
        </p:nvSpPr>
        <p:spPr>
          <a:xfrm>
            <a:off x="6899148" y="5678424"/>
            <a:ext cx="14081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5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SteamCMD / Docker</a:t>
            </a:r>
            <a:endParaRPr lang="en-US" sz="755" dirty="0"/>
          </a:p>
        </p:txBody>
      </p:sp>
      <p:sp>
        <p:nvSpPr>
          <p:cNvPr id="91" name="Shape 74"/>
          <p:cNvSpPr/>
          <p:nvPr/>
        </p:nvSpPr>
        <p:spPr>
          <a:xfrm>
            <a:off x="8346643" y="5449824"/>
            <a:ext cx="128016" cy="0"/>
          </a:xfrm>
          <a:prstGeom prst="line">
            <a:avLst/>
          </a:prstGeom>
          <a:noFill/>
          <a:ln w="16510">
            <a:solidFill>
              <a:srgbClr val="9CBC64"/>
            </a:solidFill>
            <a:prstDash val="solid"/>
            <a:tailEnd type="triangle"/>
          </a:ln>
        </p:spPr>
      </p:sp>
      <p:sp>
        <p:nvSpPr>
          <p:cNvPr id="92" name="Shape 75"/>
          <p:cNvSpPr/>
          <p:nvPr/>
        </p:nvSpPr>
        <p:spPr>
          <a:xfrm>
            <a:off x="8503920" y="4988052"/>
            <a:ext cx="1325880" cy="909828"/>
          </a:xfrm>
          <a:prstGeom prst="roundRect">
            <a:avLst>
              <a:gd name="adj" fmla="val 6533"/>
            </a:avLst>
          </a:prstGeom>
          <a:solidFill>
            <a:srgbClr val="1A231B"/>
          </a:solidFill>
          <a:ln w="10668">
            <a:solidFill>
              <a:srgbClr val="3C4D39"/>
            </a:solidFill>
            <a:prstDash val="solid"/>
          </a:ln>
        </p:spPr>
      </p:sp>
      <p:pic>
        <p:nvPicPr>
          <p:cNvPr id="93" name="Image 15" descr="/mnt/data/rustserver_demo_scenarios_final_assets/plugins_9CBC64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015984" y="5102352"/>
            <a:ext cx="301752" cy="274320"/>
          </a:xfrm>
          <a:prstGeom prst="rect">
            <a:avLst/>
          </a:prstGeom>
        </p:spPr>
      </p:pic>
      <p:sp>
        <p:nvSpPr>
          <p:cNvPr id="94" name="Text 76"/>
          <p:cNvSpPr/>
          <p:nvPr/>
        </p:nvSpPr>
        <p:spPr>
          <a:xfrm>
            <a:off x="8549640" y="5458968"/>
            <a:ext cx="12344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4F1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PLUGINS</a:t>
            </a:r>
            <a:endParaRPr lang="en-US" sz="975" dirty="0"/>
          </a:p>
        </p:txBody>
      </p:sp>
      <p:sp>
        <p:nvSpPr>
          <p:cNvPr id="95" name="Text 77"/>
          <p:cNvSpPr/>
          <p:nvPr/>
        </p:nvSpPr>
        <p:spPr>
          <a:xfrm>
            <a:off x="8535924" y="5678424"/>
            <a:ext cx="126187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5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Git-managed files</a:t>
            </a:r>
            <a:endParaRPr lang="en-US" sz="755" dirty="0"/>
          </a:p>
        </p:txBody>
      </p:sp>
      <p:sp>
        <p:nvSpPr>
          <p:cNvPr id="96" name="Shape 78"/>
          <p:cNvSpPr/>
          <p:nvPr/>
        </p:nvSpPr>
        <p:spPr>
          <a:xfrm>
            <a:off x="9837115" y="5449824"/>
            <a:ext cx="128016" cy="0"/>
          </a:xfrm>
          <a:prstGeom prst="line">
            <a:avLst/>
          </a:prstGeom>
          <a:noFill/>
          <a:ln w="16510">
            <a:solidFill>
              <a:srgbClr val="9CBC64"/>
            </a:solidFill>
            <a:prstDash val="solid"/>
            <a:tailEnd type="triangle"/>
          </a:ln>
        </p:spPr>
      </p:sp>
      <p:sp>
        <p:nvSpPr>
          <p:cNvPr id="97" name="Shape 79"/>
          <p:cNvSpPr/>
          <p:nvPr/>
        </p:nvSpPr>
        <p:spPr>
          <a:xfrm>
            <a:off x="9994392" y="4988052"/>
            <a:ext cx="1508760" cy="909828"/>
          </a:xfrm>
          <a:prstGeom prst="roundRect">
            <a:avLst>
              <a:gd name="adj" fmla="val 6533"/>
            </a:avLst>
          </a:prstGeom>
          <a:solidFill>
            <a:srgbClr val="242B20"/>
          </a:solidFill>
          <a:ln w="10668">
            <a:solidFill>
              <a:srgbClr val="64784F"/>
            </a:solidFill>
            <a:prstDash val="solid"/>
          </a:ln>
        </p:spPr>
      </p:sp>
      <p:sp>
        <p:nvSpPr>
          <p:cNvPr id="98" name="Shape 80"/>
          <p:cNvSpPr/>
          <p:nvPr/>
        </p:nvSpPr>
        <p:spPr>
          <a:xfrm>
            <a:off x="10076688" y="5088636"/>
            <a:ext cx="33833" cy="708660"/>
          </a:xfrm>
          <a:prstGeom prst="rect">
            <a:avLst/>
          </a:prstGeom>
          <a:solidFill>
            <a:srgbClr val="D65438"/>
          </a:solidFill>
          <a:ln w="12700">
            <a:solidFill>
              <a:srgbClr val="D65438">
                <a:alpha val="0"/>
              </a:srgbClr>
            </a:solidFill>
            <a:prstDash val="solid"/>
          </a:ln>
        </p:spPr>
      </p:sp>
      <p:pic>
        <p:nvPicPr>
          <p:cNvPr id="99" name="Image 16" descr="/mnt/data/rustserver_demo_scenarios_final_assets/finishRed_D65438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597896" y="5102352"/>
            <a:ext cx="301752" cy="274320"/>
          </a:xfrm>
          <a:prstGeom prst="rect">
            <a:avLst/>
          </a:prstGeom>
        </p:spPr>
      </p:pic>
      <p:sp>
        <p:nvSpPr>
          <p:cNvPr id="100" name="Text 81"/>
          <p:cNvSpPr/>
          <p:nvPr/>
        </p:nvSpPr>
        <p:spPr>
          <a:xfrm>
            <a:off x="10040112" y="5458968"/>
            <a:ext cx="141732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B8DA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SERVER READY</a:t>
            </a:r>
            <a:endParaRPr lang="en-US" sz="975" dirty="0"/>
          </a:p>
        </p:txBody>
      </p:sp>
      <p:sp>
        <p:nvSpPr>
          <p:cNvPr id="101" name="Text 82"/>
          <p:cNvSpPr/>
          <p:nvPr/>
        </p:nvSpPr>
        <p:spPr>
          <a:xfrm>
            <a:off x="10026396" y="5678424"/>
            <a:ext cx="144475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5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Playable &amp; managed</a:t>
            </a:r>
            <a:endParaRPr lang="en-US" sz="755" dirty="0"/>
          </a:p>
        </p:txBody>
      </p:sp>
      <p:sp>
        <p:nvSpPr>
          <p:cNvPr id="102" name="Text 83"/>
          <p:cNvSpPr/>
          <p:nvPr/>
        </p:nvSpPr>
        <p:spPr>
          <a:xfrm>
            <a:off x="859536" y="6007608"/>
            <a:ext cx="10469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AEB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Bootstrap provisions Updater  •  Updater installs platform apps  •  Game and plugin setup continues through the Web UI</a:t>
            </a:r>
            <a:endParaRPr lang="en-US" sz="860" dirty="0"/>
          </a:p>
        </p:txBody>
      </p:sp>
      <p:sp>
        <p:nvSpPr>
          <p:cNvPr id="103" name="Shape 84"/>
          <p:cNvSpPr/>
          <p:nvPr/>
        </p:nvSpPr>
        <p:spPr>
          <a:xfrm>
            <a:off x="594360" y="6501384"/>
            <a:ext cx="11018520" cy="0"/>
          </a:xfrm>
          <a:prstGeom prst="line">
            <a:avLst/>
          </a:prstGeom>
          <a:noFill/>
          <a:ln w="12700">
            <a:solidFill>
              <a:srgbClr val="334035"/>
            </a:solidFill>
            <a:prstDash val="solid"/>
          </a:ln>
        </p:spPr>
      </p:sp>
      <p:sp>
        <p:nvSpPr>
          <p:cNvPr id="104" name="Text 85"/>
          <p:cNvSpPr/>
          <p:nvPr/>
        </p:nvSpPr>
        <p:spPr>
          <a:xfrm>
            <a:off x="594360" y="6556248"/>
            <a:ext cx="877824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spc="130" kern="0" dirty="0">
                <a:solidFill>
                  <a:srgbClr val="8190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RUSTSERVER PLATFORM  /  ENGINEERING PROJECT</a:t>
            </a:r>
            <a:endParaRPr lang="en-US" sz="870" dirty="0"/>
          </a:p>
        </p:txBody>
      </p:sp>
      <p:sp>
        <p:nvSpPr>
          <p:cNvPr id="105" name="Text 86"/>
          <p:cNvSpPr/>
          <p:nvPr/>
        </p:nvSpPr>
        <p:spPr>
          <a:xfrm>
            <a:off x="9957816" y="6556248"/>
            <a:ext cx="1636776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920" b="1" spc="70" kern="0" dirty="0">
                <a:solidFill>
                  <a:srgbClr val="9CBC6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SCENARIOS</a:t>
            </a:r>
            <a:endParaRPr lang="en-US" sz="9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Independent Engineering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RustServer Platform — Project Overview</dc:title>
  <dc:subject>Project overview — introductory slide</dc:subject>
  <dc:creator>RustServer Platform</dc:creator>
  <cp:lastModifiedBy>RustServer Platform</cp:lastModifiedBy>
  <cp:revision>1</cp:revision>
  <dcterms:created xsi:type="dcterms:W3CDTF">2026-10-20T21:38:39Z</dcterms:created>
  <dcterms:modified xsi:type="dcterms:W3CDTF">2026-10-20T21:38:39Z</dcterms:modified>
</cp:coreProperties>
</file>